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7" r:id="rId33"/>
    <p:sldId id="268" r:id="rId18"/>
    <p:sldId id="269" r:id="rId19"/>
    <p:sldId id="272" r:id="rId28"/>
    <p:sldId id="273" r:id="rId29"/>
    <p:sldId id="274" r:id="rId30"/>
    <p:sldId id="275" r:id="rId31"/>
    <p:sldId id="276" r:id="rId32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Avg@5 on RE1 (metrics only), higher is better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Official BARO, our run</c:v>
                </c:pt>
              </c:strCache>
            </c:strRef>
          </c:tx>
          <c:spPr>
            <a:solidFill>
              <a:srgbClr val="9AA0A6"/>
            </a:solidFill>
          </c:spPr>
          <c:cat>
            <c:strRef>
              <c:f>Sheet1!$A$2:$A$4</c:f>
              <c:strCache>
                <c:ptCount val="3"/>
                <c:pt idx="0">
                  <c:v>Online Boutique</c:v>
                </c:pt>
                <c:pt idx="1">
                  <c:v>Sock Shop</c:v>
                </c:pt>
                <c:pt idx="2">
                  <c:v>Train Ticket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0.869</c:v>
                </c:pt>
                <c:pt idx="1">
                  <c:v>0.954</c:v>
                </c:pt>
                <c:pt idx="2">
                  <c:v>0.652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BARO, published</c:v>
                </c:pt>
              </c:strCache>
            </c:strRef>
          </c:tx>
          <c:spPr>
            <a:solidFill>
              <a:srgbClr val="BDC1C6"/>
            </a:solidFill>
          </c:spPr>
          <c:cat>
            <c:strRef>
              <c:f>Sheet1!$A$2:$A$4</c:f>
              <c:strCache>
                <c:ptCount val="3"/>
                <c:pt idx="0">
                  <c:v>Online Boutique</c:v>
                </c:pt>
                <c:pt idx="1">
                  <c:v>Sock Shop</c:v>
                </c:pt>
                <c:pt idx="2">
                  <c:v>Train Ticket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0.86</c:v>
                </c:pt>
                <c:pt idx="1">
                  <c:v>0.95</c:v>
                </c:pt>
                <c:pt idx="2">
                  <c:v>0.79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Tolerance</c:v>
                </c:pt>
              </c:strCache>
            </c:strRef>
          </c:tx>
          <c:spPr>
            <a:solidFill>
              <a:srgbClr val="1A73E8"/>
            </a:solidFill>
          </c:spPr>
          <c:cat>
            <c:strRef>
              <c:f>Sheet1!$A$2:$A$4</c:f>
              <c:strCache>
                <c:ptCount val="3"/>
                <c:pt idx="0">
                  <c:v>Online Boutique</c:v>
                </c:pt>
                <c:pt idx="1">
                  <c:v>Sock Shop</c:v>
                </c:pt>
                <c:pt idx="2">
                  <c:v>Train Ticket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0.914</c:v>
                </c:pt>
                <c:pt idx="1">
                  <c:v>0.976</c:v>
                </c:pt>
                <c:pt idx="2">
                  <c:v>0.848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 val="0"/>
        <c:axPos val="l"/>
        <c:majorGridlines>
          <c:spPr>
            <a:ln>
              <a:solidFill>
                <a:srgbClr val="DADC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834640"/>
            <a:ext cx="87600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500" b="0">
                <a:latin typeface="Google Sans Flex"/>
                <a:ea typeface="Google Sans Flex"/>
                <a:cs typeface="Google Sans Flex"/>
                <a:sym typeface="Google Sans Flex"/>
              </a:rPr>
              <a:t>Tolerance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500" b="0">
                <a:latin typeface="Google Sans Flex"/>
                <a:ea typeface="Google Sans Flex"/>
                <a:cs typeface="Google Sans Flex"/>
                <a:sym typeface="Google Sans Flex"/>
              </a:rPr>
              <a:t>Shreyash Sharma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200" b="0">
                <a:latin typeface="Google Sans Flex"/>
                <a:ea typeface="Google Sans Flex"/>
                <a:cs typeface="Google Sans Flex"/>
                <a:sym typeface="Google Sans Flex"/>
              </a:rPr>
              <a:t>Manufacturing. Plants run on scattered knowledge: manuals, orders, machine logs. When a station fails, nobody can quickly tell why, or whether a fix is safe. We built an agentic platform that learns a plant from its own documents and data, finds the cause, and acts only inside limits the owner sets.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"/>
          <p:cNvSpPr txBox="1"/>
          <p:nvPr/>
        </p:nvSpPr>
        <p:spPr>
          <a:xfrm>
            <a:off x="320040" y="1188720"/>
            <a:ext cx="4846320" cy="3749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02124"/>
                </a:solidFill>
                <a:latin typeface="Google Sans Flex SemiBold"/>
              </a:rPr>
              <a:t>An agentic platform for manufacturing. It learns a plant from the plant's own documents and data, finds why a station failed, and acts only inside limits the owner sets.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50" b="1">
                <a:solidFill>
                  <a:srgbClr val="202124"/>
                </a:solidFill>
                <a:latin typeface="Google Sans Flex SemiBold"/>
              </a:rPr>
              <a:t>Nine agents, one gateway. </a:t>
            </a:r>
            <a:r>
              <a:rPr sz="1150" b="0">
                <a:solidFill>
                  <a:srgbClr val="202124"/>
                </a:solidFill>
                <a:latin typeface="Google Sans Flex"/>
              </a:rPr>
              <a:t>Four read the documents, connect the systems and build the model. Five run it: Diagnosis, Verifier, Planner, Warden and Sentinel.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50" b="1">
                <a:solidFill>
                  <a:srgbClr val="202124"/>
                </a:solidFill>
                <a:latin typeface="Google Sans Flex SemiBold"/>
              </a:rPr>
              <a:t>Evidence before action. </a:t>
            </a:r>
            <a:r>
              <a:rPr sz="1150" b="0">
                <a:solidFill>
                  <a:srgbClr val="202124"/>
                </a:solidFill>
                <a:latin typeface="Google Sans Flex"/>
              </a:rPr>
              <a:t>Every fact keeps the exact quote it came from. Instructions hidden in a file are removed, never obeyed. The Verifier recomputes every number a diagnosis cites.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50" b="1">
                <a:solidFill>
                  <a:srgbClr val="202124"/>
                </a:solidFill>
                <a:latin typeface="Google Sans Flex SemiBold"/>
              </a:rPr>
              <a:t>Autonomy is a dial. </a:t>
            </a:r>
            <a:r>
              <a:rPr sz="1150" b="0">
                <a:solidFill>
                  <a:srgbClr val="202124"/>
                </a:solidFill>
                <a:latin typeface="Google Sans Flex"/>
              </a:rPr>
              <a:t>Warden scores each action 0 to 100. The owner sets two lines: refuse, ask a person, or run alone. A hard limit from the documents is never crossed.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150" b="1">
                <a:solidFill>
                  <a:srgbClr val="202124"/>
                </a:solidFill>
                <a:latin typeface="Google Sans Flex SemiBold"/>
              </a:rPr>
              <a:t>Built on Google Cloud. </a:t>
            </a:r>
            <a:r>
              <a:rPr sz="1150" b="0">
                <a:solidFill>
                  <a:srgbClr val="202124"/>
                </a:solidFill>
                <a:latin typeface="Google Sans Flex"/>
              </a:rPr>
              <a:t>Gemini on Vertex AI in every agent, Cloud Run, Firebase sign-in.</a:t>
            </a:r>
          </a:p>
        </p:txBody>
      </p:sp>
      <p:pic>
        <p:nvPicPr>
          <p:cNvPr id="73" name="Floor plan screenshot" descr="floor_p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098" y="1188720"/>
            <a:ext cx="3218723" cy="210312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74" name="caption"/>
          <p:cNvSpPr txBox="1"/>
          <p:nvPr/>
        </p:nvSpPr>
        <p:spPr>
          <a:xfrm>
            <a:off x="5349240" y="3310128"/>
            <a:ext cx="3520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The live floor: plan, data feeds and status.</a:t>
            </a:r>
          </a:p>
        </p:txBody>
      </p:sp>
      <p:sp>
        <p:nvSpPr>
          <p:cNvPr id="75" name="stat card"/>
          <p:cNvSpPr/>
          <p:nvPr/>
        </p:nvSpPr>
        <p:spPr>
          <a:xfrm>
            <a:off x="5349240" y="3749039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tat number"/>
          <p:cNvSpPr txBox="1"/>
          <p:nvPr/>
        </p:nvSpPr>
        <p:spPr>
          <a:xfrm>
            <a:off x="5349240" y="3822191"/>
            <a:ext cx="1097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A73E8"/>
                </a:solidFill>
                <a:latin typeface="Google Sans Flex SemiBold"/>
              </a:rPr>
              <a:t>9</a:t>
            </a:r>
          </a:p>
        </p:txBody>
      </p:sp>
      <p:sp>
        <p:nvSpPr>
          <p:cNvPr id="77" name="stat label"/>
          <p:cNvSpPr txBox="1"/>
          <p:nvPr/>
        </p:nvSpPr>
        <p:spPr>
          <a:xfrm>
            <a:off x="5394959" y="4279392"/>
            <a:ext cx="100583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agents</a:t>
            </a:r>
          </a:p>
        </p:txBody>
      </p:sp>
      <p:sp>
        <p:nvSpPr>
          <p:cNvPr id="78" name="stat card"/>
          <p:cNvSpPr/>
          <p:nvPr/>
        </p:nvSpPr>
        <p:spPr>
          <a:xfrm>
            <a:off x="6583680" y="3749039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tat number"/>
          <p:cNvSpPr txBox="1"/>
          <p:nvPr/>
        </p:nvSpPr>
        <p:spPr>
          <a:xfrm>
            <a:off x="6583680" y="3822191"/>
            <a:ext cx="1097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A73E8"/>
                </a:solidFill>
                <a:latin typeface="Google Sans Flex SemiBold"/>
              </a:rPr>
              <a:t>465</a:t>
            </a:r>
          </a:p>
        </p:txBody>
      </p:sp>
      <p:sp>
        <p:nvSpPr>
          <p:cNvPr id="80" name="stat label"/>
          <p:cNvSpPr txBox="1"/>
          <p:nvPr/>
        </p:nvSpPr>
        <p:spPr>
          <a:xfrm>
            <a:off x="6629400" y="4279392"/>
            <a:ext cx="100583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incidents backtested</a:t>
            </a:r>
          </a:p>
        </p:txBody>
      </p:sp>
      <p:sp>
        <p:nvSpPr>
          <p:cNvPr id="81" name="stat card"/>
          <p:cNvSpPr/>
          <p:nvPr/>
        </p:nvSpPr>
        <p:spPr>
          <a:xfrm>
            <a:off x="7818120" y="3749039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tat number"/>
          <p:cNvSpPr txBox="1"/>
          <p:nvPr/>
        </p:nvSpPr>
        <p:spPr>
          <a:xfrm>
            <a:off x="7818120" y="3822191"/>
            <a:ext cx="10515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A73E8"/>
                </a:solidFill>
                <a:latin typeface="Google Sans Flex SemiBold"/>
              </a:rPr>
              <a:t>10</a:t>
            </a:r>
          </a:p>
        </p:txBody>
      </p:sp>
      <p:sp>
        <p:nvSpPr>
          <p:cNvPr id="83" name="stat label"/>
          <p:cNvSpPr txBox="1"/>
          <p:nvPr/>
        </p:nvSpPr>
        <p:spPr>
          <a:xfrm>
            <a:off x="7863840" y="4279392"/>
            <a:ext cx="96011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live system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column card"/>
          <p:cNvSpPr/>
          <p:nvPr/>
        </p:nvSpPr>
        <p:spPr>
          <a:xfrm>
            <a:off x="274320" y="1188720"/>
            <a:ext cx="2788920" cy="29718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olumn title"/>
          <p:cNvSpPr txBox="1"/>
          <p:nvPr/>
        </p:nvSpPr>
        <p:spPr>
          <a:xfrm>
            <a:off x="384048" y="1280160"/>
            <a:ext cx="2560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Google Sans Flex SemiBold"/>
              </a:rPr>
              <a:t>How is it different from other ideas?</a:t>
            </a:r>
          </a:p>
        </p:txBody>
      </p:sp>
      <p:sp>
        <p:nvSpPr>
          <p:cNvPr id="82" name="column text"/>
          <p:cNvSpPr txBox="1"/>
          <p:nvPr/>
        </p:nvSpPr>
        <p:spPr>
          <a:xfrm>
            <a:off x="384048" y="1874519"/>
            <a:ext cx="2578608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64592" indent="-164592">
              <a:spcAft>
                <a:spcPts val="7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It learns from the plant's own documents and data, not from a fixed template.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It finds the systems your documents name (MES, ERP, MongoDB, MQTT, MCP servers) and asks for each one by name.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Autonomy is a setting the owner controls, enforced by policy, not by a prompt.</a:t>
            </a:r>
          </a:p>
        </p:txBody>
      </p:sp>
      <p:sp>
        <p:nvSpPr>
          <p:cNvPr id="83" name="column card"/>
          <p:cNvSpPr/>
          <p:nvPr/>
        </p:nvSpPr>
        <p:spPr>
          <a:xfrm>
            <a:off x="3172968" y="1188720"/>
            <a:ext cx="2788920" cy="29718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olumn title"/>
          <p:cNvSpPr txBox="1"/>
          <p:nvPr/>
        </p:nvSpPr>
        <p:spPr>
          <a:xfrm>
            <a:off x="3282696" y="1280160"/>
            <a:ext cx="2560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88038"/>
                </a:solidFill>
                <a:latin typeface="Google Sans Flex SemiBold"/>
              </a:rPr>
              <a:t>How will it solve the problem?</a:t>
            </a:r>
          </a:p>
        </p:txBody>
      </p:sp>
      <p:sp>
        <p:nvSpPr>
          <p:cNvPr id="85" name="column text"/>
          <p:cNvSpPr txBox="1"/>
          <p:nvPr/>
        </p:nvSpPr>
        <p:spPr>
          <a:xfrm>
            <a:off x="3282696" y="1874519"/>
            <a:ext cx="2578608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64592" indent="-164592">
              <a:spcAft>
                <a:spcPts val="7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It compiles scattered manuals, logs and orders into one checked model. Every fact has its quote.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When a station fails, Diagnosis, Verifier, Planner and Warden answer in about 20 seconds.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Sentinel watches data, services and certificates. Playbooks and channels reach the right person.</a:t>
            </a:r>
          </a:p>
        </p:txBody>
      </p:sp>
      <p:sp>
        <p:nvSpPr>
          <p:cNvPr id="86" name="column card"/>
          <p:cNvSpPr/>
          <p:nvPr/>
        </p:nvSpPr>
        <p:spPr>
          <a:xfrm>
            <a:off x="6071616" y="1188720"/>
            <a:ext cx="2788920" cy="29718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olumn title"/>
          <p:cNvSpPr txBox="1"/>
          <p:nvPr/>
        </p:nvSpPr>
        <p:spPr>
          <a:xfrm>
            <a:off x="6181344" y="1280160"/>
            <a:ext cx="2560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06000"/>
                </a:solidFill>
                <a:latin typeface="Google Sans Flex SemiBold"/>
              </a:rPr>
              <a:t>USP of the solution</a:t>
            </a:r>
          </a:p>
        </p:txBody>
      </p:sp>
      <p:sp>
        <p:nvSpPr>
          <p:cNvPr id="88" name="column text"/>
          <p:cNvSpPr txBox="1"/>
          <p:nvPr/>
        </p:nvSpPr>
        <p:spPr>
          <a:xfrm>
            <a:off x="6181344" y="1874519"/>
            <a:ext cx="2578608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64592" indent="-164592">
              <a:spcAft>
                <a:spcPts val="7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Evidence before action: a wrong number is sent back, a broken hard limit blocks the action.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Two lines you set, tried first on 465 recorded incidents before you trust them.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Every step is recorded. Gemini works in every agent. Plain rules decide every safety result.</a:t>
            </a:r>
          </a:p>
        </p:txBody>
      </p:sp>
      <p:sp>
        <p:nvSpPr>
          <p:cNvPr id="89" name="summary banner"/>
          <p:cNvSpPr/>
          <p:nvPr/>
        </p:nvSpPr>
        <p:spPr>
          <a:xfrm>
            <a:off x="274320" y="4279392"/>
            <a:ext cx="8595360" cy="566928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ummary text"/>
          <p:cNvSpPr txBox="1"/>
          <p:nvPr/>
        </p:nvSpPr>
        <p:spPr>
          <a:xfrm>
            <a:off x="411480" y="4297680"/>
            <a:ext cx="832104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Plants already have the data and the experts. Tolerance connects them, checks its own answers, and leaves the authority with the people.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feature card"/>
          <p:cNvSpPr/>
          <p:nvPr/>
        </p:nvSpPr>
        <p:spPr>
          <a:xfrm>
            <a:off x="274320" y="1188720"/>
            <a:ext cx="2075688" cy="115214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eature title"/>
          <p:cNvSpPr txBox="1"/>
          <p:nvPr/>
        </p:nvSpPr>
        <p:spPr>
          <a:xfrm>
            <a:off x="347472" y="1243584"/>
            <a:ext cx="1920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Guide onboarding</a:t>
            </a:r>
          </a:p>
        </p:txBody>
      </p:sp>
      <p:sp>
        <p:nvSpPr>
          <p:cNvPr id="90" name="feature text"/>
          <p:cNvSpPr txBox="1"/>
          <p:nvPr/>
        </p:nvSpPr>
        <p:spPr>
          <a:xfrm>
            <a:off x="347472" y="1536192"/>
            <a:ext cx="1920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Asks the plant name, reads the documents, settles conflicts, draws the plant.</a:t>
            </a:r>
          </a:p>
        </p:txBody>
      </p:sp>
      <p:sp>
        <p:nvSpPr>
          <p:cNvPr id="91" name="feature card"/>
          <p:cNvSpPr/>
          <p:nvPr/>
        </p:nvSpPr>
        <p:spPr>
          <a:xfrm>
            <a:off x="2441448" y="1188720"/>
            <a:ext cx="2075688" cy="115214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eature title"/>
          <p:cNvSpPr txBox="1"/>
          <p:nvPr/>
        </p:nvSpPr>
        <p:spPr>
          <a:xfrm>
            <a:off x="2514600" y="1243584"/>
            <a:ext cx="1920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Document Reader</a:t>
            </a:r>
          </a:p>
        </p:txBody>
      </p:sp>
      <p:sp>
        <p:nvSpPr>
          <p:cNvPr id="93" name="feature text"/>
          <p:cNvSpPr txBox="1"/>
          <p:nvPr/>
        </p:nvSpPr>
        <p:spPr>
          <a:xfrm>
            <a:off x="2514600" y="1536192"/>
            <a:ext cx="1920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Facts with exact quotes. Hidden instructions are removed first.</a:t>
            </a:r>
          </a:p>
        </p:txBody>
      </p:sp>
      <p:sp>
        <p:nvSpPr>
          <p:cNvPr id="94" name="feature card"/>
          <p:cNvSpPr/>
          <p:nvPr/>
        </p:nvSpPr>
        <p:spPr>
          <a:xfrm>
            <a:off x="4608576" y="1188720"/>
            <a:ext cx="2075688" cy="115214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eature title"/>
          <p:cNvSpPr txBox="1"/>
          <p:nvPr/>
        </p:nvSpPr>
        <p:spPr>
          <a:xfrm>
            <a:off x="4681728" y="1243584"/>
            <a:ext cx="1920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Live connectors</a:t>
            </a:r>
          </a:p>
        </p:txBody>
      </p:sp>
      <p:sp>
        <p:nvSpPr>
          <p:cNvPr id="96" name="feature text"/>
          <p:cNvSpPr txBox="1"/>
          <p:nvPr/>
        </p:nvSpPr>
        <p:spPr>
          <a:xfrm>
            <a:off x="4681728" y="1536192"/>
            <a:ext cx="1920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PostgreSQL, MySQL, SQL Server, Oracle, MongoDB, MQTT, Kafka, OPC UA, REST. Test, then connect.</a:t>
            </a:r>
          </a:p>
        </p:txBody>
      </p:sp>
      <p:sp>
        <p:nvSpPr>
          <p:cNvPr id="97" name="feature card"/>
          <p:cNvSpPr/>
          <p:nvPr/>
        </p:nvSpPr>
        <p:spPr>
          <a:xfrm>
            <a:off x="6775704" y="1188720"/>
            <a:ext cx="2075688" cy="115214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eature title"/>
          <p:cNvSpPr txBox="1"/>
          <p:nvPr/>
        </p:nvSpPr>
        <p:spPr>
          <a:xfrm>
            <a:off x="6848856" y="1243584"/>
            <a:ext cx="1920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Your own MCP servers</a:t>
            </a:r>
          </a:p>
        </p:txBody>
      </p:sp>
      <p:sp>
        <p:nvSpPr>
          <p:cNvPr id="99" name="feature text"/>
          <p:cNvSpPr txBox="1"/>
          <p:nvPr/>
        </p:nvSpPr>
        <p:spPr>
          <a:xfrm>
            <a:off x="6848856" y="1536192"/>
            <a:ext cx="1920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They join the same hub. Only read-only tools can run.</a:t>
            </a:r>
          </a:p>
        </p:txBody>
      </p:sp>
      <p:sp>
        <p:nvSpPr>
          <p:cNvPr id="100" name="feature card"/>
          <p:cNvSpPr/>
          <p:nvPr/>
        </p:nvSpPr>
        <p:spPr>
          <a:xfrm>
            <a:off x="274320" y="2432304"/>
            <a:ext cx="2075688" cy="115214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eature title"/>
          <p:cNvSpPr txBox="1"/>
          <p:nvPr/>
        </p:nvSpPr>
        <p:spPr>
          <a:xfrm>
            <a:off x="347472" y="2487168"/>
            <a:ext cx="1920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Floor in 2D and 3D</a:t>
            </a:r>
          </a:p>
        </p:txBody>
      </p:sp>
      <p:sp>
        <p:nvSpPr>
          <p:cNvPr id="102" name="feature text"/>
          <p:cNvSpPr txBox="1"/>
          <p:nvPr/>
        </p:nvSpPr>
        <p:spPr>
          <a:xfrm>
            <a:off x="347472" y="2779776"/>
            <a:ext cx="1920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A Pascal plan and 3D view, with every data feed joined to its stations.</a:t>
            </a:r>
          </a:p>
        </p:txBody>
      </p:sp>
      <p:sp>
        <p:nvSpPr>
          <p:cNvPr id="103" name="feature card"/>
          <p:cNvSpPr/>
          <p:nvPr/>
        </p:nvSpPr>
        <p:spPr>
          <a:xfrm>
            <a:off x="2441448" y="2432304"/>
            <a:ext cx="2075688" cy="115214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eature title"/>
          <p:cNvSpPr txBox="1"/>
          <p:nvPr/>
        </p:nvSpPr>
        <p:spPr>
          <a:xfrm>
            <a:off x="2514600" y="2487168"/>
            <a:ext cx="1920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Layout editor</a:t>
            </a:r>
          </a:p>
        </p:txBody>
      </p:sp>
      <p:sp>
        <p:nvSpPr>
          <p:cNvPr id="105" name="feature text"/>
          <p:cNvSpPr txBox="1"/>
          <p:nvPr/>
        </p:nvSpPr>
        <p:spPr>
          <a:xfrm>
            <a:off x="2514600" y="2779776"/>
            <a:ext cx="1920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Move, add and delete stations. Draw how parts flow.</a:t>
            </a:r>
          </a:p>
        </p:txBody>
      </p:sp>
      <p:sp>
        <p:nvSpPr>
          <p:cNvPr id="106" name="feature card"/>
          <p:cNvSpPr/>
          <p:nvPr/>
        </p:nvSpPr>
        <p:spPr>
          <a:xfrm>
            <a:off x="4608576" y="2432304"/>
            <a:ext cx="2075688" cy="115214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eature title"/>
          <p:cNvSpPr txBox="1"/>
          <p:nvPr/>
        </p:nvSpPr>
        <p:spPr>
          <a:xfrm>
            <a:off x="4681728" y="2487168"/>
            <a:ext cx="1920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Operations</a:t>
            </a:r>
          </a:p>
        </p:txBody>
      </p:sp>
      <p:sp>
        <p:nvSpPr>
          <p:cNvPr id="108" name="feature text"/>
          <p:cNvSpPr txBox="1"/>
          <p:nvPr/>
        </p:nvSpPr>
        <p:spPr>
          <a:xfrm>
            <a:off x="4681728" y="2779776"/>
            <a:ext cx="1920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Diagnosis, Verifier, Planner and Warden in one run, step by step.</a:t>
            </a:r>
          </a:p>
        </p:txBody>
      </p:sp>
      <p:sp>
        <p:nvSpPr>
          <p:cNvPr id="109" name="feature card"/>
          <p:cNvSpPr/>
          <p:nvPr/>
        </p:nvSpPr>
        <p:spPr>
          <a:xfrm>
            <a:off x="6775704" y="2432304"/>
            <a:ext cx="2075688" cy="115214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eature title"/>
          <p:cNvSpPr txBox="1"/>
          <p:nvPr/>
        </p:nvSpPr>
        <p:spPr>
          <a:xfrm>
            <a:off x="6848856" y="2487168"/>
            <a:ext cx="1920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Warden gate</a:t>
            </a:r>
          </a:p>
        </p:txBody>
      </p:sp>
      <p:sp>
        <p:nvSpPr>
          <p:cNvPr id="111" name="feature text"/>
          <p:cNvSpPr txBox="1"/>
          <p:nvPr/>
        </p:nvSpPr>
        <p:spPr>
          <a:xfrm>
            <a:off x="6848856" y="2779776"/>
            <a:ext cx="1920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Score 0 to 100, your two lines, hard limits, a backtest.</a:t>
            </a:r>
          </a:p>
        </p:txBody>
      </p:sp>
      <p:sp>
        <p:nvSpPr>
          <p:cNvPr id="112" name="feature card"/>
          <p:cNvSpPr/>
          <p:nvPr/>
        </p:nvSpPr>
        <p:spPr>
          <a:xfrm>
            <a:off x="274320" y="3675888"/>
            <a:ext cx="2075688" cy="115214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eature title"/>
          <p:cNvSpPr txBox="1"/>
          <p:nvPr/>
        </p:nvSpPr>
        <p:spPr>
          <a:xfrm>
            <a:off x="347472" y="3730752"/>
            <a:ext cx="1920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Sentinel</a:t>
            </a:r>
          </a:p>
        </p:txBody>
      </p:sp>
      <p:sp>
        <p:nvSpPr>
          <p:cNvPr id="114" name="feature text"/>
          <p:cNvSpPr txBox="1"/>
          <p:nvPr/>
        </p:nvSpPr>
        <p:spPr>
          <a:xfrm>
            <a:off x="347472" y="4023360"/>
            <a:ext cx="1920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Plain rules on data, services and certificates. Maintenance windows.</a:t>
            </a:r>
          </a:p>
        </p:txBody>
      </p:sp>
      <p:sp>
        <p:nvSpPr>
          <p:cNvPr id="115" name="feature card"/>
          <p:cNvSpPr/>
          <p:nvPr/>
        </p:nvSpPr>
        <p:spPr>
          <a:xfrm>
            <a:off x="2441448" y="3675888"/>
            <a:ext cx="2075688" cy="115214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eature title"/>
          <p:cNvSpPr txBox="1"/>
          <p:nvPr/>
        </p:nvSpPr>
        <p:spPr>
          <a:xfrm>
            <a:off x="2514600" y="3730752"/>
            <a:ext cx="1920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Playbooks</a:t>
            </a:r>
          </a:p>
        </p:txBody>
      </p:sp>
      <p:sp>
        <p:nvSpPr>
          <p:cNvPr id="117" name="feature text"/>
          <p:cNvSpPr txBox="1"/>
          <p:nvPr/>
        </p:nvSpPr>
        <p:spPr>
          <a:xfrm>
            <a:off x="2514600" y="4023360"/>
            <a:ext cx="1920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Draw what should happen when a station fails.</a:t>
            </a:r>
          </a:p>
        </p:txBody>
      </p:sp>
      <p:sp>
        <p:nvSpPr>
          <p:cNvPr id="118" name="feature card"/>
          <p:cNvSpPr/>
          <p:nvPr/>
        </p:nvSpPr>
        <p:spPr>
          <a:xfrm>
            <a:off x="4608576" y="3675888"/>
            <a:ext cx="2075688" cy="115214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eature title"/>
          <p:cNvSpPr txBox="1"/>
          <p:nvPr/>
        </p:nvSpPr>
        <p:spPr>
          <a:xfrm>
            <a:off x="4681728" y="3730752"/>
            <a:ext cx="1920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Approval channels</a:t>
            </a:r>
          </a:p>
        </p:txBody>
      </p:sp>
      <p:sp>
        <p:nvSpPr>
          <p:cNvPr id="120" name="feature text"/>
          <p:cNvSpPr txBox="1"/>
          <p:nvPr/>
        </p:nvSpPr>
        <p:spPr>
          <a:xfrm>
            <a:off x="4681728" y="4023360"/>
            <a:ext cx="1920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Slack, Teams, Discord, Telegram or a webhook.</a:t>
            </a:r>
          </a:p>
        </p:txBody>
      </p:sp>
      <p:sp>
        <p:nvSpPr>
          <p:cNvPr id="121" name="feature card"/>
          <p:cNvSpPr/>
          <p:nvPr/>
        </p:nvSpPr>
        <p:spPr>
          <a:xfrm>
            <a:off x="6775704" y="3675888"/>
            <a:ext cx="2075688" cy="115214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eature title"/>
          <p:cNvSpPr txBox="1"/>
          <p:nvPr/>
        </p:nvSpPr>
        <p:spPr>
          <a:xfrm>
            <a:off x="6848856" y="3730752"/>
            <a:ext cx="1920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Private by design</a:t>
            </a:r>
          </a:p>
        </p:txBody>
      </p:sp>
      <p:sp>
        <p:nvSpPr>
          <p:cNvPr id="123" name="feature text"/>
          <p:cNvSpPr txBox="1"/>
          <p:nvPr/>
        </p:nvSpPr>
        <p:spPr>
          <a:xfrm>
            <a:off x="6848856" y="4023360"/>
            <a:ext cx="1920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Firebase sign-in, a private plant per user, encrypted passwords, usage caps.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w label"/>
          <p:cNvSpPr txBox="1"/>
          <p:nvPr/>
        </p:nvSpPr>
        <p:spPr>
          <a:xfrm>
            <a:off x="274320" y="109728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F6368"/>
                </a:solidFill>
                <a:latin typeface="Google Sans Flex SemiBold"/>
              </a:rPr>
              <a:t>Set up once</a:t>
            </a:r>
          </a:p>
        </p:txBody>
      </p:sp>
      <p:sp>
        <p:nvSpPr>
          <p:cNvPr id="97" name="step"/>
          <p:cNvSpPr/>
          <p:nvPr/>
        </p:nvSpPr>
        <p:spPr>
          <a:xfrm>
            <a:off x="274320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tep text"/>
          <p:cNvSpPr txBox="1"/>
          <p:nvPr/>
        </p:nvSpPr>
        <p:spPr>
          <a:xfrm>
            <a:off x="310896" y="1371600"/>
            <a:ext cx="1225296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Give the plant name and documents</a:t>
            </a:r>
          </a:p>
        </p:txBody>
      </p:sp>
      <p:sp>
        <p:nvSpPr>
          <p:cNvPr id="99" name="arrow"/>
          <p:cNvSpPr/>
          <p:nvPr/>
        </p:nvSpPr>
        <p:spPr>
          <a:xfrm>
            <a:off x="1581912" y="1737360"/>
            <a:ext cx="128016" cy="182880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tep"/>
          <p:cNvSpPr/>
          <p:nvPr/>
        </p:nvSpPr>
        <p:spPr>
          <a:xfrm>
            <a:off x="1709928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tep text"/>
          <p:cNvSpPr txBox="1"/>
          <p:nvPr/>
        </p:nvSpPr>
        <p:spPr>
          <a:xfrm>
            <a:off x="1746504" y="1371600"/>
            <a:ext cx="1225296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Connect the systems the documents name</a:t>
            </a:r>
          </a:p>
        </p:txBody>
      </p:sp>
      <p:sp>
        <p:nvSpPr>
          <p:cNvPr id="102" name="arrow"/>
          <p:cNvSpPr/>
          <p:nvPr/>
        </p:nvSpPr>
        <p:spPr>
          <a:xfrm>
            <a:off x="3017520" y="1737360"/>
            <a:ext cx="128016" cy="182880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step"/>
          <p:cNvSpPr/>
          <p:nvPr/>
        </p:nvSpPr>
        <p:spPr>
          <a:xfrm>
            <a:off x="3145536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tep text"/>
          <p:cNvSpPr txBox="1"/>
          <p:nvPr/>
        </p:nvSpPr>
        <p:spPr>
          <a:xfrm>
            <a:off x="3182112" y="1371600"/>
            <a:ext cx="1225296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The model is compiled, each fact with its quote</a:t>
            </a:r>
          </a:p>
        </p:txBody>
      </p:sp>
      <p:sp>
        <p:nvSpPr>
          <p:cNvPr id="105" name="arrow"/>
          <p:cNvSpPr/>
          <p:nvPr/>
        </p:nvSpPr>
        <p:spPr>
          <a:xfrm>
            <a:off x="4453128" y="1737360"/>
            <a:ext cx="128016" cy="182880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tep"/>
          <p:cNvSpPr/>
          <p:nvPr/>
        </p:nvSpPr>
        <p:spPr>
          <a:xfrm>
            <a:off x="4581144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tep text"/>
          <p:cNvSpPr txBox="1"/>
          <p:nvPr/>
        </p:nvSpPr>
        <p:spPr>
          <a:xfrm>
            <a:off x="4617720" y="1371600"/>
            <a:ext cx="1225296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The owner confirms what was understood</a:t>
            </a:r>
          </a:p>
        </p:txBody>
      </p:sp>
      <p:sp>
        <p:nvSpPr>
          <p:cNvPr id="108" name="arrow"/>
          <p:cNvSpPr/>
          <p:nvPr/>
        </p:nvSpPr>
        <p:spPr>
          <a:xfrm>
            <a:off x="5888736" y="1737360"/>
            <a:ext cx="128016" cy="182880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step"/>
          <p:cNvSpPr/>
          <p:nvPr/>
        </p:nvSpPr>
        <p:spPr>
          <a:xfrm>
            <a:off x="6016752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tep text"/>
          <p:cNvSpPr txBox="1"/>
          <p:nvPr/>
        </p:nvSpPr>
        <p:spPr>
          <a:xfrm>
            <a:off x="6053328" y="1371600"/>
            <a:ext cx="1225296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The floor goes live in 2D and 3D</a:t>
            </a:r>
          </a:p>
        </p:txBody>
      </p:sp>
      <p:sp>
        <p:nvSpPr>
          <p:cNvPr id="111" name="arrow"/>
          <p:cNvSpPr/>
          <p:nvPr/>
        </p:nvSpPr>
        <p:spPr>
          <a:xfrm>
            <a:off x="7324344" y="1737360"/>
            <a:ext cx="128016" cy="182880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step"/>
          <p:cNvSpPr/>
          <p:nvPr/>
        </p:nvSpPr>
        <p:spPr>
          <a:xfrm>
            <a:off x="7452360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step text"/>
          <p:cNvSpPr txBox="1"/>
          <p:nvPr/>
        </p:nvSpPr>
        <p:spPr>
          <a:xfrm>
            <a:off x="7488936" y="1371600"/>
            <a:ext cx="1225296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The owner sets the two lines</a:t>
            </a:r>
          </a:p>
        </p:txBody>
      </p:sp>
      <p:sp>
        <p:nvSpPr>
          <p:cNvPr id="114" name="row label"/>
          <p:cNvSpPr txBox="1"/>
          <p:nvPr/>
        </p:nvSpPr>
        <p:spPr>
          <a:xfrm>
            <a:off x="274320" y="2514600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F6368"/>
                </a:solidFill>
                <a:latin typeface="Google Sans Flex SemiBold"/>
              </a:rPr>
              <a:t>When a station fails</a:t>
            </a:r>
          </a:p>
        </p:txBody>
      </p:sp>
      <p:sp>
        <p:nvSpPr>
          <p:cNvPr id="115" name="operations step"/>
          <p:cNvSpPr/>
          <p:nvPr/>
        </p:nvSpPr>
        <p:spPr>
          <a:xfrm>
            <a:off x="274320" y="2788920"/>
            <a:ext cx="1481328" cy="109728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perations text"/>
          <p:cNvSpPr txBox="1"/>
          <p:nvPr/>
        </p:nvSpPr>
        <p:spPr>
          <a:xfrm>
            <a:off x="329184" y="2834640"/>
            <a:ext cx="137160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88038"/>
                </a:solidFill>
                <a:latin typeface="Google Sans Flex SemiBold"/>
              </a:rPr>
              <a:t>Diagnosis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finds the cause with read-only tools</a:t>
            </a:r>
          </a:p>
        </p:txBody>
      </p:sp>
      <p:sp>
        <p:nvSpPr>
          <p:cNvPr id="117" name="arrow"/>
          <p:cNvSpPr/>
          <p:nvPr/>
        </p:nvSpPr>
        <p:spPr>
          <a:xfrm>
            <a:off x="1764792" y="3246120"/>
            <a:ext cx="128016" cy="182880"/>
          </a:xfrm>
          <a:prstGeom prst="rightArrow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perations step"/>
          <p:cNvSpPr/>
          <p:nvPr/>
        </p:nvSpPr>
        <p:spPr>
          <a:xfrm>
            <a:off x="1901952" y="2788920"/>
            <a:ext cx="1481328" cy="109728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perations text"/>
          <p:cNvSpPr txBox="1"/>
          <p:nvPr/>
        </p:nvSpPr>
        <p:spPr>
          <a:xfrm>
            <a:off x="1956816" y="2834640"/>
            <a:ext cx="137160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88038"/>
                </a:solidFill>
                <a:latin typeface="Google Sans Flex SemiBold"/>
              </a:rPr>
              <a:t>Verifier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recomputes every number it cites</a:t>
            </a:r>
          </a:p>
        </p:txBody>
      </p:sp>
      <p:sp>
        <p:nvSpPr>
          <p:cNvPr id="120" name="arrow"/>
          <p:cNvSpPr/>
          <p:nvPr/>
        </p:nvSpPr>
        <p:spPr>
          <a:xfrm>
            <a:off x="3392424" y="3246120"/>
            <a:ext cx="128016" cy="182880"/>
          </a:xfrm>
          <a:prstGeom prst="rightArrow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perations step"/>
          <p:cNvSpPr/>
          <p:nvPr/>
        </p:nvSpPr>
        <p:spPr>
          <a:xfrm>
            <a:off x="3529584" y="2788920"/>
            <a:ext cx="1481328" cy="109728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perations text"/>
          <p:cNvSpPr txBox="1"/>
          <p:nvPr/>
        </p:nvSpPr>
        <p:spPr>
          <a:xfrm>
            <a:off x="3584448" y="2834640"/>
            <a:ext cx="137160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88038"/>
                </a:solidFill>
                <a:latin typeface="Google Sans Flex SemiBold"/>
              </a:rPr>
              <a:t>Planner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proposes the fix with exact settings</a:t>
            </a:r>
          </a:p>
        </p:txBody>
      </p:sp>
      <p:sp>
        <p:nvSpPr>
          <p:cNvPr id="123" name="arrow"/>
          <p:cNvSpPr/>
          <p:nvPr/>
        </p:nvSpPr>
        <p:spPr>
          <a:xfrm>
            <a:off x="5020056" y="3246120"/>
            <a:ext cx="128016" cy="182880"/>
          </a:xfrm>
          <a:prstGeom prst="rightArrow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perations step"/>
          <p:cNvSpPr/>
          <p:nvPr/>
        </p:nvSpPr>
        <p:spPr>
          <a:xfrm>
            <a:off x="5157216" y="2788920"/>
            <a:ext cx="1481328" cy="1097280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perations text"/>
          <p:cNvSpPr txBox="1"/>
          <p:nvPr/>
        </p:nvSpPr>
        <p:spPr>
          <a:xfrm>
            <a:off x="5212079" y="2834640"/>
            <a:ext cx="137160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5221F"/>
                </a:solidFill>
                <a:latin typeface="Google Sans Flex SemiBold"/>
              </a:rPr>
              <a:t>Warden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hard limits, then a score from 0 to 100</a:t>
            </a:r>
          </a:p>
        </p:txBody>
      </p:sp>
      <p:sp>
        <p:nvSpPr>
          <p:cNvPr id="126" name="outcome"/>
          <p:cNvSpPr/>
          <p:nvPr/>
        </p:nvSpPr>
        <p:spPr>
          <a:xfrm>
            <a:off x="6903720" y="2788920"/>
            <a:ext cx="1965960" cy="338328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utcome text"/>
          <p:cNvSpPr txBox="1"/>
          <p:nvPr/>
        </p:nvSpPr>
        <p:spPr>
          <a:xfrm>
            <a:off x="6949440" y="2788920"/>
            <a:ext cx="1874519" cy="3383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5221F"/>
                </a:solidFill>
                <a:latin typeface="Google Sans Flex SemiBold"/>
              </a:rPr>
              <a:t>Blocked or refused: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does not run</a:t>
            </a:r>
          </a:p>
        </p:txBody>
      </p:sp>
      <p:sp>
        <p:nvSpPr>
          <p:cNvPr id="128" name="outcome"/>
          <p:cNvSpPr/>
          <p:nvPr/>
        </p:nvSpPr>
        <p:spPr>
          <a:xfrm>
            <a:off x="6903720" y="3163824"/>
            <a:ext cx="1965960" cy="338328"/>
          </a:xfrm>
          <a:prstGeom prst="roundRect">
            <a:avLst>
              <a:gd name="adj" fmla="val 6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utcome text"/>
          <p:cNvSpPr txBox="1"/>
          <p:nvPr/>
        </p:nvSpPr>
        <p:spPr>
          <a:xfrm>
            <a:off x="6949440" y="3163824"/>
            <a:ext cx="1874519" cy="3383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06000"/>
                </a:solidFill>
                <a:latin typeface="Google Sans Flex SemiBold"/>
              </a:rPr>
              <a:t>A person approves: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in the app or chat</a:t>
            </a:r>
          </a:p>
        </p:txBody>
      </p:sp>
      <p:sp>
        <p:nvSpPr>
          <p:cNvPr id="130" name="outcome"/>
          <p:cNvSpPr/>
          <p:nvPr/>
        </p:nvSpPr>
        <p:spPr>
          <a:xfrm>
            <a:off x="6903720" y="3538727"/>
            <a:ext cx="1965960" cy="33832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utcome text"/>
          <p:cNvSpPr txBox="1"/>
          <p:nvPr/>
        </p:nvSpPr>
        <p:spPr>
          <a:xfrm>
            <a:off x="6949440" y="3538727"/>
            <a:ext cx="1874519" cy="3383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88038"/>
                </a:solidFill>
                <a:latin typeface="Google Sans Flex SemiBold"/>
              </a:rPr>
              <a:t>Runs by itself: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inside your limit</a:t>
            </a:r>
          </a:p>
        </p:txBody>
      </p:sp>
      <p:sp>
        <p:nvSpPr>
          <p:cNvPr id="132" name="arrow"/>
          <p:cNvSpPr/>
          <p:nvPr/>
        </p:nvSpPr>
        <p:spPr>
          <a:xfrm>
            <a:off x="6702552" y="3246120"/>
            <a:ext cx="164592" cy="182880"/>
          </a:xfrm>
          <a:prstGeom prst="rightArrow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"/>
          <p:cNvSpPr txBox="1"/>
          <p:nvPr/>
        </p:nvSpPr>
        <p:spPr>
          <a:xfrm>
            <a:off x="274320" y="4069080"/>
            <a:ext cx="85953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Google Sans Flex SemiBold"/>
              </a:rPr>
              <a:t>Then: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the Action Broker applies only what the gate allows, in a simulator. Every model call, tool call and decision is recorded. </a:t>
            </a:r>
            <a:r>
              <a:rPr sz="1050" b="1">
                <a:solidFill>
                  <a:srgbClr val="202124"/>
                </a:solidFill>
                <a:latin typeface="Google Sans Flex SemiBold"/>
              </a:rPr>
              <a:t>Who uses it: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the plant owner sets it up and the limits, an operator reads the floor, a person approves the middle zone.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screen" descr="ingest_car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223936"/>
            <a:ext cx="2788920" cy="2261286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5" name="caption"/>
          <p:cNvSpPr txBox="1"/>
          <p:nvPr/>
        </p:nvSpPr>
        <p:spPr>
          <a:xfrm>
            <a:off x="274320" y="3611880"/>
            <a:ext cx="27889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The Guide asks for each system the documents name, with the sentence that names it.</a:t>
            </a:r>
          </a:p>
        </p:txBody>
      </p:sp>
      <p:pic>
        <p:nvPicPr>
          <p:cNvPr id="106" name="screen" descr="layout_editor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2968" y="1510334"/>
            <a:ext cx="2788920" cy="168849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7" name="caption"/>
          <p:cNvSpPr txBox="1"/>
          <p:nvPr/>
        </p:nvSpPr>
        <p:spPr>
          <a:xfrm>
            <a:off x="3172968" y="3611880"/>
            <a:ext cx="27889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The layout editor: move and add stations, draw part flows.</a:t>
            </a:r>
          </a:p>
        </p:txBody>
      </p:sp>
      <p:pic>
        <p:nvPicPr>
          <p:cNvPr id="108" name="screen" descr="warden_g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1616" y="1626308"/>
            <a:ext cx="2788920" cy="1456542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9" name="caption"/>
          <p:cNvSpPr txBox="1"/>
          <p:nvPr/>
        </p:nvSpPr>
        <p:spPr>
          <a:xfrm>
            <a:off x="6071616" y="3611880"/>
            <a:ext cx="27889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The Warden gate: every rule an action must meet.</a:t>
            </a:r>
          </a:p>
        </p:txBody>
      </p:sp>
      <p:sp>
        <p:nvSpPr>
          <p:cNvPr id="110" name="note"/>
          <p:cNvSpPr txBox="1"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These are screens of the running prototype, not sketches.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Architecture diagram" descr="agent_t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92123"/>
            <a:ext cx="5806440" cy="3285033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3" name="text"/>
          <p:cNvSpPr txBox="1"/>
          <p:nvPr/>
        </p:nvSpPr>
        <p:spPr>
          <a:xfrm>
            <a:off x="6263640" y="1188720"/>
            <a:ext cx="260604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How it fits together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50" b="1">
                <a:solidFill>
                  <a:srgbClr val="202124"/>
                </a:solidFill>
                <a:latin typeface="Google Sans Flex SemiBold"/>
              </a:rPr>
              <a:t>One container on Cloud Run: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the web app and the API.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50" b="1">
                <a:solidFill>
                  <a:srgbClr val="202124"/>
                </a:solidFill>
                <a:latin typeface="Google Sans Flex SemiBold"/>
              </a:rPr>
              <a:t>Foreman: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runs the nine agents, with a contract card and a record of every step.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50" b="1">
                <a:solidFill>
                  <a:srgbClr val="202124"/>
                </a:solidFill>
                <a:latin typeface="Google Sans Flex SemiBold"/>
              </a:rPr>
              <a:t>Gemini on Vertex AI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writes the words, reads answers and picks tools.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50" b="1">
                <a:solidFill>
                  <a:srgbClr val="202124"/>
                </a:solidFill>
                <a:latin typeface="Google Sans Flex SemiBold"/>
              </a:rPr>
              <a:t>Cedar policy gateway: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default deny; nothing reaches a machine except through it.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50" b="1">
                <a:solidFill>
                  <a:srgbClr val="202124"/>
                </a:solidFill>
                <a:latin typeface="Google Sans Flex SemiBold"/>
              </a:rPr>
              <a:t>MCP hub: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built-in and the owner's own servers; only read-only tools run.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50" b="1">
                <a:solidFill>
                  <a:srgbClr val="202124"/>
                </a:solidFill>
                <a:latin typeface="Google Sans Flex SemiBold"/>
              </a:rPr>
              <a:t>Data lake: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DuckDB, loaded once and kept current by connectors.</a:t>
            </a:r>
          </a:p>
        </p:txBody>
      </p:sp>
      <p:sp>
        <p:nvSpPr>
          <p:cNvPr id="114" name="caption"/>
          <p:cNvSpPr txBox="1"/>
          <p:nvPr/>
        </p:nvSpPr>
        <p:spPr>
          <a:xfrm>
            <a:off x="274320" y="4526280"/>
            <a:ext cx="5806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The agent team: owner, Guide, onboarding and operations agents, shared services, policy gateway and machines.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chnology card"/>
          <p:cNvSpPr/>
          <p:nvPr/>
        </p:nvSpPr>
        <p:spPr>
          <a:xfrm>
            <a:off x="274320" y="1188720"/>
            <a:ext cx="2075688" cy="27889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chnology title"/>
          <p:cNvSpPr txBox="1"/>
          <p:nvPr/>
        </p:nvSpPr>
        <p:spPr>
          <a:xfrm>
            <a:off x="365760" y="1261872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A73E8"/>
                </a:solidFill>
                <a:latin typeface="Google Sans Flex SemiBold"/>
              </a:rPr>
              <a:t>Google Cloud</a:t>
            </a:r>
          </a:p>
        </p:txBody>
      </p:sp>
      <p:sp>
        <p:nvSpPr>
          <p:cNvPr id="122" name="technology text"/>
          <p:cNvSpPr txBox="1"/>
          <p:nvPr/>
        </p:nvSpPr>
        <p:spPr>
          <a:xfrm>
            <a:off x="365760" y="1691640"/>
            <a:ext cx="1920240" cy="2240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Gemini on Vertex AI (Gemini 2.5 Flash and the flash-lite family)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Cloud Run, one always-on instance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Firebase Authentication (Google, email, guest)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Cloud Build and Artifact Registry</a:t>
            </a:r>
          </a:p>
        </p:txBody>
      </p:sp>
      <p:sp>
        <p:nvSpPr>
          <p:cNvPr id="123" name="technology card"/>
          <p:cNvSpPr/>
          <p:nvPr/>
        </p:nvSpPr>
        <p:spPr>
          <a:xfrm>
            <a:off x="2441448" y="1188720"/>
            <a:ext cx="2075688" cy="27889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chnology title"/>
          <p:cNvSpPr txBox="1"/>
          <p:nvPr/>
        </p:nvSpPr>
        <p:spPr>
          <a:xfrm>
            <a:off x="2532888" y="1261872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5221F"/>
                </a:solidFill>
                <a:latin typeface="Google Sans Flex SemiBold"/>
              </a:rPr>
              <a:t>Agents and safety</a:t>
            </a:r>
          </a:p>
        </p:txBody>
      </p:sp>
      <p:sp>
        <p:nvSpPr>
          <p:cNvPr id="125" name="technology text"/>
          <p:cNvSpPr txBox="1"/>
          <p:nvPr/>
        </p:nvSpPr>
        <p:spPr>
          <a:xfrm>
            <a:off x="2532888" y="1691640"/>
            <a:ext cx="1920240" cy="2240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Foreman agent layer, Gemini function calling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Cedar policy, default deny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Model Context Protocol (hub and client)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Rule-driven Warden and Sentinel</a:t>
            </a:r>
          </a:p>
        </p:txBody>
      </p:sp>
      <p:sp>
        <p:nvSpPr>
          <p:cNvPr id="126" name="technology card"/>
          <p:cNvSpPr/>
          <p:nvPr/>
        </p:nvSpPr>
        <p:spPr>
          <a:xfrm>
            <a:off x="4608576" y="1188720"/>
            <a:ext cx="2075688" cy="27889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chnology title"/>
          <p:cNvSpPr txBox="1"/>
          <p:nvPr/>
        </p:nvSpPr>
        <p:spPr>
          <a:xfrm>
            <a:off x="4700016" y="1261872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88038"/>
                </a:solidFill>
                <a:latin typeface="Google Sans Flex SemiBold"/>
              </a:rPr>
              <a:t>Data and connectors</a:t>
            </a:r>
          </a:p>
        </p:txBody>
      </p:sp>
      <p:sp>
        <p:nvSpPr>
          <p:cNvPr id="128" name="technology text"/>
          <p:cNvSpPr txBox="1"/>
          <p:nvPr/>
        </p:nvSpPr>
        <p:spPr>
          <a:xfrm>
            <a:off x="4700016" y="1691640"/>
            <a:ext cx="1920240" cy="2240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DuckDB lake, dlt loaders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SQLAlchemy: PostgreSQL, MySQL, SQL Server, Oracle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pymongo, MQTT, Kafka, OPC UA (asyncua)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Encrypted vault for passwords</a:t>
            </a:r>
          </a:p>
        </p:txBody>
      </p:sp>
      <p:sp>
        <p:nvSpPr>
          <p:cNvPr id="129" name="technology card"/>
          <p:cNvSpPr/>
          <p:nvPr/>
        </p:nvSpPr>
        <p:spPr>
          <a:xfrm>
            <a:off x="6775704" y="1188720"/>
            <a:ext cx="2075688" cy="27889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chnology title"/>
          <p:cNvSpPr txBox="1"/>
          <p:nvPr/>
        </p:nvSpPr>
        <p:spPr>
          <a:xfrm>
            <a:off x="6867144" y="1261872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06000"/>
                </a:solidFill>
                <a:latin typeface="Google Sans Flex SemiBold"/>
              </a:rPr>
              <a:t>Web</a:t>
            </a:r>
          </a:p>
        </p:txBody>
      </p:sp>
      <p:sp>
        <p:nvSpPr>
          <p:cNvPr id="131" name="technology text"/>
          <p:cNvSpPr txBox="1"/>
          <p:nvPr/>
        </p:nvSpPr>
        <p:spPr>
          <a:xfrm>
            <a:off x="6867144" y="1691640"/>
            <a:ext cx="1920240" cy="2240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Next.js 16 and React 19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Pascal Editor viewer (2D plan, 3D)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three.js, React Flow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FastAPI backend</a:t>
            </a:r>
          </a:p>
        </p:txBody>
      </p:sp>
      <p:sp>
        <p:nvSpPr>
          <p:cNvPr id="132" name="gemini banner"/>
          <p:cNvSpPr/>
          <p:nvPr/>
        </p:nvSpPr>
        <p:spPr>
          <a:xfrm>
            <a:off x="274320" y="4114800"/>
            <a:ext cx="8595360" cy="566928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emini text"/>
          <p:cNvSpPr txBox="1"/>
          <p:nvPr/>
        </p:nvSpPr>
        <p:spPr>
          <a:xfrm>
            <a:off x="411480" y="4133087"/>
            <a:ext cx="832104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73E8"/>
                </a:solidFill>
                <a:latin typeface="Google Sans Flex SemiBold"/>
              </a:rPr>
              <a:t>Gemini is called through one gateway: a daily cap, model rotation when a model is busy, recorded answers as a fallback, and a visible notice when Gemini is under load.</a:t>
            </a:r>
          </a:p>
        </p:txBody>
      </p:sp>
      <p:sp>
        <p:nvSpPr>
          <p:cNvPr id="134" name="note"/>
          <p:cNvSpPr txBox="1"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Open source is used under its own licence; the licences are listed in the repository.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cost row"/>
          <p:cNvSpPr/>
          <p:nvPr/>
        </p:nvSpPr>
        <p:spPr>
          <a:xfrm>
            <a:off x="274320" y="1188720"/>
            <a:ext cx="5760720" cy="585216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cost item"/>
          <p:cNvSpPr txBox="1"/>
          <p:nvPr/>
        </p:nvSpPr>
        <p:spPr>
          <a:xfrm>
            <a:off x="365760" y="1225296"/>
            <a:ext cx="16916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73E8"/>
                </a:solidFill>
                <a:latin typeface="Google Sans Flex SemiBold"/>
              </a:rPr>
              <a:t>Cloud Run</a:t>
            </a:r>
          </a:p>
        </p:txBody>
      </p:sp>
      <p:sp>
        <p:nvSpPr>
          <p:cNvPr id="130" name="cost text"/>
          <p:cNvSpPr txBox="1"/>
          <p:nvPr/>
        </p:nvSpPr>
        <p:spPr>
          <a:xfrm>
            <a:off x="2103120" y="1225296"/>
            <a:ext cx="384048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One always-on instance (2 vCPU, 2 GiB) serves the web app and the API.</a:t>
            </a:r>
          </a:p>
        </p:txBody>
      </p:sp>
      <p:sp>
        <p:nvSpPr>
          <p:cNvPr id="131" name="cost row"/>
          <p:cNvSpPr/>
          <p:nvPr/>
        </p:nvSpPr>
        <p:spPr>
          <a:xfrm>
            <a:off x="274320" y="1847088"/>
            <a:ext cx="5760720" cy="585216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cost item"/>
          <p:cNvSpPr txBox="1"/>
          <p:nvPr/>
        </p:nvSpPr>
        <p:spPr>
          <a:xfrm>
            <a:off x="365760" y="1883664"/>
            <a:ext cx="16916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73E8"/>
                </a:solidFill>
                <a:latin typeface="Google Sans Flex SemiBold"/>
              </a:rPr>
              <a:t>Gemini on Vertex AI</a:t>
            </a:r>
          </a:p>
        </p:txBody>
      </p:sp>
      <p:sp>
        <p:nvSpPr>
          <p:cNvPr id="133" name="cost text"/>
          <p:cNvSpPr txBox="1"/>
          <p:nvPr/>
        </p:nvSpPr>
        <p:spPr>
          <a:xfrm>
            <a:off x="2103120" y="1883664"/>
            <a:ext cx="384048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A daily cap of 1,500 calls and a quota per visitor. Recorded answers replay without a call.</a:t>
            </a:r>
          </a:p>
        </p:txBody>
      </p:sp>
      <p:sp>
        <p:nvSpPr>
          <p:cNvPr id="134" name="cost row"/>
          <p:cNvSpPr/>
          <p:nvPr/>
        </p:nvSpPr>
        <p:spPr>
          <a:xfrm>
            <a:off x="274320" y="2505456"/>
            <a:ext cx="5760720" cy="585216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cost item"/>
          <p:cNvSpPr txBox="1"/>
          <p:nvPr/>
        </p:nvSpPr>
        <p:spPr>
          <a:xfrm>
            <a:off x="365760" y="2542032"/>
            <a:ext cx="16916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73E8"/>
                </a:solidFill>
                <a:latin typeface="Google Sans Flex SemiBold"/>
              </a:rPr>
              <a:t>Firebase Authentication</a:t>
            </a:r>
          </a:p>
        </p:txBody>
      </p:sp>
      <p:sp>
        <p:nvSpPr>
          <p:cNvPr id="136" name="cost text"/>
          <p:cNvSpPr txBox="1"/>
          <p:nvPr/>
        </p:nvSpPr>
        <p:spPr>
          <a:xfrm>
            <a:off x="2103120" y="2542032"/>
            <a:ext cx="384048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Free tier covers sign-in with Google, email and guest.</a:t>
            </a:r>
          </a:p>
        </p:txBody>
      </p:sp>
      <p:sp>
        <p:nvSpPr>
          <p:cNvPr id="137" name="cost row"/>
          <p:cNvSpPr/>
          <p:nvPr/>
        </p:nvSpPr>
        <p:spPr>
          <a:xfrm>
            <a:off x="274320" y="3163824"/>
            <a:ext cx="5760720" cy="585216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cost item"/>
          <p:cNvSpPr txBox="1"/>
          <p:nvPr/>
        </p:nvSpPr>
        <p:spPr>
          <a:xfrm>
            <a:off x="365760" y="3200400"/>
            <a:ext cx="16916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73E8"/>
                </a:solidFill>
                <a:latin typeface="Google Sans Flex SemiBold"/>
              </a:rPr>
              <a:t>Cloud Build, Artifact Registry</a:t>
            </a:r>
          </a:p>
        </p:txBody>
      </p:sp>
      <p:sp>
        <p:nvSpPr>
          <p:cNvPr id="139" name="cost text"/>
          <p:cNvSpPr txBox="1"/>
          <p:nvPr/>
        </p:nvSpPr>
        <p:spPr>
          <a:xfrm>
            <a:off x="2103120" y="3200400"/>
            <a:ext cx="384048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A build per deploy.</a:t>
            </a:r>
          </a:p>
        </p:txBody>
      </p:sp>
      <p:sp>
        <p:nvSpPr>
          <p:cNvPr id="140" name="cost row"/>
          <p:cNvSpPr/>
          <p:nvPr/>
        </p:nvSpPr>
        <p:spPr>
          <a:xfrm>
            <a:off x="274320" y="3822191"/>
            <a:ext cx="5760720" cy="585216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cost item"/>
          <p:cNvSpPr txBox="1"/>
          <p:nvPr/>
        </p:nvSpPr>
        <p:spPr>
          <a:xfrm>
            <a:off x="365760" y="3858768"/>
            <a:ext cx="16916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73E8"/>
                </a:solidFill>
                <a:latin typeface="Google Sans Flex SemiBold"/>
              </a:rPr>
              <a:t>Data</a:t>
            </a:r>
          </a:p>
        </p:txBody>
      </p:sp>
      <p:sp>
        <p:nvSpPr>
          <p:cNvPr id="142" name="cost text"/>
          <p:cNvSpPr txBox="1"/>
          <p:nvPr/>
        </p:nvSpPr>
        <p:spPr>
          <a:xfrm>
            <a:off x="2103120" y="3858768"/>
            <a:ext cx="384048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Files and DuckDB inside the container. No managed database yet.</a:t>
            </a:r>
          </a:p>
        </p:txBody>
      </p:sp>
      <p:sp>
        <p:nvSpPr>
          <p:cNvPr id="143" name="budget card"/>
          <p:cNvSpPr/>
          <p:nvPr/>
        </p:nvSpPr>
        <p:spPr>
          <a:xfrm>
            <a:off x="6263640" y="118872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budget text"/>
          <p:cNvSpPr txBox="1"/>
          <p:nvPr/>
        </p:nvSpPr>
        <p:spPr>
          <a:xfrm>
            <a:off x="6373368" y="1280160"/>
            <a:ext cx="2423160" cy="3017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A73E8"/>
                </a:solidFill>
                <a:latin typeface="Google Sans Flex SemiBold"/>
              </a:rPr>
              <a:t>Kept small on purpose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The build is planned to stay under $100 of the $300 credit.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A73E8"/>
                </a:solidFill>
                <a:latin typeface="Google Sans Flex SemiBold"/>
              </a:rPr>
              <a:t>Caps that keep it there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A daily limit on Gemini calls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A quota per visitor, tighter for guests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Recorded answers replay for free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To grow: one lake per plant in Cloud SQL or Cloud Storage, more instances under load, and a model budget per customer.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Floor in 2D" descr="floor_pl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07" y="1097280"/>
            <a:ext cx="3568585" cy="233172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caption"/>
          <p:cNvSpPr txBox="1"/>
          <p:nvPr/>
        </p:nvSpPr>
        <p:spPr>
          <a:xfrm>
            <a:off x="274320" y="3456432"/>
            <a:ext cx="4251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The demo plant in 2D: data feeds, name tags and the status panel</a:t>
            </a:r>
          </a:p>
        </p:txBody>
      </p:sp>
      <p:pic>
        <p:nvPicPr>
          <p:cNvPr id="138" name="Floor in 3D" descr="floor_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011" y="1097280"/>
            <a:ext cx="4153376" cy="233172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caption"/>
          <p:cNvSpPr txBox="1"/>
          <p:nvPr/>
        </p:nvSpPr>
        <p:spPr>
          <a:xfrm>
            <a:off x="4617720" y="3456432"/>
            <a:ext cx="4251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The same plant in 3D, with its data flows</a:t>
            </a:r>
          </a:p>
        </p:txBody>
      </p:sp>
      <p:pic>
        <p:nvPicPr>
          <p:cNvPr id="140" name="screen" descr="layout_editor_cr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853" y="3767328"/>
            <a:ext cx="1585853" cy="96012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1" name="caption"/>
          <p:cNvSpPr txBox="1"/>
          <p:nvPr/>
        </p:nvSpPr>
        <p:spPr>
          <a:xfrm>
            <a:off x="274320" y="4736592"/>
            <a:ext cx="2788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The layout editor</a:t>
            </a:r>
          </a:p>
        </p:txBody>
      </p:sp>
      <p:pic>
        <p:nvPicPr>
          <p:cNvPr id="142" name="screen" descr="warden_ga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8231" y="3767328"/>
            <a:ext cx="1838393" cy="96012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3" name="caption"/>
          <p:cNvSpPr txBox="1"/>
          <p:nvPr/>
        </p:nvSpPr>
        <p:spPr>
          <a:xfrm>
            <a:off x="3172968" y="4736592"/>
            <a:ext cx="2788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The Warden gate</a:t>
            </a:r>
          </a:p>
        </p:txBody>
      </p:sp>
      <p:pic>
        <p:nvPicPr>
          <p:cNvPr id="144" name="screen" descr="sentine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769" y="3767328"/>
            <a:ext cx="1528612" cy="96012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5" name="caption"/>
          <p:cNvSpPr txBox="1"/>
          <p:nvPr/>
        </p:nvSpPr>
        <p:spPr>
          <a:xfrm>
            <a:off x="6071616" y="4736592"/>
            <a:ext cx="2788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Sentinel rules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stat card"/>
          <p:cNvSpPr/>
          <p:nvPr/>
        </p:nvSpPr>
        <p:spPr>
          <a:xfrm>
            <a:off x="274320" y="11887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stat number"/>
          <p:cNvSpPr txBox="1"/>
          <p:nvPr/>
        </p:nvSpPr>
        <p:spPr>
          <a:xfrm>
            <a:off x="274320" y="1261872"/>
            <a:ext cx="2011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A73E8"/>
                </a:solidFill>
                <a:latin typeface="Google Sans Flex SemiBold"/>
              </a:rPr>
              <a:t>465</a:t>
            </a:r>
          </a:p>
        </p:txBody>
      </p:sp>
      <p:sp>
        <p:nvSpPr>
          <p:cNvPr id="146" name="stat label"/>
          <p:cNvSpPr txBox="1"/>
          <p:nvPr/>
        </p:nvSpPr>
        <p:spPr>
          <a:xfrm>
            <a:off x="320040" y="1719072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real fault-injection incidents replayed through Warden</a:t>
            </a:r>
          </a:p>
        </p:txBody>
      </p:sp>
      <p:sp>
        <p:nvSpPr>
          <p:cNvPr id="147" name="stat card"/>
          <p:cNvSpPr/>
          <p:nvPr/>
        </p:nvSpPr>
        <p:spPr>
          <a:xfrm>
            <a:off x="2423160" y="11887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stat number"/>
          <p:cNvSpPr txBox="1"/>
          <p:nvPr/>
        </p:nvSpPr>
        <p:spPr>
          <a:xfrm>
            <a:off x="2423160" y="1261872"/>
            <a:ext cx="2011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A73E8"/>
                </a:solidFill>
                <a:latin typeface="Google Sans Flex SemiBold"/>
              </a:rPr>
              <a:t>75%</a:t>
            </a:r>
          </a:p>
        </p:txBody>
      </p:sp>
      <p:sp>
        <p:nvSpPr>
          <p:cNvPr id="149" name="stat label"/>
          <p:cNvSpPr txBox="1"/>
          <p:nvPr/>
        </p:nvSpPr>
        <p:spPr>
          <a:xfrm>
            <a:off x="2468879" y="1719072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of those diagnoses were right</a:t>
            </a:r>
          </a:p>
        </p:txBody>
      </p:sp>
      <p:sp>
        <p:nvSpPr>
          <p:cNvPr id="150" name="stat card"/>
          <p:cNvSpPr/>
          <p:nvPr/>
        </p:nvSpPr>
        <p:spPr>
          <a:xfrm>
            <a:off x="4572000" y="11887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stat number"/>
          <p:cNvSpPr txBox="1"/>
          <p:nvPr/>
        </p:nvSpPr>
        <p:spPr>
          <a:xfrm>
            <a:off x="4572000" y="1261872"/>
            <a:ext cx="2011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A73E8"/>
                </a:solidFill>
                <a:latin typeface="Google Sans Flex SemiBold"/>
              </a:rPr>
              <a:t>~18 s</a:t>
            </a:r>
          </a:p>
        </p:txBody>
      </p:sp>
      <p:sp>
        <p:nvSpPr>
          <p:cNvPr id="152" name="stat label"/>
          <p:cNvSpPr txBox="1"/>
          <p:nvPr/>
        </p:nvSpPr>
        <p:spPr>
          <a:xfrm>
            <a:off x="4617720" y="1719072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failed station to a scored plan, measured locally</a:t>
            </a:r>
          </a:p>
        </p:txBody>
      </p:sp>
      <p:sp>
        <p:nvSpPr>
          <p:cNvPr id="153" name="stat card"/>
          <p:cNvSpPr/>
          <p:nvPr/>
        </p:nvSpPr>
        <p:spPr>
          <a:xfrm>
            <a:off x="6720840" y="118872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stat number"/>
          <p:cNvSpPr txBox="1"/>
          <p:nvPr/>
        </p:nvSpPr>
        <p:spPr>
          <a:xfrm>
            <a:off x="6720840" y="1261872"/>
            <a:ext cx="2148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88038"/>
                </a:solidFill>
                <a:latin typeface="Google Sans Flex SemiBold"/>
              </a:rPr>
              <a:t>0.2 s</a:t>
            </a:r>
          </a:p>
        </p:txBody>
      </p:sp>
      <p:sp>
        <p:nvSpPr>
          <p:cNvPr id="155" name="stat label"/>
          <p:cNvSpPr txBox="1"/>
          <p:nvPr/>
        </p:nvSpPr>
        <p:spPr>
          <a:xfrm>
            <a:off x="6766559" y="1719072"/>
            <a:ext cx="2057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a read-only MCP tool call, measured locally</a:t>
            </a:r>
          </a:p>
        </p:txBody>
      </p:sp>
      <p:sp>
        <p:nvSpPr>
          <p:cNvPr id="156" name="warden result card"/>
          <p:cNvSpPr/>
          <p:nvPr/>
        </p:nvSpPr>
        <p:spPr>
          <a:xfrm>
            <a:off x="274320" y="228600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warden result text"/>
          <p:cNvSpPr txBox="1"/>
          <p:nvPr/>
        </p:nvSpPr>
        <p:spPr>
          <a:xfrm>
            <a:off x="384048" y="2359152"/>
            <a:ext cx="402336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Warden with the default lines (40 and 80)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188038"/>
                </a:solidFill>
                <a:latin typeface="Google Sans Flex SemiBold"/>
              </a:rPr>
              <a:t>149 </a:t>
            </a:r>
            <a:r>
              <a:rPr sz="1150" b="0">
                <a:solidFill>
                  <a:srgbClr val="202124"/>
                </a:solidFill>
                <a:latin typeface="Google Sans Flex"/>
              </a:rPr>
              <a:t>would run alone: 120 right, 29 wrong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B06000"/>
                </a:solidFill>
                <a:latin typeface="Google Sans Flex SemiBold"/>
              </a:rPr>
              <a:t>316 </a:t>
            </a:r>
            <a:r>
              <a:rPr sz="1150" b="0">
                <a:solidFill>
                  <a:srgbClr val="202124"/>
                </a:solidFill>
                <a:latin typeface="Google Sans Flex"/>
              </a:rPr>
              <a:t>would wait for a person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The incident set is software faults (RCAEval). There is no history from a real plant yet.</a:t>
            </a:r>
          </a:p>
        </p:txBody>
      </p:sp>
      <p:sp>
        <p:nvSpPr>
          <p:cNvPr id="158" name="measure banner"/>
          <p:cNvSpPr/>
          <p:nvPr/>
        </p:nvSpPr>
        <p:spPr>
          <a:xfrm>
            <a:off x="274320" y="4224528"/>
            <a:ext cx="8595360" cy="621792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measure text"/>
          <p:cNvSpPr txBox="1"/>
          <p:nvPr/>
        </p:nvSpPr>
        <p:spPr>
          <a:xfrm>
            <a:off x="411480" y="4242816"/>
            <a:ext cx="832104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73E8"/>
                </a:solidFill>
                <a:latin typeface="Google Sans Flex SemiBold"/>
              </a:rPr>
              <a:t>Figures come from the running prototype on one computer. Gemini's speed varies with load, so the app shows a notice when Gemini is busy and the plain rules answer instead.</a:t>
            </a:r>
          </a:p>
        </p:txBody>
      </p:sp>
      <p:sp>
        <p:nvSpPr>
          <p:cNvPr id="160" name="checks card"/>
          <p:cNvSpPr/>
          <p:nvPr/>
        </p:nvSpPr>
        <p:spPr>
          <a:xfrm>
            <a:off x="4617720" y="2286000"/>
            <a:ext cx="4251960" cy="18288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checks text"/>
          <p:cNvSpPr txBox="1"/>
          <p:nvPr/>
        </p:nvSpPr>
        <p:spPr>
          <a:xfrm>
            <a:off x="4727448" y="2359152"/>
            <a:ext cx="406908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Checks that pass today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12 automated suites: policy, agents, Sentinel, probes, connectors, vault, MCP.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Real PostgreSQL and MQTT connected, loading only what is new.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A remote MCP server: a read-only tool runs, an acting tool is denied.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Not yet tested live: Kafka, Oracle, SQL Server, MySQL.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future row"/>
          <p:cNvSpPr/>
          <p:nvPr/>
        </p:nvSpPr>
        <p:spPr>
          <a:xfrm>
            <a:off x="274320" y="1188720"/>
            <a:ext cx="8595360" cy="65836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uture item"/>
          <p:cNvSpPr txBox="1"/>
          <p:nvPr/>
        </p:nvSpPr>
        <p:spPr>
          <a:xfrm>
            <a:off x="384048" y="1225296"/>
            <a:ext cx="237744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Tune Gemma for Sentinel</a:t>
            </a:r>
          </a:p>
        </p:txBody>
      </p:sp>
      <p:sp>
        <p:nvSpPr>
          <p:cNvPr id="154" name="future text"/>
          <p:cNvSpPr txBox="1"/>
          <p:nvPr/>
        </p:nvSpPr>
        <p:spPr>
          <a:xfrm>
            <a:off x="2788920" y="1225296"/>
            <a:ext cx="598932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Gemini sorts short texts into labels today. We plan to fine-tune Gemma for that one classification job, with plain rules still judging the result.</a:t>
            </a:r>
          </a:p>
        </p:txBody>
      </p:sp>
      <p:sp>
        <p:nvSpPr>
          <p:cNvPr id="155" name="future row"/>
          <p:cNvSpPr/>
          <p:nvPr/>
        </p:nvSpPr>
        <p:spPr>
          <a:xfrm>
            <a:off x="274320" y="1920240"/>
            <a:ext cx="8595360" cy="65836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uture item"/>
          <p:cNvSpPr txBox="1"/>
          <p:nvPr/>
        </p:nvSpPr>
        <p:spPr>
          <a:xfrm>
            <a:off x="384048" y="1956816"/>
            <a:ext cx="237744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Reach private plant networks</a:t>
            </a:r>
          </a:p>
        </p:txBody>
      </p:sp>
      <p:sp>
        <p:nvSpPr>
          <p:cNvPr id="157" name="future text"/>
          <p:cNvSpPr txBox="1"/>
          <p:nvPr/>
        </p:nvSpPr>
        <p:spPr>
          <a:xfrm>
            <a:off x="2788920" y="1956816"/>
            <a:ext cx="598932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Probes or a tunnel so a cloud copy can read systems inside a factory network.</a:t>
            </a:r>
          </a:p>
        </p:txBody>
      </p:sp>
      <p:sp>
        <p:nvSpPr>
          <p:cNvPr id="158" name="future row"/>
          <p:cNvSpPr/>
          <p:nvPr/>
        </p:nvSpPr>
        <p:spPr>
          <a:xfrm>
            <a:off x="274320" y="2651760"/>
            <a:ext cx="8595360" cy="65836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uture item"/>
          <p:cNvSpPr txBox="1"/>
          <p:nvPr/>
        </p:nvSpPr>
        <p:spPr>
          <a:xfrm>
            <a:off x="384048" y="2688336"/>
            <a:ext cx="237744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A pilot with a real plant</a:t>
            </a:r>
          </a:p>
        </p:txBody>
      </p:sp>
      <p:sp>
        <p:nvSpPr>
          <p:cNvPr id="160" name="future text"/>
          <p:cNvSpPr txBox="1"/>
          <p:nvPr/>
        </p:nvSpPr>
        <p:spPr>
          <a:xfrm>
            <a:off x="2788920" y="2688336"/>
            <a:ext cx="598932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Replace the replayed lab log and software incidents with a customer's own history.</a:t>
            </a:r>
          </a:p>
        </p:txBody>
      </p:sp>
      <p:sp>
        <p:nvSpPr>
          <p:cNvPr id="161" name="future row"/>
          <p:cNvSpPr/>
          <p:nvPr/>
        </p:nvSpPr>
        <p:spPr>
          <a:xfrm>
            <a:off x="274320" y="3383280"/>
            <a:ext cx="8595360" cy="65836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uture item"/>
          <p:cNvSpPr txBox="1"/>
          <p:nvPr/>
        </p:nvSpPr>
        <p:spPr>
          <a:xfrm>
            <a:off x="384048" y="3419856"/>
            <a:ext cx="237744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Write actions behind Warden</a:t>
            </a:r>
          </a:p>
        </p:txBody>
      </p:sp>
      <p:sp>
        <p:nvSpPr>
          <p:cNvPr id="163" name="future text"/>
          <p:cNvSpPr txBox="1"/>
          <p:nvPr/>
        </p:nvSpPr>
        <p:spPr>
          <a:xfrm>
            <a:off x="2788920" y="3419856"/>
            <a:ext cx="598932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Let remote MCP tools act, only through the gate and with a person's approval.</a:t>
            </a:r>
          </a:p>
        </p:txBody>
      </p:sp>
      <p:sp>
        <p:nvSpPr>
          <p:cNvPr id="164" name="future row"/>
          <p:cNvSpPr/>
          <p:nvPr/>
        </p:nvSpPr>
        <p:spPr>
          <a:xfrm>
            <a:off x="274320" y="4114800"/>
            <a:ext cx="8595360" cy="65836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uture item"/>
          <p:cNvSpPr txBox="1"/>
          <p:nvPr/>
        </p:nvSpPr>
        <p:spPr>
          <a:xfrm>
            <a:off x="384048" y="4151376"/>
            <a:ext cx="237744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More live checks</a:t>
            </a:r>
          </a:p>
        </p:txBody>
      </p:sp>
      <p:sp>
        <p:nvSpPr>
          <p:cNvPr id="166" name="future text"/>
          <p:cNvSpPr txBox="1"/>
          <p:nvPr/>
        </p:nvSpPr>
        <p:spPr>
          <a:xfrm>
            <a:off x="2788920" y="4151376"/>
            <a:ext cx="598932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Test Kafka, Oracle, SQL Server and MySQL against live servers. Add roles for approvers and many plants per owner.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Repository: https://github.com/shreyash-sharma/tolerance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Minutes): to be added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Link: https://tolerance-749288317336.asia-southeast1.run.app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w label"/>
          <p:cNvSpPr txBox="1"/>
          <p:nvPr/>
        </p:nvSpPr>
        <p:spPr>
          <a:xfrm>
            <a:off x="320040" y="246888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F6368"/>
                </a:solidFill>
                <a:latin typeface="Google Sans Flex SemiBold"/>
              </a:rPr>
              <a:t>How to try it</a:t>
            </a:r>
          </a:p>
        </p:txBody>
      </p:sp>
      <p:sp>
        <p:nvSpPr>
          <p:cNvPr id="161" name="try step"/>
          <p:cNvSpPr/>
          <p:nvPr/>
        </p:nvSpPr>
        <p:spPr>
          <a:xfrm>
            <a:off x="320040" y="27889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step number"/>
          <p:cNvSpPr txBox="1"/>
          <p:nvPr/>
        </p:nvSpPr>
        <p:spPr>
          <a:xfrm>
            <a:off x="411479" y="2834640"/>
            <a:ext cx="548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73E8"/>
                </a:solidFill>
                <a:latin typeface="Google Sans Flex SemiBold"/>
              </a:rPr>
              <a:t>1</a:t>
            </a:r>
          </a:p>
        </p:txBody>
      </p:sp>
      <p:sp>
        <p:nvSpPr>
          <p:cNvPr id="163" name="step text"/>
          <p:cNvSpPr txBox="1"/>
          <p:nvPr/>
        </p:nvSpPr>
        <p:spPr>
          <a:xfrm>
            <a:off x="411479" y="3337560"/>
            <a:ext cx="256032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Open the final product link.</a:t>
            </a:r>
          </a:p>
        </p:txBody>
      </p:sp>
      <p:sp>
        <p:nvSpPr>
          <p:cNvPr id="164" name="try step"/>
          <p:cNvSpPr/>
          <p:nvPr/>
        </p:nvSpPr>
        <p:spPr>
          <a:xfrm>
            <a:off x="3191256" y="27889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step number"/>
          <p:cNvSpPr txBox="1"/>
          <p:nvPr/>
        </p:nvSpPr>
        <p:spPr>
          <a:xfrm>
            <a:off x="3282696" y="2834640"/>
            <a:ext cx="548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73E8"/>
                </a:solidFill>
                <a:latin typeface="Google Sans Flex SemiBold"/>
              </a:rPr>
              <a:t>2</a:t>
            </a:r>
          </a:p>
        </p:txBody>
      </p:sp>
      <p:sp>
        <p:nvSpPr>
          <p:cNvPr id="166" name="step text"/>
          <p:cNvSpPr txBox="1"/>
          <p:nvPr/>
        </p:nvSpPr>
        <p:spPr>
          <a:xfrm>
            <a:off x="3282696" y="3337560"/>
            <a:ext cx="256032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Choose Register, Sign in, or Try it as a guest. A guest gets a private plant with usage caps.</a:t>
            </a:r>
          </a:p>
        </p:txBody>
      </p:sp>
      <p:sp>
        <p:nvSpPr>
          <p:cNvPr id="167" name="try step"/>
          <p:cNvSpPr/>
          <p:nvPr/>
        </p:nvSpPr>
        <p:spPr>
          <a:xfrm>
            <a:off x="6062472" y="27889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step number"/>
          <p:cNvSpPr txBox="1"/>
          <p:nvPr/>
        </p:nvSpPr>
        <p:spPr>
          <a:xfrm>
            <a:off x="6153912" y="2834640"/>
            <a:ext cx="548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73E8"/>
                </a:solidFill>
                <a:latin typeface="Google Sans Flex SemiBold"/>
              </a:rPr>
              <a:t>3</a:t>
            </a:r>
          </a:p>
        </p:txBody>
      </p:sp>
      <p:sp>
        <p:nvSpPr>
          <p:cNvPr id="169" name="step text"/>
          <p:cNvSpPr txBox="1"/>
          <p:nvPr/>
        </p:nvSpPr>
        <p:spPr>
          <a:xfrm>
            <a:off x="6153912" y="3337560"/>
            <a:ext cx="256032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Give a plant name and drop documents, or load the made-up plant that has MES, MongoDB, ERP and IoT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Appendix: the journey, from documents to a decision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52" name="Journey diagram" descr="02-demo-journey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10968"/>
            <a:ext cx="5669280" cy="2407263"/>
          </a:xfrm>
          <a:prstGeom prst="rect">
            <a:avLst/>
          </a:prstGeom>
        </p:spPr>
      </p:pic>
      <p:sp>
        <p:nvSpPr>
          <p:cNvPr id="153" name="text"/>
          <p:cNvSpPr txBox="1"/>
          <p:nvPr/>
        </p:nvSpPr>
        <p:spPr>
          <a:xfrm>
            <a:off x="6126480" y="1188720"/>
            <a:ext cx="2743200" cy="3566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Six steps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You provide the documents and name the systems that hold the data.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The agents read, connect and compile. You confirm what was understood.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The plant is built from the checked facts, in 2D and 3D.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When a fault is found, the agents gather evidence. The gate decides: it runs alone, or it asks you.</a:t>
            </a:r>
          </a:p>
        </p:txBody>
      </p:sp>
      <p:sp>
        <p:nvSpPr>
          <p:cNvPr id="154" name="text"/>
          <p:cNvSpPr txBox="1"/>
          <p:nvPr/>
        </p:nvSpPr>
        <p:spPr>
          <a:xfrm>
            <a:off x="274320" y="3840480"/>
            <a:ext cx="56692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Boxes in grey are what you provide, in blue what the agents do, in red a decision.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Appendix: the safety gate, limits first and then the score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52" name="Safety gate diagram" descr="03-safety-gat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12635"/>
            <a:ext cx="5120640" cy="3426889"/>
          </a:xfrm>
          <a:prstGeom prst="rect">
            <a:avLst/>
          </a:prstGeom>
        </p:spPr>
      </p:pic>
      <p:sp>
        <p:nvSpPr>
          <p:cNvPr id="153" name="text"/>
          <p:cNvSpPr txBox="1"/>
          <p:nvPr/>
        </p:nvSpPr>
        <p:spPr>
          <a:xfrm>
            <a:off x="5577840" y="1188720"/>
            <a:ext cx="3291840" cy="3566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Why this order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A hard limit from your documents comes first. A score never overrides it.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Warden then scores the action from 0 to 100 on six factors: can it be undone, how much it touches, distance from the limits, strength of the evidence, what people approved before, and the state of the plant.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You set the floor and the limit. Below the floor it is refused. In the middle you approve. At or above the limit it runs by itself.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You see what your lines would have done on 465 recorded incidents before you trust them.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Appendix: the onboarding team, four agents that learn your plant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agent card"/>
          <p:cNvSpPr/>
          <p:nvPr/>
        </p:nvSpPr>
        <p:spPr>
          <a:xfrm>
            <a:off x="274320" y="1097280"/>
            <a:ext cx="4251960" cy="224028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agent name"/>
          <p:cNvSpPr txBox="1"/>
          <p:nvPr/>
        </p:nvSpPr>
        <p:spPr>
          <a:xfrm>
            <a:off x="365760" y="114300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Google Sans Flex SemiBold"/>
              </a:rPr>
              <a:t>Guide</a:t>
            </a:r>
          </a:p>
        </p:txBody>
      </p:sp>
      <p:sp>
        <p:nvSpPr>
          <p:cNvPr id="154" name="agent mode"/>
          <p:cNvSpPr txBox="1"/>
          <p:nvPr/>
        </p:nvSpPr>
        <p:spPr>
          <a:xfrm>
            <a:off x="2834640" y="1170432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Model and rules · Gemini</a:t>
            </a:r>
          </a:p>
        </p:txBody>
      </p:sp>
      <p:sp>
        <p:nvSpPr>
          <p:cNvPr id="155" name="agent text"/>
          <p:cNvSpPr txBox="1"/>
          <p:nvPr/>
        </p:nvSpPr>
        <p:spPr>
          <a:xfrm>
            <a:off x="365760" y="1463040"/>
            <a:ext cx="406908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A73E8"/>
                </a:solidFill>
                <a:latin typeface="Google Sans Flex SemiBold"/>
              </a:rPr>
              <a:t>Use case: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A plant's documents disagree and have gaps. Only the owner can settle them.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B06000"/>
                </a:solidFill>
                <a:latin typeface="Google Sans Flex SemiBold"/>
              </a:rPr>
              <a:t>Solution: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Runs the Document Reader, Connector Scout and Plant Modeler, then asks the owner one question at a time. Gemini writes the words and reads free-text answers. Code checks each answer before it changes anything.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88038"/>
                </a:solidFill>
                <a:latin typeface="Google Sans Flex SemiBold"/>
              </a:rPr>
              <a:t>Outcomes: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Settled conflicts · Confirmed limits · What the plant makes · A confirmed overview · A drawn layout · A tour of the app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C5221F"/>
                </a:solidFill>
                <a:latin typeface="Google Sans Flex SemiBold"/>
              </a:rPr>
              <a:t>Must never: </a:t>
            </a:r>
            <a:r>
              <a:rPr sz="900" b="0">
                <a:solidFill>
                  <a:srgbClr val="5F6368"/>
                </a:solidFill>
                <a:latin typeface="Google Sans Flex"/>
              </a:rPr>
              <a:t>Apply an answer that does not match an open question; Write to the plant; Obey instructions found inside documents</a:t>
            </a:r>
          </a:p>
        </p:txBody>
      </p:sp>
      <p:sp>
        <p:nvSpPr>
          <p:cNvPr id="156" name="agent card"/>
          <p:cNvSpPr/>
          <p:nvPr/>
        </p:nvSpPr>
        <p:spPr>
          <a:xfrm>
            <a:off x="4617720" y="1097280"/>
            <a:ext cx="4251960" cy="224028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agent name"/>
          <p:cNvSpPr txBox="1"/>
          <p:nvPr/>
        </p:nvSpPr>
        <p:spPr>
          <a:xfrm>
            <a:off x="4709159" y="114300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Google Sans Flex SemiBold"/>
              </a:rPr>
              <a:t>Document Reader</a:t>
            </a:r>
          </a:p>
        </p:txBody>
      </p:sp>
      <p:sp>
        <p:nvSpPr>
          <p:cNvPr id="158" name="agent mode"/>
          <p:cNvSpPr txBox="1"/>
          <p:nvPr/>
        </p:nvSpPr>
        <p:spPr>
          <a:xfrm>
            <a:off x="7178040" y="1170432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Model and rules · Gemini</a:t>
            </a:r>
          </a:p>
        </p:txBody>
      </p:sp>
      <p:sp>
        <p:nvSpPr>
          <p:cNvPr id="159" name="agent text"/>
          <p:cNvSpPr txBox="1"/>
          <p:nvPr/>
        </p:nvSpPr>
        <p:spPr>
          <a:xfrm>
            <a:off x="4709159" y="1463040"/>
            <a:ext cx="406908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A73E8"/>
                </a:solidFill>
                <a:latin typeface="Google Sans Flex SemiBold"/>
              </a:rPr>
              <a:t>Use case: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Manuals, work instructions and safety sheets hold the limits and the structure of the plant.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B06000"/>
                </a:solidFill>
                <a:latin typeface="Google Sans Flex SemiBold"/>
              </a:rPr>
              <a:t>Solution: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Gemini extracts claims; code checks every quote against the page; instructions hidden in documents are removed first.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88038"/>
                </a:solidFill>
                <a:latin typeface="Google Sans Flex SemiBold"/>
              </a:rPr>
              <a:t>Outcomes: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Claims with quotes · Conflicts between documents · Missing facts · Hidden instructions flagged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C5221F"/>
                </a:solidFill>
                <a:latin typeface="Google Sans Flex SemiBold"/>
              </a:rPr>
              <a:t>Must never: </a:t>
            </a:r>
            <a:r>
              <a:rPr sz="900" b="0">
                <a:solidFill>
                  <a:srgbClr val="5F6368"/>
                </a:solidFill>
                <a:latin typeface="Google Sans Flex"/>
              </a:rPr>
              <a:t>Obey instructions found inside documents; Write to the plant</a:t>
            </a:r>
          </a:p>
        </p:txBody>
      </p:sp>
      <p:sp>
        <p:nvSpPr>
          <p:cNvPr id="160" name="agent card"/>
          <p:cNvSpPr/>
          <p:nvPr/>
        </p:nvSpPr>
        <p:spPr>
          <a:xfrm>
            <a:off x="274320" y="3410712"/>
            <a:ext cx="4251960" cy="155448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agent name"/>
          <p:cNvSpPr txBox="1"/>
          <p:nvPr/>
        </p:nvSpPr>
        <p:spPr>
          <a:xfrm>
            <a:off x="365760" y="3456432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Google Sans Flex SemiBold"/>
              </a:rPr>
              <a:t>Connector Scout</a:t>
            </a:r>
          </a:p>
        </p:txBody>
      </p:sp>
      <p:sp>
        <p:nvSpPr>
          <p:cNvPr id="162" name="agent mode"/>
          <p:cNvSpPr txBox="1"/>
          <p:nvPr/>
        </p:nvSpPr>
        <p:spPr>
          <a:xfrm>
            <a:off x="2834640" y="3483864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Model-driven · Gemini</a:t>
            </a:r>
          </a:p>
        </p:txBody>
      </p:sp>
      <p:sp>
        <p:nvSpPr>
          <p:cNvPr id="163" name="agent text"/>
          <p:cNvSpPr txBox="1"/>
          <p:nvPr/>
        </p:nvSpPr>
        <p:spPr>
          <a:xfrm>
            <a:off x="365760" y="3776472"/>
            <a:ext cx="406908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A73E8"/>
                </a:solidFill>
                <a:latin typeface="Google Sans Flex SemiBold"/>
              </a:rPr>
              <a:t>Use case: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A plant has ERP, MES, PLC and file data. Someone must say which is which.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B06000"/>
                </a:solidFill>
                <a:latin typeface="Google Sans Flex SemiBold"/>
              </a:rPr>
              <a:t>Solution: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MCP servers list sources and tables. Gemini names the role of each table from its columns.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88038"/>
                </a:solidFill>
                <a:latin typeface="Google Sans Flex SemiBold"/>
              </a:rPr>
              <a:t>Outcomes: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Role of each table · Which sources are live · What data is missing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C5221F"/>
                </a:solidFill>
                <a:latin typeface="Google Sans Flex SemiBold"/>
              </a:rPr>
              <a:t>Must never: </a:t>
            </a:r>
            <a:r>
              <a:rPr sz="900" b="0">
                <a:solidFill>
                  <a:srgbClr val="5F6368"/>
                </a:solidFill>
                <a:latin typeface="Google Sans Flex"/>
              </a:rPr>
              <a:t>Write to the plant; Read rows outside SELECT</a:t>
            </a:r>
          </a:p>
        </p:txBody>
      </p:sp>
      <p:sp>
        <p:nvSpPr>
          <p:cNvPr id="164" name="agent card"/>
          <p:cNvSpPr/>
          <p:nvPr/>
        </p:nvSpPr>
        <p:spPr>
          <a:xfrm>
            <a:off x="4617720" y="3410712"/>
            <a:ext cx="4251960" cy="155448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agent name"/>
          <p:cNvSpPr txBox="1"/>
          <p:nvPr/>
        </p:nvSpPr>
        <p:spPr>
          <a:xfrm>
            <a:off x="4709159" y="3456432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Google Sans Flex SemiBold"/>
              </a:rPr>
              <a:t>Plant Modeler</a:t>
            </a:r>
          </a:p>
        </p:txBody>
      </p:sp>
      <p:sp>
        <p:nvSpPr>
          <p:cNvPr id="166" name="agent mode"/>
          <p:cNvSpPr txBox="1"/>
          <p:nvPr/>
        </p:nvSpPr>
        <p:spPr>
          <a:xfrm>
            <a:off x="7178040" y="3483864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Model and rules · Gemini</a:t>
            </a:r>
          </a:p>
        </p:txBody>
      </p:sp>
      <p:sp>
        <p:nvSpPr>
          <p:cNvPr id="167" name="agent text"/>
          <p:cNvSpPr txBox="1"/>
          <p:nvPr/>
        </p:nvSpPr>
        <p:spPr>
          <a:xfrm>
            <a:off x="4709159" y="3776472"/>
            <a:ext cx="406908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A73E8"/>
                </a:solidFill>
                <a:latin typeface="Google Sans Flex SemiBold"/>
              </a:rPr>
              <a:t>Use case: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The 3D model must come from facts a person has checked.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B06000"/>
                </a:solidFill>
                <a:latin typeface="Google Sans Flex SemiBold"/>
              </a:rPr>
              <a:t>Solution: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Stations from data, material flow from the documents, limits from the documents. Gemini writes the overview and each sentence cites its source.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88038"/>
                </a:solidFill>
                <a:latin typeface="Google Sans Flex SemiBold"/>
              </a:rPr>
              <a:t>Outcomes: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Written overview · 2D plan · Limits list · Confirmation gate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C5221F"/>
                </a:solidFill>
                <a:latin typeface="Google Sans Flex SemiBold"/>
              </a:rPr>
              <a:t>Must never: </a:t>
            </a:r>
            <a:r>
              <a:rPr sz="900" b="0">
                <a:solidFill>
                  <a:srgbClr val="5F6368"/>
                </a:solidFill>
                <a:latin typeface="Google Sans Flex"/>
              </a:rPr>
              <a:t>Build the 3D before a person confirms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Appendix: the operations team, four agents that keep it running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agent card"/>
          <p:cNvSpPr/>
          <p:nvPr/>
        </p:nvSpPr>
        <p:spPr>
          <a:xfrm>
            <a:off x="274320" y="1097280"/>
            <a:ext cx="4251960" cy="1874519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agent name"/>
          <p:cNvSpPr txBox="1"/>
          <p:nvPr/>
        </p:nvSpPr>
        <p:spPr>
          <a:xfrm>
            <a:off x="365760" y="114300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Google Sans Flex SemiBold"/>
              </a:rPr>
              <a:t>Diagnosis</a:t>
            </a:r>
          </a:p>
        </p:txBody>
      </p:sp>
      <p:sp>
        <p:nvSpPr>
          <p:cNvPr id="154" name="agent mode"/>
          <p:cNvSpPr txBox="1"/>
          <p:nvPr/>
        </p:nvSpPr>
        <p:spPr>
          <a:xfrm>
            <a:off x="2834640" y="1170432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Model-driven · Gemini</a:t>
            </a:r>
          </a:p>
        </p:txBody>
      </p:sp>
      <p:sp>
        <p:nvSpPr>
          <p:cNvPr id="155" name="agent text"/>
          <p:cNvSpPr txBox="1"/>
          <p:nvPr/>
        </p:nvSpPr>
        <p:spPr>
          <a:xfrm>
            <a:off x="365760" y="1463040"/>
            <a:ext cx="4069080" cy="1463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A73E8"/>
                </a:solidFill>
                <a:latin typeface="Google Sans Flex SemiBold"/>
              </a:rPr>
              <a:t>Use case: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A station stopped. Someone must say why, fast.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B06000"/>
                </a:solidFill>
                <a:latin typeface="Google Sans Flex SemiBold"/>
              </a:rPr>
              <a:t>Solution: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Gemini picks MCP tools, reads the results and submits a cause with evidence. Cedar allows each call.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88038"/>
                </a:solidFill>
                <a:latin typeface="Google Sans Flex SemiBold"/>
              </a:rPr>
              <a:t>Outcomes: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Cause · Evidence per claim · Tool trace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C5221F"/>
                </a:solidFill>
                <a:latin typeface="Google Sans Flex SemiBold"/>
              </a:rPr>
              <a:t>Must never: </a:t>
            </a:r>
            <a:r>
              <a:rPr sz="900" b="0">
                <a:solidFill>
                  <a:srgbClr val="5F6368"/>
                </a:solidFill>
                <a:latin typeface="Google Sans Flex"/>
              </a:rPr>
              <a:t>Write to the plant; Call a tool Cedar denies</a:t>
            </a:r>
          </a:p>
        </p:txBody>
      </p:sp>
      <p:sp>
        <p:nvSpPr>
          <p:cNvPr id="156" name="agent card"/>
          <p:cNvSpPr/>
          <p:nvPr/>
        </p:nvSpPr>
        <p:spPr>
          <a:xfrm>
            <a:off x="4617720" y="1097280"/>
            <a:ext cx="4251960" cy="1874519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agent name"/>
          <p:cNvSpPr txBox="1"/>
          <p:nvPr/>
        </p:nvSpPr>
        <p:spPr>
          <a:xfrm>
            <a:off x="4709159" y="114300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Google Sans Flex SemiBold"/>
              </a:rPr>
              <a:t>Verifier</a:t>
            </a:r>
          </a:p>
        </p:txBody>
      </p:sp>
      <p:sp>
        <p:nvSpPr>
          <p:cNvPr id="158" name="agent mode"/>
          <p:cNvSpPr txBox="1"/>
          <p:nvPr/>
        </p:nvSpPr>
        <p:spPr>
          <a:xfrm>
            <a:off x="7178040" y="1170432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Model and rules · Gemini</a:t>
            </a:r>
          </a:p>
        </p:txBody>
      </p:sp>
      <p:sp>
        <p:nvSpPr>
          <p:cNvPr id="159" name="agent text"/>
          <p:cNvSpPr txBox="1"/>
          <p:nvPr/>
        </p:nvSpPr>
        <p:spPr>
          <a:xfrm>
            <a:off x="4709159" y="1463040"/>
            <a:ext cx="4069080" cy="1463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A73E8"/>
                </a:solidFill>
                <a:latin typeface="Google Sans Flex SemiBold"/>
              </a:rPr>
              <a:t>Use case: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A model can sound sure and be wrong.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B06000"/>
                </a:solidFill>
                <a:latin typeface="Google Sans Flex SemiBold"/>
              </a:rPr>
              <a:t>Solution: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Rule checks recompute every cited number from the tool results. Gemini then reviews the argument. A hard check cannot be talked away.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88038"/>
                </a:solidFill>
                <a:latin typeface="Google Sans Flex SemiBold"/>
              </a:rPr>
              <a:t>Outcomes: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Supported or not · Issues list · Evidence score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C5221F"/>
                </a:solidFill>
                <a:latin typeface="Google Sans Flex SemiBold"/>
              </a:rPr>
              <a:t>Must never: </a:t>
            </a:r>
            <a:r>
              <a:rPr sz="900" b="0">
                <a:solidFill>
                  <a:srgbClr val="5F6368"/>
                </a:solidFill>
                <a:latin typeface="Google Sans Flex"/>
              </a:rPr>
              <a:t>Approve a claim whose numbers do not match</a:t>
            </a:r>
          </a:p>
        </p:txBody>
      </p:sp>
      <p:sp>
        <p:nvSpPr>
          <p:cNvPr id="160" name="agent card"/>
          <p:cNvSpPr/>
          <p:nvPr/>
        </p:nvSpPr>
        <p:spPr>
          <a:xfrm>
            <a:off x="274320" y="3044952"/>
            <a:ext cx="4251960" cy="1874519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agent name"/>
          <p:cNvSpPr txBox="1"/>
          <p:nvPr/>
        </p:nvSpPr>
        <p:spPr>
          <a:xfrm>
            <a:off x="365760" y="3090672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Google Sans Flex SemiBold"/>
              </a:rPr>
              <a:t>Remediation Planner</a:t>
            </a:r>
          </a:p>
        </p:txBody>
      </p:sp>
      <p:sp>
        <p:nvSpPr>
          <p:cNvPr id="162" name="agent mode"/>
          <p:cNvSpPr txBox="1"/>
          <p:nvPr/>
        </p:nvSpPr>
        <p:spPr>
          <a:xfrm>
            <a:off x="2834640" y="3118104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Model-driven · Gemini</a:t>
            </a:r>
          </a:p>
        </p:txBody>
      </p:sp>
      <p:sp>
        <p:nvSpPr>
          <p:cNvPr id="163" name="agent text"/>
          <p:cNvSpPr txBox="1"/>
          <p:nvPr/>
        </p:nvSpPr>
        <p:spPr>
          <a:xfrm>
            <a:off x="365760" y="3410712"/>
            <a:ext cx="4069080" cy="1463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A73E8"/>
                </a:solidFill>
                <a:latin typeface="Google Sans Flex SemiBold"/>
              </a:rPr>
              <a:t>Use case: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After a cause is known, someone must choose a fix that respects the plant's limits.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B06000"/>
                </a:solidFill>
                <a:latin typeface="Google Sans Flex SemiBold"/>
              </a:rPr>
              <a:t>Solution: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Gemini proposes actions from the diagnosis and the limits. Warden scores each. Nothing is applied here.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88038"/>
                </a:solidFill>
                <a:latin typeface="Google Sans Flex SemiBold"/>
              </a:rPr>
              <a:t>Outcomes: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Action list · Exact settings · Why this action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C5221F"/>
                </a:solidFill>
                <a:latin typeface="Google Sans Flex SemiBold"/>
              </a:rPr>
              <a:t>Must never: </a:t>
            </a:r>
            <a:r>
              <a:rPr sz="900" b="0">
                <a:solidFill>
                  <a:srgbClr val="5F6368"/>
                </a:solidFill>
                <a:latin typeface="Google Sans Flex"/>
              </a:rPr>
              <a:t>Write to the plant; Propose a setting above a hard limit as the first choice</a:t>
            </a:r>
          </a:p>
        </p:txBody>
      </p:sp>
      <p:sp>
        <p:nvSpPr>
          <p:cNvPr id="164" name="agent card"/>
          <p:cNvSpPr/>
          <p:nvPr/>
        </p:nvSpPr>
        <p:spPr>
          <a:xfrm>
            <a:off x="4617720" y="3044952"/>
            <a:ext cx="4251960" cy="1874519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agent name"/>
          <p:cNvSpPr txBox="1"/>
          <p:nvPr/>
        </p:nvSpPr>
        <p:spPr>
          <a:xfrm>
            <a:off x="4709159" y="3090672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Google Sans Flex SemiBold"/>
              </a:rPr>
              <a:t>Warden</a:t>
            </a:r>
          </a:p>
        </p:txBody>
      </p:sp>
      <p:sp>
        <p:nvSpPr>
          <p:cNvPr id="166" name="agent mode"/>
          <p:cNvSpPr txBox="1"/>
          <p:nvPr/>
        </p:nvSpPr>
        <p:spPr>
          <a:xfrm>
            <a:off x="7178040" y="3118104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Rule-driven · Gemini</a:t>
            </a:r>
          </a:p>
        </p:txBody>
      </p:sp>
      <p:sp>
        <p:nvSpPr>
          <p:cNvPr id="167" name="agent text"/>
          <p:cNvSpPr txBox="1"/>
          <p:nvPr/>
        </p:nvSpPr>
        <p:spPr>
          <a:xfrm>
            <a:off x="4709159" y="3410712"/>
            <a:ext cx="4069080" cy="1463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A73E8"/>
                </a:solidFill>
                <a:latin typeface="Google Sans Flex SemiBold"/>
              </a:rPr>
              <a:t>Use case: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Some fixes are small and some can stop a line. The user decides how far the system may go alone.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B06000"/>
                </a:solidFill>
                <a:latin typeface="Google Sans Flex SemiBold"/>
              </a:rPr>
              <a:t>Solution: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Six factors give a score from 0 to 100. The user sets a floor and a limit. Cedar enforces them at the Action Broker.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88038"/>
                </a:solidFill>
                <a:latin typeface="Google Sans Flex SemiBold"/>
              </a:rPr>
              <a:t>Outcomes: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Score with factors · Auto, approve or refuse · Backtest on past incidents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C5221F"/>
                </a:solidFill>
                <a:latin typeface="Google Sans Flex SemiBold"/>
              </a:rPr>
              <a:t>Must never: </a:t>
            </a:r>
            <a:r>
              <a:rPr sz="900" b="0">
                <a:solidFill>
                  <a:srgbClr val="5F6368"/>
                </a:solidFill>
                <a:latin typeface="Google Sans Flex"/>
              </a:rPr>
              <a:t>Let a high score override a hard limit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Appendix: plain rules, your playbooks, your channels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agent card"/>
          <p:cNvSpPr/>
          <p:nvPr/>
        </p:nvSpPr>
        <p:spPr>
          <a:xfrm>
            <a:off x="274320" y="1097280"/>
            <a:ext cx="4251960" cy="224028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agent name"/>
          <p:cNvSpPr txBox="1"/>
          <p:nvPr/>
        </p:nvSpPr>
        <p:spPr>
          <a:xfrm>
            <a:off x="365760" y="114300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Google Sans Flex SemiBold"/>
              </a:rPr>
              <a:t>Sentinel</a:t>
            </a:r>
          </a:p>
        </p:txBody>
      </p:sp>
      <p:sp>
        <p:nvSpPr>
          <p:cNvPr id="154" name="agent mode"/>
          <p:cNvSpPr txBox="1"/>
          <p:nvPr/>
        </p:nvSpPr>
        <p:spPr>
          <a:xfrm>
            <a:off x="2834640" y="1170432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Model and rules · Gemini</a:t>
            </a:r>
          </a:p>
        </p:txBody>
      </p:sp>
      <p:sp>
        <p:nvSpPr>
          <p:cNvPr id="155" name="agent text"/>
          <p:cNvSpPr txBox="1"/>
          <p:nvPr/>
        </p:nvSpPr>
        <p:spPr>
          <a:xfrm>
            <a:off x="365760" y="1463040"/>
            <a:ext cx="406908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A73E8"/>
                </a:solidFill>
                <a:latin typeface="Google Sans Flex SemiBold"/>
              </a:rPr>
              <a:t>Use case: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A plant's IT side fails quietly: a feed stops, a column changes, a service is slow. A model should not be the judge of that.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B06000"/>
                </a:solidFill>
                <a:latin typeface="Google Sans Flex SemiBold"/>
              </a:rPr>
              <a:t>Solution: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Plain rules check a field against a value on your data tables, a web address, a port, a service or a certificate. A schedule runs them, maintenance windows keep planned work quiet, and an impact map shows which stations lose data. A rule that fails or recovers tells your channels.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88038"/>
                </a:solidFill>
                <a:latin typeface="Google Sans Flex SemiBold"/>
              </a:rPr>
              <a:t>Outcomes: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Pass or fail for each rule · The stations that lose data · A message when a rule fails or recovers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C5221F"/>
                </a:solidFill>
                <a:latin typeface="Google Sans Flex SemiBold"/>
              </a:rPr>
              <a:t>Must never: </a:t>
            </a:r>
            <a:r>
              <a:rPr sz="900" b="0">
                <a:solidFill>
                  <a:srgbClr val="5F6368"/>
                </a:solidFill>
                <a:latin typeface="Google Sans Flex"/>
              </a:rPr>
              <a:t>Write to the plant; Let a model say pass or fail; Reach a private network address</a:t>
            </a:r>
          </a:p>
        </p:txBody>
      </p:sp>
      <p:sp>
        <p:nvSpPr>
          <p:cNvPr id="156" name="agent card"/>
          <p:cNvSpPr/>
          <p:nvPr/>
        </p:nvSpPr>
        <p:spPr>
          <a:xfrm>
            <a:off x="4617720" y="1097280"/>
            <a:ext cx="4251960" cy="224028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agent name"/>
          <p:cNvSpPr txBox="1"/>
          <p:nvPr/>
        </p:nvSpPr>
        <p:spPr>
          <a:xfrm>
            <a:off x="4709159" y="114300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Google Sans Flex SemiBold"/>
              </a:rPr>
              <a:t>Playbooks</a:t>
            </a:r>
          </a:p>
        </p:txBody>
      </p:sp>
      <p:sp>
        <p:nvSpPr>
          <p:cNvPr id="158" name="agent mode"/>
          <p:cNvSpPr txBox="1"/>
          <p:nvPr/>
        </p:nvSpPr>
        <p:spPr>
          <a:xfrm>
            <a:off x="7178040" y="1170432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Rule-driven</a:t>
            </a:r>
          </a:p>
        </p:txBody>
      </p:sp>
      <p:sp>
        <p:nvSpPr>
          <p:cNvPr id="159" name="agent text"/>
          <p:cNvSpPr txBox="1"/>
          <p:nvPr/>
        </p:nvSpPr>
        <p:spPr>
          <a:xfrm>
            <a:off x="4709159" y="1463040"/>
            <a:ext cx="406908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A73E8"/>
                </a:solidFill>
                <a:latin typeface="Google Sans Flex SemiBold"/>
              </a:rPr>
              <a:t>Use case: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Each plant reacts to a failure in its own way.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B06000"/>
                </a:solidFill>
                <a:latin typeface="Google Sans Flex SemiBold"/>
              </a:rPr>
              <a:t>Solution: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The owner draws a trigger, checks, a decision and actions on a canvas. Code walks it. Warden scores any action that changes the plant.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88038"/>
                </a:solidFill>
                <a:latin typeface="Google Sans Flex SemiBold"/>
              </a:rPr>
              <a:t>Outcomes: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A trace of every block · Actions scored by Warden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C5221F"/>
                </a:solidFill>
                <a:latin typeface="Google Sans Flex SemiBold"/>
              </a:rPr>
              <a:t>Must never: </a:t>
            </a:r>
            <a:r>
              <a:rPr sz="900" b="0">
                <a:solidFill>
                  <a:srgbClr val="5F6368"/>
                </a:solidFill>
                <a:latin typeface="Google Sans Flex"/>
              </a:rPr>
              <a:t>Skip Warden for an action that changes the plant</a:t>
            </a:r>
          </a:p>
        </p:txBody>
      </p:sp>
      <p:sp>
        <p:nvSpPr>
          <p:cNvPr id="160" name="agent card"/>
          <p:cNvSpPr/>
          <p:nvPr/>
        </p:nvSpPr>
        <p:spPr>
          <a:xfrm>
            <a:off x="274320" y="3410712"/>
            <a:ext cx="4251960" cy="150876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agent name"/>
          <p:cNvSpPr txBox="1"/>
          <p:nvPr/>
        </p:nvSpPr>
        <p:spPr>
          <a:xfrm>
            <a:off x="365760" y="3456432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Google Sans Flex SemiBold"/>
              </a:rPr>
              <a:t>Channels</a:t>
            </a:r>
          </a:p>
        </p:txBody>
      </p:sp>
      <p:sp>
        <p:nvSpPr>
          <p:cNvPr id="162" name="agent mode"/>
          <p:cNvSpPr txBox="1"/>
          <p:nvPr/>
        </p:nvSpPr>
        <p:spPr>
          <a:xfrm>
            <a:off x="2834640" y="3483864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Rule-driven</a:t>
            </a:r>
          </a:p>
        </p:txBody>
      </p:sp>
      <p:sp>
        <p:nvSpPr>
          <p:cNvPr id="163" name="agent text"/>
          <p:cNvSpPr txBox="1"/>
          <p:nvPr/>
        </p:nvSpPr>
        <p:spPr>
          <a:xfrm>
            <a:off x="365760" y="3776472"/>
            <a:ext cx="406908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A73E8"/>
                </a:solidFill>
                <a:latin typeface="Google Sans Flex SemiBold"/>
              </a:rPr>
              <a:t>Use case: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A person who is not in the app must still know when to approve.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B06000"/>
                </a:solidFill>
                <a:latin typeface="Google Sans Flex SemiBold"/>
              </a:rPr>
              <a:t>Solution: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Warden messages Slack, Teams, Discord, Telegram or a webhook. Addresses stay on the server. Private addresses are refused.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88038"/>
                </a:solidFill>
                <a:latin typeface="Google Sans Flex SemiBold"/>
              </a:rPr>
              <a:t>Outcomes: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Approval requests · Blocked actions · Failing rules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C5221F"/>
                </a:solidFill>
                <a:latin typeface="Google Sans Flex SemiBold"/>
              </a:rPr>
              <a:t>Must never: </a:t>
            </a:r>
            <a:r>
              <a:rPr sz="900" b="0">
                <a:solidFill>
                  <a:srgbClr val="5F6368"/>
                </a:solidFill>
                <a:latin typeface="Google Sans Flex"/>
              </a:rPr>
              <a:t>Send to a private network address; Show an address back in the app</a:t>
            </a:r>
          </a:p>
        </p:txBody>
      </p:sp>
      <p:sp>
        <p:nvSpPr>
          <p:cNvPr id="164" name="agent card"/>
          <p:cNvSpPr/>
          <p:nvPr/>
        </p:nvSpPr>
        <p:spPr>
          <a:xfrm>
            <a:off x="4617720" y="3410712"/>
            <a:ext cx="4251960" cy="150876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agent name"/>
          <p:cNvSpPr txBox="1"/>
          <p:nvPr/>
        </p:nvSpPr>
        <p:spPr>
          <a:xfrm>
            <a:off x="4709159" y="3456432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Google Sans Flex SemiBold"/>
              </a:rPr>
              <a:t>Layout editor</a:t>
            </a:r>
          </a:p>
        </p:txBody>
      </p:sp>
      <p:sp>
        <p:nvSpPr>
          <p:cNvPr id="166" name="agent mode"/>
          <p:cNvSpPr txBox="1"/>
          <p:nvPr/>
        </p:nvSpPr>
        <p:spPr>
          <a:xfrm>
            <a:off x="7178040" y="3483864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Rule-driven</a:t>
            </a:r>
          </a:p>
        </p:txBody>
      </p:sp>
      <p:sp>
        <p:nvSpPr>
          <p:cNvPr id="167" name="agent text"/>
          <p:cNvSpPr txBox="1"/>
          <p:nvPr/>
        </p:nvSpPr>
        <p:spPr>
          <a:xfrm>
            <a:off x="4709159" y="3776472"/>
            <a:ext cx="406908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A73E8"/>
                </a:solidFill>
                <a:latin typeface="Google Sans Flex SemiBold"/>
              </a:rPr>
              <a:t>Use case: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The drawn floor is never exactly right.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B06000"/>
                </a:solidFill>
                <a:latin typeface="Google Sans Flex SemiBold"/>
              </a:rPr>
              <a:t>Solution: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A node canvas next to the live floor: move, add and delete stations, rename them, and draw how parts flow. Every change is saved at once and the plan and 3D view follow.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88038"/>
                </a:solidFill>
                <a:latin typeface="Google Sans Flex SemiBold"/>
              </a:rPr>
              <a:t>Outcomes: </a:t>
            </a:r>
            <a:r>
              <a:rPr sz="900" b="0">
                <a:solidFill>
                  <a:srgbClr val="202124"/>
                </a:solidFill>
                <a:latin typeface="Google Sans Flex"/>
              </a:rPr>
              <a:t>Moved, added or deleted stations · Part flows between stations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C5221F"/>
                </a:solidFill>
                <a:latin typeface="Google Sans Flex SemiBold"/>
              </a:rPr>
              <a:t>Must never: </a:t>
            </a:r>
            <a:r>
              <a:rPr sz="900" b="0">
                <a:solidFill>
                  <a:srgbClr val="5F6368"/>
                </a:solidFill>
                <a:latin typeface="Google Sans Flex"/>
              </a:rPr>
              <a:t>Change data or limits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Benchmarking: finding the root cause on RCAEval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52" name="RCAEval chart"/>
          <p:cNvGraphicFramePr>
            <a:graphicFrameLocks noGrp="1"/>
          </p:cNvGraphicFramePr>
          <p:nvPr/>
        </p:nvGraphicFramePr>
        <p:xfrm>
          <a:off x="274320" y="1143000"/>
          <a:ext cx="5394960" cy="324612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53" name="benchmark notes"/>
          <p:cNvSpPr txBox="1"/>
          <p:nvPr/>
        </p:nvSpPr>
        <p:spPr>
          <a:xfrm>
            <a:off x="5852160" y="1143000"/>
            <a:ext cx="3017520" cy="3291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Google Sans Flex SemiBold"/>
              </a:rPr>
              <a:t>What this is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Real fault-injection cases on three microservice systems. We use RCAEval's own scorer and the authors' own BARO code, unmodified.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Our harness reproduces the paper on Online Boutique and Sock Shop. Train Ticket does not (0.652 against the paper's 0.79).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Gemini is not used for these numbers.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5221F"/>
                </a:solidFill>
                <a:latin typeface="Google Sans Flex SemiBold"/>
              </a:rPr>
              <a:t>Where we do not win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On RE3 (code-level faults) the result is mixed: with weights tuned out of sample we win 1 of 3 systems.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With out-of-sample fusion, Train Ticket on RE1 falls to 0.744, below the published 0.79.</a:t>
            </a:r>
          </a:p>
        </p:txBody>
      </p:sp>
      <p:sp>
        <p:nvSpPr>
          <p:cNvPr id="154" name="benchmark banner"/>
          <p:cNvSpPr/>
          <p:nvPr/>
        </p:nvSpPr>
        <p:spPr>
          <a:xfrm>
            <a:off x="274320" y="4480560"/>
            <a:ext cx="8595360" cy="41148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benchmark banner text"/>
          <p:cNvSpPr txBox="1"/>
          <p:nvPr/>
        </p:nvSpPr>
        <p:spPr>
          <a:xfrm>
            <a:off x="411480" y="4480560"/>
            <a:ext cx="83210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A73E8"/>
                </a:solidFill>
                <a:latin typeface="Google Sans Flex SemiBold"/>
              </a:rPr>
              <a:t>A benchmark of software incidents, not of a factory: it tests the ranking behind Diagnosis. Everything is reproducible from the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