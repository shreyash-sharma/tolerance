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72" r:id="rId28"/>
    <p:sldId id="259" r:id="rId9"/>
    <p:sldId id="288" r:id="rId44"/>
    <p:sldId id="260" r:id="rId10"/>
    <p:sldId id="261" r:id="rId11"/>
    <p:sldId id="273" r:id="rId29"/>
    <p:sldId id="263" r:id="rId13"/>
    <p:sldId id="264" r:id="rId14"/>
    <p:sldId id="265" r:id="rId15"/>
    <p:sldId id="267" r:id="rId17"/>
    <p:sldId id="283" r:id="rId39"/>
    <p:sldId id="274" r:id="rId30"/>
    <p:sldId id="268" r:id="rId18"/>
    <p:sldId id="269" r:id="rId19"/>
    <p:sldId id="271" r:id="rId21"/>
    <p:sldId id="275" r:id="rId31"/>
    <p:sldId id="276" r:id="rId32"/>
    <p:sldId id="284" r:id="rId40"/>
    <p:sldId id="289" r:id="rId45"/>
    <p:sldId id="277" r:id="rId33"/>
    <p:sldId id="290" r:id="rId46"/>
    <p:sldId id="278" r:id="rId34"/>
    <p:sldId id="279" r:id="rId35"/>
    <p:sldId id="280" r:id="rId36"/>
    <p:sldId id="281" r:id="rId37"/>
    <p:sldId id="266" r:id="rId16"/>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9" Type="http://schemas.openxmlformats.org/officeDocument/2006/relationships/slide" Target="slides/slide28.xml"/><Relationship Id="rId40" Type="http://schemas.openxmlformats.org/officeDocument/2006/relationships/slide" Target="slides/slide29.xml"/><Relationship Id="rId44" Type="http://schemas.openxmlformats.org/officeDocument/2006/relationships/slide" Target="slides/slide33.xml"/><Relationship Id="rId45" Type="http://schemas.openxmlformats.org/officeDocument/2006/relationships/slide" Target="slides/slide34.xml"/><Relationship Id="rId46" Type="http://schemas.openxmlformats.org/officeDocument/2006/relationships/slide" Target="slides/slide3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Avg@5 by fault type, RCAEval RE1</a:t>
            </a:r>
          </a:p>
        </c:rich>
      </c:tx>
      <c:layout/>
      <c:overlay val="0"/>
    </c:title>
    <c:autoTitleDeleted val="0"/>
    <c:plotArea>
      <c:barChart>
        <c:barDir val="col"/>
        <c:grouping val="clustered"/>
        <c:ser>
          <c:idx val="0"/>
          <c:order val="0"/>
          <c:tx>
            <c:strRef>
              <c:f>Sheet1!$B$1</c:f>
              <c:strCache>
                <c:ptCount val="1"/>
                <c:pt idx="0">
                  <c:v>BARO</c:v>
                </c:pt>
              </c:strCache>
            </c:strRef>
          </c:tx>
          <c:spPr>
            <a:solidFill>
              <a:srgbClr val="9AA0A6"/>
            </a:solidFill>
          </c:spPr>
          <c:cat>
            <c:strRef>
              <c:f>Sheet1!$A$2:$A$6</c:f>
              <c:strCache>
                <c:ptCount val="5"/>
                <c:pt idx="0">
                  <c:v>CPU</c:v>
                </c:pt>
                <c:pt idx="1">
                  <c:v>Memory</c:v>
                </c:pt>
                <c:pt idx="2">
                  <c:v>Disk</c:v>
                </c:pt>
                <c:pt idx="3">
                  <c:v>Delay</c:v>
                </c:pt>
                <c:pt idx="4">
                  <c:v>Loss</c:v>
                </c:pt>
              </c:strCache>
            </c:strRef>
          </c:cat>
          <c:val>
            <c:numRef>
              <c:f>Sheet1!$B$2:$B$6</c:f>
              <c:numCache>
                <c:formatCode>General</c:formatCode>
                <c:ptCount val="5"/>
                <c:pt idx="0">
                  <c:v>0.9108108108108107</c:v>
                </c:pt>
                <c:pt idx="1">
                  <c:v>0.9840000000000001</c:v>
                </c:pt>
                <c:pt idx="2">
                  <c:v>0.9066666666666665</c:v>
                </c:pt>
                <c:pt idx="3">
                  <c:v>0.8293333333333333</c:v>
                </c:pt>
                <c:pt idx="4">
                  <c:v>0.5918918918918918</c:v>
                </c:pt>
              </c:numCache>
            </c:numRef>
          </c:val>
        </c:ser>
        <c:ser>
          <c:idx val="1"/>
          <c:order val="1"/>
          <c:tx>
            <c:strRef>
              <c:f>Sheet1!$C$1</c:f>
              <c:strCache>
                <c:ptCount val="1"/>
                <c:pt idx="0">
                  <c:v>Tolerance</c:v>
                </c:pt>
              </c:strCache>
            </c:strRef>
          </c:tx>
          <c:spPr>
            <a:solidFill>
              <a:srgbClr val="1A73E8"/>
            </a:solidFill>
          </c:spPr>
          <c:cat>
            <c:strRef>
              <c:f>Sheet1!$A$2:$A$6</c:f>
              <c:strCache>
                <c:ptCount val="5"/>
                <c:pt idx="0">
                  <c:v>CPU</c:v>
                </c:pt>
                <c:pt idx="1">
                  <c:v>Memory</c:v>
                </c:pt>
                <c:pt idx="2">
                  <c:v>Disk</c:v>
                </c:pt>
                <c:pt idx="3">
                  <c:v>Delay</c:v>
                </c:pt>
                <c:pt idx="4">
                  <c:v>Loss</c:v>
                </c:pt>
              </c:strCache>
            </c:strRef>
          </c:cat>
          <c:val>
            <c:numRef>
              <c:f>Sheet1!$C$2:$C$6</c:f>
              <c:numCache>
                <c:formatCode>General</c:formatCode>
                <c:ptCount val="5"/>
                <c:pt idx="0">
                  <c:v>0.991891891891892</c:v>
                </c:pt>
                <c:pt idx="1">
                  <c:v>0.9786666666666668</c:v>
                </c:pt>
                <c:pt idx="2">
                  <c:v>0.968</c:v>
                </c:pt>
                <c:pt idx="3">
                  <c:v>0.8453333333333333</c:v>
                </c:pt>
                <c:pt idx="4">
                  <c:v>0.835135135135135</c:v>
                </c:pt>
              </c:numCache>
            </c:numRef>
          </c:val>
        </c:ser>
        <c:dLbls>
          <c:numFmt formatCode="0.00" sourceLinked="0"/>
          <c:txPr>
            <a:bodyPr/>
            <a:lstStyle/>
            <a:p>
              <a:pPr>
                <a:defRPr sz="12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5"/>
        </c:scaling>
        <c:delete val="0"/>
        <c:axPos val="l"/>
        <c:majorGridlines>
          <c:spPr>
            <a:ln>
              <a:solidFill>
                <a:srgbClr val="DADCE0"/>
              </a:solidFill>
            </a:ln>
          </c:spPr>
        </c:majorGridlines>
        <c:majorTickMark val="out"/>
        <c:minorTickMark val="none"/>
        <c:tickLblPos val="nextTo"/>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Harm grows as more is run alone</a:t>
            </a:r>
          </a:p>
        </c:rich>
      </c:tx>
      <c:layout/>
      <c:overlay val="0"/>
    </c:title>
    <c:autoTitleDeleted val="0"/>
    <c:plotArea>
      <c:lineChart>
        <c:grouping val="standard"/>
        <c:varyColors val="0"/>
        <c:ser>
          <c:idx val="0"/>
          <c:order val="0"/>
          <c:tx>
            <c:strRef>
              <c:f>Sheet1!$B$1</c:f>
              <c:strCache>
                <c:ptCount val="1"/>
                <c:pt idx="0">
                  <c:v>Confidence only</c:v>
                </c:pt>
              </c:strCache>
            </c:strRef>
          </c:tx>
          <c:spPr>
            <a:ln w="31750">
              <a:solidFill>
                <a:srgbClr val="80868B"/>
              </a:solidFill>
            </a:ln>
          </c:spPr>
          <c:marker>
            <c:symbol val="none"/>
          </c:marker>
          <c:cat>
            <c:strRef>
              <c:f>Sheet1!$A$2:$A$21</c:f>
              <c:strCache>
                <c:ptCount val="20"/>
                <c:pt idx="0">
                  <c:v>5</c:v>
                </c:pt>
                <c:pt idx="1">
                  <c:v>10</c:v>
                </c:pt>
                <c:pt idx="2">
                  <c:v>15</c:v>
                </c:pt>
                <c:pt idx="3">
                  <c:v>20</c:v>
                </c:pt>
                <c:pt idx="4">
                  <c:v>25</c:v>
                </c:pt>
                <c:pt idx="5">
                  <c:v>30</c:v>
                </c:pt>
                <c:pt idx="6">
                  <c:v>35</c:v>
                </c:pt>
                <c:pt idx="7">
                  <c:v>40</c:v>
                </c:pt>
                <c:pt idx="8">
                  <c:v>45</c:v>
                </c:pt>
                <c:pt idx="9">
                  <c:v>50</c:v>
                </c:pt>
                <c:pt idx="10">
                  <c:v>55</c:v>
                </c:pt>
                <c:pt idx="11">
                  <c:v>60</c:v>
                </c:pt>
                <c:pt idx="12">
                  <c:v>65</c:v>
                </c:pt>
                <c:pt idx="13">
                  <c:v>70</c:v>
                </c:pt>
                <c:pt idx="14">
                  <c:v>75</c:v>
                </c:pt>
                <c:pt idx="15">
                  <c:v>80</c:v>
                </c:pt>
                <c:pt idx="16">
                  <c:v>85</c:v>
                </c:pt>
                <c:pt idx="17">
                  <c:v>90</c:v>
                </c:pt>
                <c:pt idx="18">
                  <c:v>95</c:v>
                </c:pt>
                <c:pt idx="19">
                  <c:v>100</c:v>
                </c:pt>
              </c:strCache>
            </c:strRef>
          </c:cat>
          <c:val>
            <c:numRef>
              <c:f>Sheet1!$B$2:$B$21</c:f>
              <c:numCache>
                <c:formatCode>General</c:formatCode>
                <c:ptCount val="20"/>
                <c:pt idx="0">
                  <c:v>0.0</c:v>
                </c:pt>
                <c:pt idx="1">
                  <c:v>0.3</c:v>
                </c:pt>
                <c:pt idx="2">
                  <c:v>0.7</c:v>
                </c:pt>
                <c:pt idx="3">
                  <c:v>1.1</c:v>
                </c:pt>
                <c:pt idx="4">
                  <c:v>2.4</c:v>
                </c:pt>
                <c:pt idx="5">
                  <c:v>2.6</c:v>
                </c:pt>
                <c:pt idx="6">
                  <c:v>2.9</c:v>
                </c:pt>
                <c:pt idx="7">
                  <c:v>3.1</c:v>
                </c:pt>
                <c:pt idx="8">
                  <c:v>3.3</c:v>
                </c:pt>
                <c:pt idx="9">
                  <c:v>3.5</c:v>
                </c:pt>
                <c:pt idx="10">
                  <c:v>3.9</c:v>
                </c:pt>
                <c:pt idx="11">
                  <c:v>3.9</c:v>
                </c:pt>
                <c:pt idx="12">
                  <c:v>3.9</c:v>
                </c:pt>
                <c:pt idx="13">
                  <c:v>4.1</c:v>
                </c:pt>
                <c:pt idx="14">
                  <c:v>4.1</c:v>
                </c:pt>
                <c:pt idx="15">
                  <c:v>4.1</c:v>
                </c:pt>
                <c:pt idx="16">
                  <c:v>4.3</c:v>
                </c:pt>
                <c:pt idx="17">
                  <c:v>4.3</c:v>
                </c:pt>
                <c:pt idx="18">
                  <c:v>4.4</c:v>
                </c:pt>
                <c:pt idx="19">
                  <c:v>4.8</c:v>
                </c:pt>
              </c:numCache>
            </c:numRef>
          </c:val>
          <c:smooth val="0"/>
        </c:ser>
        <c:ser>
          <c:idx val="1"/>
          <c:order val="1"/>
          <c:tx>
            <c:strRef>
              <c:f>Sheet1!$C$1</c:f>
              <c:strCache>
                <c:ptCount val="1"/>
                <c:pt idx="0">
                  <c:v>Warden gate</c:v>
                </c:pt>
              </c:strCache>
            </c:strRef>
          </c:tx>
          <c:spPr>
            <a:ln w="31750">
              <a:solidFill>
                <a:srgbClr val="C5221F"/>
              </a:solidFill>
            </a:ln>
          </c:spPr>
          <c:marker>
            <c:symbol val="none"/>
          </c:marker>
          <c:cat>
            <c:strRef>
              <c:f>Sheet1!$A$2:$A$21</c:f>
              <c:strCache>
                <c:ptCount val="20"/>
                <c:pt idx="0">
                  <c:v>5</c:v>
                </c:pt>
                <c:pt idx="1">
                  <c:v>10</c:v>
                </c:pt>
                <c:pt idx="2">
                  <c:v>15</c:v>
                </c:pt>
                <c:pt idx="3">
                  <c:v>20</c:v>
                </c:pt>
                <c:pt idx="4">
                  <c:v>25</c:v>
                </c:pt>
                <c:pt idx="5">
                  <c:v>30</c:v>
                </c:pt>
                <c:pt idx="6">
                  <c:v>35</c:v>
                </c:pt>
                <c:pt idx="7">
                  <c:v>40</c:v>
                </c:pt>
                <c:pt idx="8">
                  <c:v>45</c:v>
                </c:pt>
                <c:pt idx="9">
                  <c:v>50</c:v>
                </c:pt>
                <c:pt idx="10">
                  <c:v>55</c:v>
                </c:pt>
                <c:pt idx="11">
                  <c:v>60</c:v>
                </c:pt>
                <c:pt idx="12">
                  <c:v>65</c:v>
                </c:pt>
                <c:pt idx="13">
                  <c:v>70</c:v>
                </c:pt>
                <c:pt idx="14">
                  <c:v>75</c:v>
                </c:pt>
                <c:pt idx="15">
                  <c:v>80</c:v>
                </c:pt>
                <c:pt idx="16">
                  <c:v>85</c:v>
                </c:pt>
                <c:pt idx="17">
                  <c:v>90</c:v>
                </c:pt>
                <c:pt idx="18">
                  <c:v>95</c:v>
                </c:pt>
                <c:pt idx="19">
                  <c:v>100</c:v>
                </c:pt>
              </c:strCache>
            </c:strRef>
          </c:cat>
          <c:val>
            <c:numRef>
              <c:f>Sheet1!$C$2:$C$21</c:f>
              <c:numCache>
                <c:formatCode>General</c:formatCode>
                <c:ptCount val="20"/>
                <c:pt idx="0">
                  <c:v>0.0</c:v>
                </c:pt>
                <c:pt idx="1">
                  <c:v>0.0</c:v>
                </c:pt>
                <c:pt idx="2">
                  <c:v>0.0</c:v>
                </c:pt>
                <c:pt idx="3">
                  <c:v>0.0</c:v>
                </c:pt>
                <c:pt idx="4">
                  <c:v>0.0</c:v>
                </c:pt>
                <c:pt idx="5">
                  <c:v>0.0</c:v>
                </c:pt>
                <c:pt idx="6">
                  <c:v>0.0</c:v>
                </c:pt>
                <c:pt idx="7">
                  <c:v>0.0</c:v>
                </c:pt>
                <c:pt idx="8">
                  <c:v>0.0</c:v>
                </c:pt>
                <c:pt idx="9">
                  <c:v>0.0</c:v>
                </c:pt>
                <c:pt idx="10">
                  <c:v>0.0</c:v>
                </c:pt>
                <c:pt idx="11">
                  <c:v>0.1</c:v>
                </c:pt>
                <c:pt idx="12">
                  <c:v>0.2</c:v>
                </c:pt>
                <c:pt idx="13">
                  <c:v>0.3</c:v>
                </c:pt>
                <c:pt idx="14">
                  <c:v>0.3</c:v>
                </c:pt>
                <c:pt idx="15">
                  <c:v>0.7</c:v>
                </c:pt>
                <c:pt idx="16">
                  <c:v>1.7</c:v>
                </c:pt>
                <c:pt idx="17">
                  <c:v>3.8</c:v>
                </c:pt>
                <c:pt idx="18">
                  <c:v>4.4</c:v>
                </c:pt>
                <c:pt idx="19">
                  <c:v>4.8</c:v>
                </c:pt>
              </c:numCache>
            </c:numRef>
          </c:val>
          <c:smooth val="0"/>
        </c:ser>
        <c:ser>
          <c:idx val="2"/>
          <c:order val="2"/>
          <c:tx>
            <c:strRef>
              <c:f>Sheet1!$D$1</c:f>
              <c:strCache>
                <c:ptCount val="1"/>
                <c:pt idx="0">
                  <c:v>Random</c:v>
                </c:pt>
              </c:strCache>
            </c:strRef>
          </c:tx>
          <c:spPr>
            <a:ln w="31750">
              <a:solidFill>
                <a:srgbClr val="BDC1C6"/>
              </a:solidFill>
            </a:ln>
          </c:spPr>
          <c:marker>
            <c:symbol val="none"/>
          </c:marker>
          <c:cat>
            <c:strRef>
              <c:f>Sheet1!$A$2:$A$21</c:f>
              <c:strCache>
                <c:ptCount val="20"/>
                <c:pt idx="0">
                  <c:v>5</c:v>
                </c:pt>
                <c:pt idx="1">
                  <c:v>10</c:v>
                </c:pt>
                <c:pt idx="2">
                  <c:v>15</c:v>
                </c:pt>
                <c:pt idx="3">
                  <c:v>20</c:v>
                </c:pt>
                <c:pt idx="4">
                  <c:v>25</c:v>
                </c:pt>
                <c:pt idx="5">
                  <c:v>30</c:v>
                </c:pt>
                <c:pt idx="6">
                  <c:v>35</c:v>
                </c:pt>
                <c:pt idx="7">
                  <c:v>40</c:v>
                </c:pt>
                <c:pt idx="8">
                  <c:v>45</c:v>
                </c:pt>
                <c:pt idx="9">
                  <c:v>50</c:v>
                </c:pt>
                <c:pt idx="10">
                  <c:v>55</c:v>
                </c:pt>
                <c:pt idx="11">
                  <c:v>60</c:v>
                </c:pt>
                <c:pt idx="12">
                  <c:v>65</c:v>
                </c:pt>
                <c:pt idx="13">
                  <c:v>70</c:v>
                </c:pt>
                <c:pt idx="14">
                  <c:v>75</c:v>
                </c:pt>
                <c:pt idx="15">
                  <c:v>80</c:v>
                </c:pt>
                <c:pt idx="16">
                  <c:v>85</c:v>
                </c:pt>
                <c:pt idx="17">
                  <c:v>90</c:v>
                </c:pt>
                <c:pt idx="18">
                  <c:v>95</c:v>
                </c:pt>
                <c:pt idx="19">
                  <c:v>100</c:v>
                </c:pt>
              </c:strCache>
            </c:strRef>
          </c:cat>
          <c:val>
            <c:numRef>
              <c:f>Sheet1!$D$2:$D$21</c:f>
              <c:numCache>
                <c:formatCode>General</c:formatCode>
                <c:ptCount val="20"/>
                <c:pt idx="0">
                  <c:v>0.0</c:v>
                </c:pt>
                <c:pt idx="1">
                  <c:v>0.2</c:v>
                </c:pt>
                <c:pt idx="2">
                  <c:v>0.5</c:v>
                </c:pt>
                <c:pt idx="3">
                  <c:v>0.9</c:v>
                </c:pt>
                <c:pt idx="4">
                  <c:v>0.9</c:v>
                </c:pt>
                <c:pt idx="5">
                  <c:v>1.1</c:v>
                </c:pt>
                <c:pt idx="6">
                  <c:v>1.1</c:v>
                </c:pt>
                <c:pt idx="7">
                  <c:v>1.3</c:v>
                </c:pt>
                <c:pt idx="8">
                  <c:v>1.5</c:v>
                </c:pt>
                <c:pt idx="9">
                  <c:v>1.9</c:v>
                </c:pt>
                <c:pt idx="10">
                  <c:v>2.5</c:v>
                </c:pt>
                <c:pt idx="11">
                  <c:v>3.2</c:v>
                </c:pt>
                <c:pt idx="12">
                  <c:v>3.2</c:v>
                </c:pt>
                <c:pt idx="13">
                  <c:v>3.6</c:v>
                </c:pt>
                <c:pt idx="14">
                  <c:v>3.8</c:v>
                </c:pt>
                <c:pt idx="15">
                  <c:v>3.8</c:v>
                </c:pt>
                <c:pt idx="16">
                  <c:v>4.0</c:v>
                </c:pt>
                <c:pt idx="17">
                  <c:v>4.0</c:v>
                </c:pt>
                <c:pt idx="18">
                  <c:v>4.7</c:v>
                </c:pt>
                <c:pt idx="19">
                  <c:v>4.8</c:v>
                </c:pt>
              </c:numCache>
            </c:numRef>
          </c:val>
          <c:smooth val="0"/>
        </c:ser>
        <c:marker val="1"/>
        <c:smooth val="0"/>
        <c:axId val="2118791784"/>
        <c:axId val="2140495176"/>
      </c:lineChart>
      <c:catAx>
        <c:axId val="2118791784"/>
        <c:scaling>
          <c:orientation val="minMax"/>
        </c:scaling>
        <c:delete val="0"/>
        <c:axPos val="b"/>
        <c:title>
          <c:tx>
            <c:rich>
              <a:bodyPr/>
              <a:lstStyle/>
              <a:p>
                <a:r>
                  <a:rPr sz="1200"/>
                  <a:t>Share run alone (%)</a:t>
                </a:r>
              </a:p>
            </c:rich>
          </c:tx>
          <c:layout/>
          <c:overlay val="0"/>
        </c:title>
        <c:majorTickMark val="out"/>
        <c:minorTickMark val="none"/>
        <c:tickLblPos val="nextTo"/>
        <c:txPr>
          <a:bodyPr/>
          <a:lstStyle/>
          <a:p>
            <a:pPr>
              <a:defRPr sz="1200"/>
            </a:pPr>
          </a:p>
        </c:txPr>
        <c:crossAx val="2140495176"/>
        <c:crosses val="autoZero"/>
        <c:auto val="1"/>
        <c:lblAlgn val="ctr"/>
        <c:lblOffset val="100"/>
        <c:tickLblSkip val="2"/>
        <c:noMultiLvlLbl val="0"/>
      </c:catAx>
      <c:valAx>
        <c:axId val="2140495176"/>
        <c:scaling/>
        <c:delete val="0"/>
        <c:axPos val="l"/>
        <c:majorGridlines>
          <c:spPr>
            <a:ln>
              <a:solidFill>
                <a:srgbClr val="DADCE0"/>
              </a:solidFill>
            </a:ln>
          </c:spPr>
        </c:majorGridlines>
        <c:title>
          <c:tx>
            <c:rich>
              <a:bodyPr/>
              <a:lstStyle/>
              <a:p>
                <a:r>
                  <a:rPr sz="1200"/>
                  <a:t>Harm</a:t>
                </a:r>
              </a:p>
            </c:rich>
          </c:tx>
          <c:layout/>
          <c:overlay val="0"/>
        </c:title>
        <c:majorTickMark val="out"/>
        <c:minorTickMark val="none"/>
        <c:tickLblPos val="nextTo"/>
        <c:txPr>
          <a:bodyPr/>
          <a:lstStyle/>
          <a:p>
            <a:pPr>
              <a:defRPr sz="1200"/>
            </a:pPr>
          </a:p>
        </c:tx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Avg@5 by fault type, RCAEval RE1</a:t>
            </a:r>
          </a:p>
        </c:rich>
      </c:tx>
      <c:layout/>
      <c:overlay val="0"/>
    </c:title>
    <c:autoTitleDeleted val="0"/>
    <c:plotArea>
      <c:barChart>
        <c:barDir val="col"/>
        <c:grouping val="clustered"/>
        <c:ser>
          <c:idx val="0"/>
          <c:order val="0"/>
          <c:tx>
            <c:strRef>
              <c:f>Sheet1!$B$1</c:f>
              <c:strCache>
                <c:ptCount val="1"/>
                <c:pt idx="0">
                  <c:v>BARO</c:v>
                </c:pt>
              </c:strCache>
            </c:strRef>
          </c:tx>
          <c:spPr>
            <a:solidFill>
              <a:srgbClr val="9AA0A6"/>
            </a:solidFill>
          </c:spPr>
          <c:cat>
            <c:strRef>
              <c:f>Sheet1!$A$2:$A$6</c:f>
              <c:strCache>
                <c:ptCount val="5"/>
                <c:pt idx="0">
                  <c:v>CPU</c:v>
                </c:pt>
                <c:pt idx="1">
                  <c:v>Memory</c:v>
                </c:pt>
                <c:pt idx="2">
                  <c:v>Disk</c:v>
                </c:pt>
                <c:pt idx="3">
                  <c:v>Delay</c:v>
                </c:pt>
                <c:pt idx="4">
                  <c:v>Loss</c:v>
                </c:pt>
              </c:strCache>
            </c:strRef>
          </c:cat>
          <c:val>
            <c:numRef>
              <c:f>Sheet1!$B$2:$B$6</c:f>
              <c:numCache>
                <c:formatCode>General</c:formatCode>
                <c:ptCount val="5"/>
                <c:pt idx="0">
                  <c:v>0.9108108108108107</c:v>
                </c:pt>
                <c:pt idx="1">
                  <c:v>0.9840000000000001</c:v>
                </c:pt>
                <c:pt idx="2">
                  <c:v>0.9066666666666665</c:v>
                </c:pt>
                <c:pt idx="3">
                  <c:v>0.8293333333333333</c:v>
                </c:pt>
                <c:pt idx="4">
                  <c:v>0.5918918918918918</c:v>
                </c:pt>
              </c:numCache>
            </c:numRef>
          </c:val>
        </c:ser>
        <c:ser>
          <c:idx val="1"/>
          <c:order val="1"/>
          <c:tx>
            <c:strRef>
              <c:f>Sheet1!$C$1</c:f>
              <c:strCache>
                <c:ptCount val="1"/>
                <c:pt idx="0">
                  <c:v>Tolerance</c:v>
                </c:pt>
              </c:strCache>
            </c:strRef>
          </c:tx>
          <c:spPr>
            <a:solidFill>
              <a:srgbClr val="1A73E8"/>
            </a:solidFill>
          </c:spPr>
          <c:cat>
            <c:strRef>
              <c:f>Sheet1!$A$2:$A$6</c:f>
              <c:strCache>
                <c:ptCount val="5"/>
                <c:pt idx="0">
                  <c:v>CPU</c:v>
                </c:pt>
                <c:pt idx="1">
                  <c:v>Memory</c:v>
                </c:pt>
                <c:pt idx="2">
                  <c:v>Disk</c:v>
                </c:pt>
                <c:pt idx="3">
                  <c:v>Delay</c:v>
                </c:pt>
                <c:pt idx="4">
                  <c:v>Loss</c:v>
                </c:pt>
              </c:strCache>
            </c:strRef>
          </c:cat>
          <c:val>
            <c:numRef>
              <c:f>Sheet1!$C$2:$C$6</c:f>
              <c:numCache>
                <c:formatCode>General</c:formatCode>
                <c:ptCount val="5"/>
                <c:pt idx="0">
                  <c:v>0.991891891891892</c:v>
                </c:pt>
                <c:pt idx="1">
                  <c:v>0.9786666666666668</c:v>
                </c:pt>
                <c:pt idx="2">
                  <c:v>0.968</c:v>
                </c:pt>
                <c:pt idx="3">
                  <c:v>0.8453333333333333</c:v>
                </c:pt>
                <c:pt idx="4">
                  <c:v>0.835135135135135</c:v>
                </c:pt>
              </c:numCache>
            </c:numRef>
          </c:val>
        </c:ser>
        <c:dLbls>
          <c:numFmt formatCode="0.00" sourceLinked="0"/>
          <c:txPr>
            <a:bodyPr/>
            <a:lstStyle/>
            <a:p>
              <a:pPr>
                <a:defRPr sz="12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5"/>
        </c:scaling>
        <c:delete val="0"/>
        <c:axPos val="l"/>
        <c:majorGridlines>
          <c:spPr>
            <a:ln>
              <a:solidFill>
                <a:srgbClr val="DADCE0"/>
              </a:solidFill>
            </a:ln>
          </c:spPr>
        </c:majorGridlines>
        <c:majorTickMark val="out"/>
        <c:minorTickMark val="none"/>
        <c:tickLblPos val="nextTo"/>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4.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4.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4.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4.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834640"/>
            <a:ext cx="8760000" cy="21031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400">
                <a:latin typeface="Google Sans Flex"/>
                <a:ea typeface="Google Sans Flex"/>
                <a:cs typeface="Google Sans Flex"/>
                <a:sym typeface="Google Sans Flex"/>
              </a:rPr>
              <a:t>Team name: </a:t>
            </a:r>
            <a:r>
              <a:rPr lang="en-GB" sz="1400" b="0">
                <a:latin typeface="Google Sans Flex"/>
                <a:ea typeface="Google Sans Flex"/>
                <a:cs typeface="Google Sans Flex"/>
                <a:sym typeface="Google Sans Flex"/>
              </a:rPr>
              <a:t>Lanterns</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400">
                <a:latin typeface="Google Sans Flex"/>
                <a:ea typeface="Google Sans Flex"/>
                <a:cs typeface="Google Sans Flex"/>
                <a:sym typeface="Google Sans Flex"/>
              </a:rPr>
              <a:t>Team leader name: </a:t>
            </a:r>
            <a:r>
              <a:rPr lang="en-GB" sz="1400" b="0">
                <a:latin typeface="Google Sans Flex"/>
                <a:ea typeface="Google Sans Flex"/>
                <a:cs typeface="Google Sans Flex"/>
                <a:sym typeface="Google Sans Flex"/>
              </a:rPr>
              <a:t>Shreyash Sharma. Team member: Kritika Tiwari</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400">
                <a:latin typeface="Google Sans Flex"/>
                <a:ea typeface="Google Sans Flex"/>
                <a:cs typeface="Google Sans Flex"/>
                <a:sym typeface="Google Sans Flex"/>
              </a:rPr>
              <a:t>Problem Statement: </a:t>
            </a:r>
            <a:r>
              <a:rPr lang="en-GB" sz="1200" b="0">
                <a:latin typeface="Google Sans Flex"/>
                <a:ea typeface="Google Sans Flex"/>
                <a:cs typeface="Google Sans Flex"/>
                <a:sym typeface="Google Sans Flex"/>
              </a:rPr>
              <a:t>Manufacturing: Intelligent Operations &amp; Industrial Efficiency. Plants run on scattered knowledge: manuals, orders, machine logs. When a station fails, nobody can quickly tell why, or whether a fix is safe. We built an agentic platform around a Symbiotic Compiler: it compiles a plant from its own documents and data, finds the cause, and acts only inside limits the owner sets.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brief text"/>
          <p:cNvSpPr txBox="1"/>
          <p:nvPr/>
        </p:nvSpPr>
        <p:spPr>
          <a:xfrm>
            <a:off x="274320" y="1097280"/>
            <a:ext cx="4617720" cy="3840480"/>
          </a:xfrm>
          <a:prstGeom prst="rect">
            <a:avLst/>
          </a:prstGeom>
          <a:noFill/>
        </p:spPr>
        <p:txBody>
          <a:bodyPr wrap="square" anchor="t" lIns="36576" rIns="36576" tIns="18288" bIns="18288">
            <a:spAutoFit/>
          </a:bodyPr>
          <a:lstStyle/>
          <a:p>
            <a:pPr algn="l">
              <a:spcAft>
                <a:spcPts val="600"/>
              </a:spcAft>
            </a:pPr>
            <a:r>
              <a:rPr sz="1400" b="1">
                <a:solidFill>
                  <a:srgbClr val="202124"/>
                </a:solidFill>
                <a:latin typeface="Google Sans Flex SemiBold"/>
              </a:rPr>
              <a:t>An agentic platform for manufacturing, built around a Symbiotic Compiler. It compiles a plant's own documents and data into one checked knowledge graph, finds why a station failed, and acts only inside limits the owner sets.</a:t>
            </a:r>
          </a:p>
          <a:p>
            <a:pPr algn="l" marL="164592" indent="-164592">
              <a:spcAft>
                <a:spcPts val="400"/>
              </a:spcAft>
              <a:buChar char="•"/>
            </a:pPr>
            <a:r>
              <a:rPr sz="1200" b="1">
                <a:solidFill>
                  <a:srgbClr val="202124"/>
                </a:solidFill>
                <a:latin typeface="Google Sans Flex SemiBold"/>
              </a:rPr>
              <a:t>Nine agents, one gateway. </a:t>
            </a:r>
            <a:r>
              <a:rPr sz="1200" b="0">
                <a:solidFill>
                  <a:srgbClr val="202124"/>
                </a:solidFill>
                <a:latin typeface="Google Sans Flex"/>
              </a:rPr>
              <a:t>Four read the documents, connect the systems and build the model. Five run it: Diagnosis, Verifier, Planner, Warden and Sentinel.</a:t>
            </a:r>
          </a:p>
          <a:p>
            <a:pPr algn="l" marL="164592" indent="-164592">
              <a:spcAft>
                <a:spcPts val="400"/>
              </a:spcAft>
              <a:buChar char="•"/>
            </a:pPr>
            <a:r>
              <a:rPr sz="1200" b="1">
                <a:solidFill>
                  <a:srgbClr val="202124"/>
                </a:solidFill>
                <a:latin typeface="Google Sans Flex SemiBold"/>
              </a:rPr>
              <a:t>Evidence before action. </a:t>
            </a:r>
            <a:r>
              <a:rPr sz="1200" b="0">
                <a:solidFill>
                  <a:srgbClr val="202124"/>
                </a:solidFill>
                <a:latin typeface="Google Sans Flex"/>
              </a:rPr>
              <a:t>Every fact keeps the exact quote it came from. Instructions hidden in a file are removed, never obeyed. The Verifier recomputes every number a diagnosis cites.</a:t>
            </a:r>
          </a:p>
          <a:p>
            <a:pPr algn="l" marL="164592" indent="-164592">
              <a:spcAft>
                <a:spcPts val="400"/>
              </a:spcAft>
              <a:buChar char="•"/>
            </a:pPr>
            <a:r>
              <a:rPr sz="1200" b="1">
                <a:solidFill>
                  <a:srgbClr val="202124"/>
                </a:solidFill>
                <a:latin typeface="Google Sans Flex SemiBold"/>
              </a:rPr>
              <a:t>Autonomy is a dial. </a:t>
            </a:r>
            <a:r>
              <a:rPr sz="1200" b="0">
                <a:solidFill>
                  <a:srgbClr val="202124"/>
                </a:solidFill>
                <a:latin typeface="Google Sans Flex"/>
              </a:rPr>
              <a:t>Warden scores each action 0 to 100. Below 40: refused. From 40 to 79: a person approves. From 80: it runs alone. The owner can change 40 and 80. A hard limit from the documents is never crossed.</a:t>
            </a:r>
          </a:p>
          <a:p>
            <a:pPr algn="l" marL="164592" indent="-164592">
              <a:spcAft>
                <a:spcPts val="400"/>
              </a:spcAft>
              <a:buChar char="•"/>
            </a:pPr>
            <a:r>
              <a:rPr sz="1200" b="1">
                <a:solidFill>
                  <a:srgbClr val="202124"/>
                </a:solidFill>
                <a:latin typeface="Google Sans Flex SemiBold"/>
              </a:rPr>
              <a:t>Built on Google Cloud. </a:t>
            </a:r>
            <a:r>
              <a:rPr sz="1200" b="0">
                <a:solidFill>
                  <a:srgbClr val="202124"/>
                </a:solidFill>
                <a:latin typeface="Google Sans Flex"/>
              </a:rPr>
              <a:t>Gemini on Vertex AI in every agent, Cloud Run, Firebase sign-in.</a:t>
            </a:r>
          </a:p>
        </p:txBody>
      </p:sp>
      <p:pic>
        <p:nvPicPr>
          <p:cNvPr id="73" name="3D plant screenshot" descr="floor_3d.png"/>
          <p:cNvPicPr>
            <a:picLocks noChangeAspect="1"/>
          </p:cNvPicPr>
          <p:nvPr/>
        </p:nvPicPr>
        <p:blipFill>
          <a:blip r:embed="rId4"/>
          <a:stretch>
            <a:fillRect/>
          </a:stretch>
        </p:blipFill>
        <p:spPr>
          <a:xfrm>
            <a:off x="4983480" y="1103696"/>
            <a:ext cx="3886200" cy="2181726"/>
          </a:xfrm>
          <a:prstGeom prst="rect">
            <a:avLst/>
          </a:prstGeom>
          <a:ln w="9525">
            <a:solidFill>
              <a:srgbClr val="DADCE0"/>
            </a:solidFill>
          </a:ln>
        </p:spPr>
      </p:pic>
      <p:sp>
        <p:nvSpPr>
          <p:cNvPr id="74" name="stat card"/>
          <p:cNvSpPr/>
          <p:nvPr/>
        </p:nvSpPr>
        <p:spPr>
          <a:xfrm>
            <a:off x="4983480" y="3401568"/>
            <a:ext cx="1234440" cy="15087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stat number"/>
          <p:cNvSpPr txBox="1"/>
          <p:nvPr/>
        </p:nvSpPr>
        <p:spPr>
          <a:xfrm>
            <a:off x="4983480" y="3474720"/>
            <a:ext cx="123444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9</a:t>
            </a:r>
          </a:p>
        </p:txBody>
      </p:sp>
      <p:sp>
        <p:nvSpPr>
          <p:cNvPr id="76" name="stat label"/>
          <p:cNvSpPr txBox="1"/>
          <p:nvPr/>
        </p:nvSpPr>
        <p:spPr>
          <a:xfrm>
            <a:off x="5029200" y="4005072"/>
            <a:ext cx="1143000" cy="86868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agents</a:t>
            </a:r>
          </a:p>
        </p:txBody>
      </p:sp>
      <p:sp>
        <p:nvSpPr>
          <p:cNvPr id="77" name="stat card"/>
          <p:cNvSpPr/>
          <p:nvPr/>
        </p:nvSpPr>
        <p:spPr>
          <a:xfrm>
            <a:off x="6309360" y="3401568"/>
            <a:ext cx="1280160" cy="15087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tat number"/>
          <p:cNvSpPr txBox="1"/>
          <p:nvPr/>
        </p:nvSpPr>
        <p:spPr>
          <a:xfrm>
            <a:off x="6309360" y="3474720"/>
            <a:ext cx="128016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~30 s</a:t>
            </a:r>
          </a:p>
        </p:txBody>
      </p:sp>
      <p:sp>
        <p:nvSpPr>
          <p:cNvPr id="79" name="stat label"/>
          <p:cNvSpPr txBox="1"/>
          <p:nvPr/>
        </p:nvSpPr>
        <p:spPr>
          <a:xfrm>
            <a:off x="6355080" y="4005072"/>
            <a:ext cx="1188719" cy="86868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failed station to scored plan, median of 7 local runs</a:t>
            </a:r>
          </a:p>
        </p:txBody>
      </p:sp>
      <p:sp>
        <p:nvSpPr>
          <p:cNvPr id="80" name="stat card"/>
          <p:cNvSpPr/>
          <p:nvPr/>
        </p:nvSpPr>
        <p:spPr>
          <a:xfrm>
            <a:off x="7680960" y="3401568"/>
            <a:ext cx="1188720" cy="15087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stat number"/>
          <p:cNvSpPr txBox="1"/>
          <p:nvPr/>
        </p:nvSpPr>
        <p:spPr>
          <a:xfrm>
            <a:off x="7680960" y="3474720"/>
            <a:ext cx="118872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17</a:t>
            </a:r>
          </a:p>
        </p:txBody>
      </p:sp>
      <p:sp>
        <p:nvSpPr>
          <p:cNvPr id="82" name="stat label"/>
          <p:cNvSpPr txBox="1"/>
          <p:nvPr/>
        </p:nvSpPr>
        <p:spPr>
          <a:xfrm>
            <a:off x="7726680" y="4005072"/>
            <a:ext cx="1097280" cy="86868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system types read from documents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column card"/>
          <p:cNvSpPr/>
          <p:nvPr/>
        </p:nvSpPr>
        <p:spPr>
          <a:xfrm>
            <a:off x="274320" y="1051560"/>
            <a:ext cx="2788920" cy="320040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column title"/>
          <p:cNvSpPr txBox="1"/>
          <p:nvPr/>
        </p:nvSpPr>
        <p:spPr>
          <a:xfrm>
            <a:off x="365760" y="1078992"/>
            <a:ext cx="2606040" cy="822960"/>
          </a:xfrm>
          <a:prstGeom prst="rect">
            <a:avLst/>
          </a:prstGeom>
          <a:noFill/>
        </p:spPr>
        <p:txBody>
          <a:bodyPr wrap="square" anchor="t" lIns="36576" rIns="36576" tIns="18288" bIns="18288">
            <a:spAutoFit/>
          </a:bodyPr>
          <a:lstStyle/>
          <a:p>
            <a:pPr algn="l">
              <a:spcAft>
                <a:spcPts val="100"/>
              </a:spcAft>
            </a:pPr>
            <a:r>
              <a:rPr sz="1400" b="1">
                <a:solidFill>
                  <a:srgbClr val="1A73E8"/>
                </a:solidFill>
                <a:latin typeface="Google Sans Flex SemiBold"/>
              </a:rPr>
              <a:t>How is it different from other ideas?</a:t>
            </a:r>
          </a:p>
          <a:p>
            <a:pPr algn="l">
              <a:spcAft>
                <a:spcPts val="400"/>
              </a:spcAft>
            </a:pPr>
            <a:r>
              <a:rPr sz="1200" b="0">
                <a:solidFill>
                  <a:srgbClr val="5F6368"/>
                </a:solidFill>
                <a:latin typeface="Google Sans Flex"/>
              </a:rPr>
              <a:t>The Symbiotic Compiler</a:t>
            </a:r>
          </a:p>
        </p:txBody>
      </p:sp>
      <p:sp>
        <p:nvSpPr>
          <p:cNvPr id="82" name="column text"/>
          <p:cNvSpPr txBox="1"/>
          <p:nvPr/>
        </p:nvSpPr>
        <p:spPr>
          <a:xfrm>
            <a:off x="365760" y="1938528"/>
            <a:ext cx="2633472" cy="2331720"/>
          </a:xfrm>
          <a:prstGeom prst="rect">
            <a:avLst/>
          </a:prstGeom>
          <a:noFill/>
        </p:spPr>
        <p:txBody>
          <a:bodyPr wrap="square" anchor="t" lIns="36576" rIns="36576" tIns="18288" bIns="18288">
            <a:spAutoFit/>
          </a:bodyPr>
          <a:lstStyle/>
          <a:p>
            <a:pPr algn="l" marL="164592" indent="-164592">
              <a:spcAft>
                <a:spcPts val="600"/>
              </a:spcAft>
              <a:buChar char="•"/>
            </a:pPr>
            <a:r>
              <a:rPr sz="1200" b="0">
                <a:solidFill>
                  <a:srgbClr val="202124"/>
                </a:solidFill>
                <a:latin typeface="Google Sans Flex"/>
              </a:rPr>
              <a:t>It reads the documents and data of your plant.</a:t>
            </a:r>
          </a:p>
          <a:p>
            <a:pPr algn="l" marL="164592" indent="-164592">
              <a:spcAft>
                <a:spcPts val="600"/>
              </a:spcAft>
              <a:buChar char="•"/>
            </a:pPr>
            <a:r>
              <a:rPr sz="1200" b="0">
                <a:solidFill>
                  <a:srgbClr val="202124"/>
                </a:solidFill>
                <a:latin typeface="Google Sans Flex"/>
              </a:rPr>
              <a:t>It builds a knowledge graph of stations, systems and flows. Each fact has its quote.</a:t>
            </a:r>
          </a:p>
          <a:p>
            <a:pPr algn="l" marL="164592" indent="-164592">
              <a:spcAft>
                <a:spcPts val="600"/>
              </a:spcAft>
              <a:buChar char="•"/>
            </a:pPr>
            <a:r>
              <a:rPr sz="1200" b="0">
                <a:solidFill>
                  <a:srgbClr val="202124"/>
                </a:solidFill>
                <a:latin typeface="Google Sans Flex"/>
              </a:rPr>
              <a:t>A person confirms the graph. The agents use it. This is the symbiosis.</a:t>
            </a:r>
          </a:p>
        </p:txBody>
      </p:sp>
      <p:sp>
        <p:nvSpPr>
          <p:cNvPr id="83" name="column card"/>
          <p:cNvSpPr/>
          <p:nvPr/>
        </p:nvSpPr>
        <p:spPr>
          <a:xfrm>
            <a:off x="3172968" y="1051560"/>
            <a:ext cx="2788920" cy="320040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column title"/>
          <p:cNvSpPr txBox="1"/>
          <p:nvPr/>
        </p:nvSpPr>
        <p:spPr>
          <a:xfrm>
            <a:off x="3264408" y="1078992"/>
            <a:ext cx="2606040" cy="822960"/>
          </a:xfrm>
          <a:prstGeom prst="rect">
            <a:avLst/>
          </a:prstGeom>
          <a:noFill/>
        </p:spPr>
        <p:txBody>
          <a:bodyPr wrap="square" anchor="t" lIns="36576" rIns="36576" tIns="18288" bIns="18288">
            <a:spAutoFit/>
          </a:bodyPr>
          <a:lstStyle/>
          <a:p>
            <a:pPr algn="l">
              <a:spcAft>
                <a:spcPts val="100"/>
              </a:spcAft>
            </a:pPr>
            <a:r>
              <a:rPr sz="1400" b="1">
                <a:solidFill>
                  <a:srgbClr val="188038"/>
                </a:solidFill>
                <a:latin typeface="Google Sans Flex SemiBold"/>
              </a:rPr>
              <a:t>How will it solve the problem?</a:t>
            </a:r>
          </a:p>
          <a:p>
            <a:pPr algn="l">
              <a:spcAft>
                <a:spcPts val="400"/>
              </a:spcAft>
            </a:pPr>
            <a:r>
              <a:rPr sz="1200" b="0">
                <a:solidFill>
                  <a:srgbClr val="5F6368"/>
                </a:solidFill>
                <a:latin typeface="Google Sans Flex"/>
              </a:rPr>
              <a:t>From a fault to a fix</a:t>
            </a:r>
          </a:p>
        </p:txBody>
      </p:sp>
      <p:sp>
        <p:nvSpPr>
          <p:cNvPr id="85" name="column text"/>
          <p:cNvSpPr txBox="1"/>
          <p:nvPr/>
        </p:nvSpPr>
        <p:spPr>
          <a:xfrm>
            <a:off x="3264408" y="1938528"/>
            <a:ext cx="2633472" cy="2331720"/>
          </a:xfrm>
          <a:prstGeom prst="rect">
            <a:avLst/>
          </a:prstGeom>
          <a:noFill/>
        </p:spPr>
        <p:txBody>
          <a:bodyPr wrap="square" anchor="t" lIns="36576" rIns="36576" tIns="18288" bIns="18288">
            <a:spAutoFit/>
          </a:bodyPr>
          <a:lstStyle/>
          <a:p>
            <a:pPr algn="l" marL="164592" indent="-164592">
              <a:spcAft>
                <a:spcPts val="600"/>
              </a:spcAft>
              <a:buChar char="•"/>
            </a:pPr>
            <a:r>
              <a:rPr sz="1200" b="0">
                <a:solidFill>
                  <a:srgbClr val="202124"/>
                </a:solidFill>
                <a:latin typeface="Google Sans Flex"/>
              </a:rPr>
              <a:t>A station fails. Diagnosis finds the cause in logs, databases and APIs.</a:t>
            </a:r>
          </a:p>
          <a:p>
            <a:pPr algn="l" marL="164592" indent="-164592">
              <a:spcAft>
                <a:spcPts val="600"/>
              </a:spcAft>
              <a:buChar char="•"/>
            </a:pPr>
            <a:r>
              <a:rPr sz="1200" b="0">
                <a:solidFill>
                  <a:srgbClr val="202124"/>
                </a:solidFill>
                <a:latin typeface="Google Sans Flex"/>
              </a:rPr>
              <a:t>The Verifier checks the numbers. The Planner proposes a fix with exact settings.</a:t>
            </a:r>
          </a:p>
          <a:p>
            <a:pPr algn="l" marL="164592" indent="-164592">
              <a:spcAft>
                <a:spcPts val="600"/>
              </a:spcAft>
              <a:buChar char="•"/>
            </a:pPr>
            <a:r>
              <a:rPr sz="1200" b="0">
                <a:solidFill>
                  <a:srgbClr val="202124"/>
                </a:solidFill>
                <a:latin typeface="Google Sans Flex"/>
              </a:rPr>
              <a:t>Warden scores the fix. The fix runs alone, a person approves it, or it is refused.</a:t>
            </a:r>
          </a:p>
        </p:txBody>
      </p:sp>
      <p:sp>
        <p:nvSpPr>
          <p:cNvPr id="86" name="column card"/>
          <p:cNvSpPr/>
          <p:nvPr/>
        </p:nvSpPr>
        <p:spPr>
          <a:xfrm>
            <a:off x="6071616" y="1051560"/>
            <a:ext cx="2788920" cy="320040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column title"/>
          <p:cNvSpPr txBox="1"/>
          <p:nvPr/>
        </p:nvSpPr>
        <p:spPr>
          <a:xfrm>
            <a:off x="6163055" y="1078992"/>
            <a:ext cx="2606040" cy="822960"/>
          </a:xfrm>
          <a:prstGeom prst="rect">
            <a:avLst/>
          </a:prstGeom>
          <a:noFill/>
        </p:spPr>
        <p:txBody>
          <a:bodyPr wrap="square" anchor="t" lIns="36576" rIns="36576" tIns="18288" bIns="18288">
            <a:spAutoFit/>
          </a:bodyPr>
          <a:lstStyle/>
          <a:p>
            <a:pPr algn="l">
              <a:spcAft>
                <a:spcPts val="100"/>
              </a:spcAft>
            </a:pPr>
            <a:r>
              <a:rPr sz="1400" b="1">
                <a:solidFill>
                  <a:srgbClr val="B06000"/>
                </a:solidFill>
                <a:latin typeface="Google Sans Flex SemiBold"/>
              </a:rPr>
              <a:t>USP of the solution</a:t>
            </a:r>
          </a:p>
          <a:p>
            <a:pPr algn="l">
              <a:spcAft>
                <a:spcPts val="400"/>
              </a:spcAft>
            </a:pPr>
            <a:r>
              <a:rPr sz="1200" b="0">
                <a:solidFill>
                  <a:srgbClr val="5F6368"/>
                </a:solidFill>
                <a:latin typeface="Google Sans Flex"/>
              </a:rPr>
              <a:t>Four things that work together</a:t>
            </a:r>
          </a:p>
        </p:txBody>
      </p:sp>
      <p:sp>
        <p:nvSpPr>
          <p:cNvPr id="88" name="column text"/>
          <p:cNvSpPr txBox="1"/>
          <p:nvPr/>
        </p:nvSpPr>
        <p:spPr>
          <a:xfrm>
            <a:off x="6163055" y="1938528"/>
            <a:ext cx="2633472" cy="2331720"/>
          </a:xfrm>
          <a:prstGeom prst="rect">
            <a:avLst/>
          </a:prstGeom>
          <a:noFill/>
        </p:spPr>
        <p:txBody>
          <a:bodyPr wrap="square" anchor="t" lIns="36576" rIns="36576" tIns="18288" bIns="18288">
            <a:spAutoFit/>
          </a:bodyPr>
          <a:lstStyle/>
          <a:p>
            <a:pPr algn="l" marL="164592" indent="-164592">
              <a:spcAft>
                <a:spcPts val="600"/>
              </a:spcAft>
              <a:buChar char="•"/>
            </a:pPr>
            <a:r>
              <a:rPr sz="1200" b="0">
                <a:solidFill>
                  <a:srgbClr val="202124"/>
                </a:solidFill>
                <a:latin typeface="Google Sans Flex"/>
              </a:rPr>
              <a:t>Auto-remediation. It finds the cause and fixes it. Warden keeps the owner in control.</a:t>
            </a:r>
          </a:p>
          <a:p>
            <a:pPr algn="l" marL="164592" indent="-164592">
              <a:spcAft>
                <a:spcPts val="600"/>
              </a:spcAft>
              <a:buChar char="•"/>
            </a:pPr>
            <a:r>
              <a:rPr sz="1200" b="0">
                <a:solidFill>
                  <a:srgbClr val="202124"/>
                </a:solidFill>
                <a:latin typeface="Google Sans Flex"/>
              </a:rPr>
              <a:t>Built from your documents. No template. Each fact has its quote.</a:t>
            </a:r>
          </a:p>
          <a:p>
            <a:pPr algn="l" marL="164592" indent="-164592">
              <a:spcAft>
                <a:spcPts val="600"/>
              </a:spcAft>
              <a:buChar char="•"/>
            </a:pPr>
            <a:r>
              <a:rPr sz="1200" b="0">
                <a:solidFill>
                  <a:srgbClr val="202124"/>
                </a:solidFill>
                <a:latin typeface="Google Sans Flex"/>
              </a:rPr>
              <a:t>It asks for each system by name. It knows 17 system types. It only reads.</a:t>
            </a:r>
          </a:p>
          <a:p>
            <a:pPr algn="l" marL="164592" indent="-164592">
              <a:spcAft>
                <a:spcPts val="600"/>
              </a:spcAft>
              <a:buChar char="•"/>
            </a:pPr>
            <a:r>
              <a:rPr sz="1200" b="0">
                <a:solidFill>
                  <a:srgbClr val="202124"/>
                </a:solidFill>
                <a:latin typeface="Google Sans Flex"/>
              </a:rPr>
              <a:t>It checks itself. The Verifier recomputes every number before action.</a:t>
            </a:r>
          </a:p>
        </p:txBody>
      </p:sp>
      <p:sp>
        <p:nvSpPr>
          <p:cNvPr id="89" name="takeaway"/>
          <p:cNvSpPr/>
          <p:nvPr/>
        </p:nvSpPr>
        <p:spPr>
          <a:xfrm>
            <a:off x="274320" y="4315968"/>
            <a:ext cx="8595360" cy="64008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akeaway text"/>
          <p:cNvSpPr txBox="1"/>
          <p:nvPr/>
        </p:nvSpPr>
        <p:spPr>
          <a:xfrm>
            <a:off x="411480" y="4315968"/>
            <a:ext cx="8321040" cy="640080"/>
          </a:xfrm>
          <a:prstGeom prst="rect">
            <a:avLst/>
          </a:prstGeom>
          <a:noFill/>
        </p:spPr>
        <p:txBody>
          <a:bodyPr wrap="square" anchor="ctr" lIns="36576" rIns="36576" tIns="18288" bIns="18288">
            <a:spAutoFit/>
          </a:bodyPr>
          <a:lstStyle/>
          <a:p>
            <a:pPr algn="l">
              <a:spcAft>
                <a:spcPts val="400"/>
              </a:spcAft>
            </a:pPr>
            <a:r>
              <a:rPr sz="1200" b="1">
                <a:solidFill>
                  <a:srgbClr val="1A73E8"/>
                </a:solidFill>
                <a:latin typeface="Google Sans Flex SemiBold"/>
              </a:rPr>
              <a:t>Maintenance copilots, such as MaintainX CoPilot and Siemens Industrial Copilot, answer a technician's questions. Tolerance learns the plant from its own documents. It puts every action through a gate the owner controls.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p:cNvSpPr/>
          <p:nvPr/>
        </p:nvSpPr>
        <p:spPr>
          <a:xfrm>
            <a:off x="274320" y="1024128"/>
            <a:ext cx="2788920" cy="10515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feature title"/>
          <p:cNvSpPr txBox="1"/>
          <p:nvPr/>
        </p:nvSpPr>
        <p:spPr>
          <a:xfrm>
            <a:off x="347472" y="106070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Guide onboarding</a:t>
            </a:r>
          </a:p>
        </p:txBody>
      </p:sp>
      <p:sp>
        <p:nvSpPr>
          <p:cNvPr id="90" name="feature text"/>
          <p:cNvSpPr txBox="1"/>
          <p:nvPr/>
        </p:nvSpPr>
        <p:spPr>
          <a:xfrm>
            <a:off x="347472" y="1307592"/>
            <a:ext cx="2651760" cy="749807"/>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Asks the plant name, reads the documents, settles conflicts, draws the plant.</a:t>
            </a:r>
          </a:p>
        </p:txBody>
      </p:sp>
      <p:sp>
        <p:nvSpPr>
          <p:cNvPr id="91" name="feature card"/>
          <p:cNvSpPr/>
          <p:nvPr/>
        </p:nvSpPr>
        <p:spPr>
          <a:xfrm>
            <a:off x="3172968" y="1024128"/>
            <a:ext cx="2788920" cy="10515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feature title"/>
          <p:cNvSpPr txBox="1"/>
          <p:nvPr/>
        </p:nvSpPr>
        <p:spPr>
          <a:xfrm>
            <a:off x="3246120" y="106070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Document Reader</a:t>
            </a:r>
          </a:p>
        </p:txBody>
      </p:sp>
      <p:sp>
        <p:nvSpPr>
          <p:cNvPr id="93" name="feature text"/>
          <p:cNvSpPr txBox="1"/>
          <p:nvPr/>
        </p:nvSpPr>
        <p:spPr>
          <a:xfrm>
            <a:off x="3246120" y="1307592"/>
            <a:ext cx="2651760" cy="749807"/>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Facts with exact quotes. Hidden instructions are removed first.</a:t>
            </a:r>
          </a:p>
        </p:txBody>
      </p:sp>
      <p:sp>
        <p:nvSpPr>
          <p:cNvPr id="94" name="feature card"/>
          <p:cNvSpPr/>
          <p:nvPr/>
        </p:nvSpPr>
        <p:spPr>
          <a:xfrm>
            <a:off x="6071616" y="1024128"/>
            <a:ext cx="2788920" cy="10515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feature title"/>
          <p:cNvSpPr txBox="1"/>
          <p:nvPr/>
        </p:nvSpPr>
        <p:spPr>
          <a:xfrm>
            <a:off x="6144768" y="106070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Live connectors (17 types)</a:t>
            </a:r>
          </a:p>
        </p:txBody>
      </p:sp>
      <p:sp>
        <p:nvSpPr>
          <p:cNvPr id="96" name="feature text"/>
          <p:cNvSpPr txBox="1"/>
          <p:nvPr/>
        </p:nvSpPr>
        <p:spPr>
          <a:xfrm>
            <a:off x="6144768" y="1307592"/>
            <a:ext cx="2651760" cy="749807"/>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Tested live: PostgreSQL, MQTT, MongoDB. Built, not yet tested live: MySQL, SQL Server, Oracle, Kafka, OPC UA.</a:t>
            </a:r>
          </a:p>
        </p:txBody>
      </p:sp>
      <p:sp>
        <p:nvSpPr>
          <p:cNvPr id="97" name="feature card"/>
          <p:cNvSpPr/>
          <p:nvPr/>
        </p:nvSpPr>
        <p:spPr>
          <a:xfrm>
            <a:off x="274320" y="2121408"/>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feature title"/>
          <p:cNvSpPr txBox="1"/>
          <p:nvPr/>
        </p:nvSpPr>
        <p:spPr>
          <a:xfrm>
            <a:off x="347472" y="215798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Your own MCP servers</a:t>
            </a:r>
          </a:p>
        </p:txBody>
      </p:sp>
      <p:sp>
        <p:nvSpPr>
          <p:cNvPr id="99" name="feature text"/>
          <p:cNvSpPr txBox="1"/>
          <p:nvPr/>
        </p:nvSpPr>
        <p:spPr>
          <a:xfrm>
            <a:off x="347472" y="2404872"/>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They join the same hub. Only read-only tools can run.</a:t>
            </a:r>
          </a:p>
        </p:txBody>
      </p:sp>
      <p:sp>
        <p:nvSpPr>
          <p:cNvPr id="100" name="feature card"/>
          <p:cNvSpPr/>
          <p:nvPr/>
        </p:nvSpPr>
        <p:spPr>
          <a:xfrm>
            <a:off x="3172968" y="2121408"/>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feature title"/>
          <p:cNvSpPr txBox="1"/>
          <p:nvPr/>
        </p:nvSpPr>
        <p:spPr>
          <a:xfrm>
            <a:off x="3246120" y="215798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Floor in 2D and 3D</a:t>
            </a:r>
          </a:p>
        </p:txBody>
      </p:sp>
      <p:sp>
        <p:nvSpPr>
          <p:cNvPr id="102" name="feature text"/>
          <p:cNvSpPr txBox="1"/>
          <p:nvPr/>
        </p:nvSpPr>
        <p:spPr>
          <a:xfrm>
            <a:off x="3246120" y="2404872"/>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A 2D plan and 3D view, with every data feed joined to its stations.</a:t>
            </a:r>
          </a:p>
        </p:txBody>
      </p:sp>
      <p:sp>
        <p:nvSpPr>
          <p:cNvPr id="103" name="feature card"/>
          <p:cNvSpPr/>
          <p:nvPr/>
        </p:nvSpPr>
        <p:spPr>
          <a:xfrm>
            <a:off x="6071616" y="2121408"/>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feature title"/>
          <p:cNvSpPr txBox="1"/>
          <p:nvPr/>
        </p:nvSpPr>
        <p:spPr>
          <a:xfrm>
            <a:off x="6144768" y="2157984"/>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Layout editor</a:t>
            </a:r>
          </a:p>
        </p:txBody>
      </p:sp>
      <p:sp>
        <p:nvSpPr>
          <p:cNvPr id="105" name="feature text"/>
          <p:cNvSpPr txBox="1"/>
          <p:nvPr/>
        </p:nvSpPr>
        <p:spPr>
          <a:xfrm>
            <a:off x="6144768" y="2404872"/>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Move, add and delete stations. Draw how parts flow.</a:t>
            </a:r>
          </a:p>
        </p:txBody>
      </p:sp>
      <p:sp>
        <p:nvSpPr>
          <p:cNvPr id="106" name="feature card"/>
          <p:cNvSpPr/>
          <p:nvPr/>
        </p:nvSpPr>
        <p:spPr>
          <a:xfrm>
            <a:off x="274320" y="3017520"/>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feature title"/>
          <p:cNvSpPr txBox="1"/>
          <p:nvPr/>
        </p:nvSpPr>
        <p:spPr>
          <a:xfrm>
            <a:off x="347472" y="3054096"/>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Operations</a:t>
            </a:r>
          </a:p>
        </p:txBody>
      </p:sp>
      <p:sp>
        <p:nvSpPr>
          <p:cNvPr id="108" name="feature text"/>
          <p:cNvSpPr txBox="1"/>
          <p:nvPr/>
        </p:nvSpPr>
        <p:spPr>
          <a:xfrm>
            <a:off x="347472" y="3300984"/>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Diagnosis, Verifier, Planner and Warden in one run, step by step.</a:t>
            </a:r>
          </a:p>
        </p:txBody>
      </p:sp>
      <p:sp>
        <p:nvSpPr>
          <p:cNvPr id="109" name="feature card"/>
          <p:cNvSpPr/>
          <p:nvPr/>
        </p:nvSpPr>
        <p:spPr>
          <a:xfrm>
            <a:off x="3172968" y="3017520"/>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feature title"/>
          <p:cNvSpPr txBox="1"/>
          <p:nvPr/>
        </p:nvSpPr>
        <p:spPr>
          <a:xfrm>
            <a:off x="3246120" y="3054096"/>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Warden gate</a:t>
            </a:r>
          </a:p>
        </p:txBody>
      </p:sp>
      <p:sp>
        <p:nvSpPr>
          <p:cNvPr id="111" name="feature text"/>
          <p:cNvSpPr txBox="1"/>
          <p:nvPr/>
        </p:nvSpPr>
        <p:spPr>
          <a:xfrm>
            <a:off x="3246120" y="3300984"/>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Score 0 to 100. Below 40 refused, from 80 runs alone. Hard limits. A backtest.</a:t>
            </a:r>
          </a:p>
        </p:txBody>
      </p:sp>
      <p:sp>
        <p:nvSpPr>
          <p:cNvPr id="112" name="feature card"/>
          <p:cNvSpPr/>
          <p:nvPr/>
        </p:nvSpPr>
        <p:spPr>
          <a:xfrm>
            <a:off x="6071616" y="3017520"/>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feature title"/>
          <p:cNvSpPr txBox="1"/>
          <p:nvPr/>
        </p:nvSpPr>
        <p:spPr>
          <a:xfrm>
            <a:off x="6144768" y="3054096"/>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Sentinel</a:t>
            </a:r>
          </a:p>
        </p:txBody>
      </p:sp>
      <p:sp>
        <p:nvSpPr>
          <p:cNvPr id="114" name="feature text"/>
          <p:cNvSpPr txBox="1"/>
          <p:nvPr/>
        </p:nvSpPr>
        <p:spPr>
          <a:xfrm>
            <a:off x="6144768" y="3300984"/>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Plain rules on data, services and certificates. Maintenance windows.</a:t>
            </a:r>
          </a:p>
        </p:txBody>
      </p:sp>
      <p:sp>
        <p:nvSpPr>
          <p:cNvPr id="115" name="feature card"/>
          <p:cNvSpPr/>
          <p:nvPr/>
        </p:nvSpPr>
        <p:spPr>
          <a:xfrm>
            <a:off x="274320" y="3913632"/>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feature title"/>
          <p:cNvSpPr txBox="1"/>
          <p:nvPr/>
        </p:nvSpPr>
        <p:spPr>
          <a:xfrm>
            <a:off x="347472" y="3950208"/>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Playbooks</a:t>
            </a:r>
          </a:p>
        </p:txBody>
      </p:sp>
      <p:sp>
        <p:nvSpPr>
          <p:cNvPr id="117" name="feature text"/>
          <p:cNvSpPr txBox="1"/>
          <p:nvPr/>
        </p:nvSpPr>
        <p:spPr>
          <a:xfrm>
            <a:off x="347472" y="4197096"/>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Draw what should happen when a station fails.</a:t>
            </a:r>
          </a:p>
        </p:txBody>
      </p:sp>
      <p:sp>
        <p:nvSpPr>
          <p:cNvPr id="118" name="feature card"/>
          <p:cNvSpPr/>
          <p:nvPr/>
        </p:nvSpPr>
        <p:spPr>
          <a:xfrm>
            <a:off x="3172968" y="3913632"/>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feature title"/>
          <p:cNvSpPr txBox="1"/>
          <p:nvPr/>
        </p:nvSpPr>
        <p:spPr>
          <a:xfrm>
            <a:off x="3246120" y="3950208"/>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Roles and approval</a:t>
            </a:r>
          </a:p>
        </p:txBody>
      </p:sp>
      <p:sp>
        <p:nvSpPr>
          <p:cNvPr id="120" name="feature text"/>
          <p:cNvSpPr txBox="1"/>
          <p:nvPr/>
        </p:nvSpPr>
        <p:spPr>
          <a:xfrm>
            <a:off x="3246120" y="4197096"/>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Cedar decides who may approve. Telegram buttons, Slack, Teams, Discord or a webhook.</a:t>
            </a:r>
          </a:p>
        </p:txBody>
      </p:sp>
      <p:sp>
        <p:nvSpPr>
          <p:cNvPr id="121" name="feature card"/>
          <p:cNvSpPr/>
          <p:nvPr/>
        </p:nvSpPr>
        <p:spPr>
          <a:xfrm>
            <a:off x="6071616" y="3913632"/>
            <a:ext cx="2788920" cy="85039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feature title"/>
          <p:cNvSpPr txBox="1"/>
          <p:nvPr/>
        </p:nvSpPr>
        <p:spPr>
          <a:xfrm>
            <a:off x="6144768" y="3950208"/>
            <a:ext cx="2651760" cy="256032"/>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Private by design</a:t>
            </a:r>
          </a:p>
        </p:txBody>
      </p:sp>
      <p:sp>
        <p:nvSpPr>
          <p:cNvPr id="123" name="feature text"/>
          <p:cNvSpPr txBox="1"/>
          <p:nvPr/>
        </p:nvSpPr>
        <p:spPr>
          <a:xfrm>
            <a:off x="6144768" y="4197096"/>
            <a:ext cx="2651760" cy="54864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Firebase sign-in, a private plant per user, encrypted passwords, usage caps.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row label"/>
          <p:cNvSpPr txBox="1"/>
          <p:nvPr/>
        </p:nvSpPr>
        <p:spPr>
          <a:xfrm>
            <a:off x="274320" y="1005840"/>
            <a:ext cx="8595360" cy="274320"/>
          </a:xfrm>
          <a:prstGeom prst="rect">
            <a:avLst/>
          </a:prstGeom>
          <a:noFill/>
        </p:spPr>
        <p:txBody>
          <a:bodyPr wrap="square" anchor="t" lIns="36576" rIns="36576" tIns="18288" bIns="18288">
            <a:spAutoFit/>
          </a:bodyPr>
          <a:lstStyle/>
          <a:p>
            <a:pPr algn="l">
              <a:spcAft>
                <a:spcPts val="400"/>
              </a:spcAft>
            </a:pPr>
            <a:r>
              <a:rPr sz="1200" b="1">
                <a:solidFill>
                  <a:srgbClr val="5F6368"/>
                </a:solidFill>
                <a:latin typeface="Google Sans Flex SemiBold"/>
              </a:rPr>
              <a:t>Set up once: the Symbiotic Compiler builds the plant</a:t>
            </a:r>
          </a:p>
        </p:txBody>
      </p:sp>
      <p:sp>
        <p:nvSpPr>
          <p:cNvPr id="97" name="step"/>
          <p:cNvSpPr/>
          <p:nvPr/>
        </p:nvSpPr>
        <p:spPr>
          <a:xfrm>
            <a:off x="274320"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step text"/>
          <p:cNvSpPr txBox="1"/>
          <p:nvPr/>
        </p:nvSpPr>
        <p:spPr>
          <a:xfrm>
            <a:off x="301751"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Give the plant name and documents</a:t>
            </a:r>
          </a:p>
        </p:txBody>
      </p:sp>
      <p:sp>
        <p:nvSpPr>
          <p:cNvPr id="99" name="arrow"/>
          <p:cNvSpPr/>
          <p:nvPr/>
        </p:nvSpPr>
        <p:spPr>
          <a:xfrm>
            <a:off x="1591056" y="1764792"/>
            <a:ext cx="109728" cy="182880"/>
          </a:xfrm>
          <a:prstGeom prst="rightArrow">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step"/>
          <p:cNvSpPr/>
          <p:nvPr/>
        </p:nvSpPr>
        <p:spPr>
          <a:xfrm>
            <a:off x="1709928"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step text"/>
          <p:cNvSpPr txBox="1"/>
          <p:nvPr/>
        </p:nvSpPr>
        <p:spPr>
          <a:xfrm>
            <a:off x="1737360"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Connect the systems the documents name</a:t>
            </a:r>
          </a:p>
        </p:txBody>
      </p:sp>
      <p:sp>
        <p:nvSpPr>
          <p:cNvPr id="102" name="arrow"/>
          <p:cNvSpPr/>
          <p:nvPr/>
        </p:nvSpPr>
        <p:spPr>
          <a:xfrm>
            <a:off x="3026664" y="1764792"/>
            <a:ext cx="109728" cy="182880"/>
          </a:xfrm>
          <a:prstGeom prst="rightArrow">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step"/>
          <p:cNvSpPr/>
          <p:nvPr/>
        </p:nvSpPr>
        <p:spPr>
          <a:xfrm>
            <a:off x="3145536"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step text"/>
          <p:cNvSpPr txBox="1"/>
          <p:nvPr/>
        </p:nvSpPr>
        <p:spPr>
          <a:xfrm>
            <a:off x="3172968"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The knowledge graph is compiled, each fact with its quote</a:t>
            </a:r>
          </a:p>
        </p:txBody>
      </p:sp>
      <p:sp>
        <p:nvSpPr>
          <p:cNvPr id="105" name="arrow"/>
          <p:cNvSpPr/>
          <p:nvPr/>
        </p:nvSpPr>
        <p:spPr>
          <a:xfrm>
            <a:off x="4462272" y="1764792"/>
            <a:ext cx="109728" cy="182880"/>
          </a:xfrm>
          <a:prstGeom prst="rightArrow">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step"/>
          <p:cNvSpPr/>
          <p:nvPr/>
        </p:nvSpPr>
        <p:spPr>
          <a:xfrm>
            <a:off x="4581144"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step text"/>
          <p:cNvSpPr txBox="1"/>
          <p:nvPr/>
        </p:nvSpPr>
        <p:spPr>
          <a:xfrm>
            <a:off x="4608576"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The owner confirms what was understood</a:t>
            </a:r>
          </a:p>
        </p:txBody>
      </p:sp>
      <p:sp>
        <p:nvSpPr>
          <p:cNvPr id="108" name="arrow"/>
          <p:cNvSpPr/>
          <p:nvPr/>
        </p:nvSpPr>
        <p:spPr>
          <a:xfrm>
            <a:off x="5897879" y="1764792"/>
            <a:ext cx="109728" cy="182880"/>
          </a:xfrm>
          <a:prstGeom prst="rightArrow">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step"/>
          <p:cNvSpPr/>
          <p:nvPr/>
        </p:nvSpPr>
        <p:spPr>
          <a:xfrm>
            <a:off x="6016752"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step text"/>
          <p:cNvSpPr txBox="1"/>
          <p:nvPr/>
        </p:nvSpPr>
        <p:spPr>
          <a:xfrm>
            <a:off x="6044184"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The floor goes live in 2D and 3D</a:t>
            </a:r>
          </a:p>
        </p:txBody>
      </p:sp>
      <p:sp>
        <p:nvSpPr>
          <p:cNvPr id="111" name="arrow"/>
          <p:cNvSpPr/>
          <p:nvPr/>
        </p:nvSpPr>
        <p:spPr>
          <a:xfrm>
            <a:off x="7333488" y="1764792"/>
            <a:ext cx="109728" cy="182880"/>
          </a:xfrm>
          <a:prstGeom prst="rightArrow">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step"/>
          <p:cNvSpPr/>
          <p:nvPr/>
        </p:nvSpPr>
        <p:spPr>
          <a:xfrm>
            <a:off x="7452360" y="1280160"/>
            <a:ext cx="1307592" cy="11430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step text"/>
          <p:cNvSpPr txBox="1"/>
          <p:nvPr/>
        </p:nvSpPr>
        <p:spPr>
          <a:xfrm>
            <a:off x="7479792" y="1280160"/>
            <a:ext cx="1252728" cy="1143000"/>
          </a:xfrm>
          <a:prstGeom prst="rect">
            <a:avLst/>
          </a:prstGeom>
          <a:noFill/>
        </p:spPr>
        <p:txBody>
          <a:bodyPr wrap="square" anchor="ctr" lIns="36576" rIns="36576" tIns="18288" bIns="18288">
            <a:spAutoFit/>
          </a:bodyPr>
          <a:lstStyle/>
          <a:p>
            <a:pPr algn="ctr">
              <a:spcAft>
                <a:spcPts val="400"/>
              </a:spcAft>
            </a:pPr>
            <a:r>
              <a:rPr sz="1200" b="0">
                <a:solidFill>
                  <a:srgbClr val="202124"/>
                </a:solidFill>
                <a:latin typeface="Google Sans Flex"/>
              </a:rPr>
              <a:t>The owner sets the score thresholds (40 and 80)</a:t>
            </a:r>
          </a:p>
        </p:txBody>
      </p:sp>
      <p:sp>
        <p:nvSpPr>
          <p:cNvPr id="114" name="row label"/>
          <p:cNvSpPr txBox="1"/>
          <p:nvPr/>
        </p:nvSpPr>
        <p:spPr>
          <a:xfrm>
            <a:off x="274320" y="2514600"/>
            <a:ext cx="4572000" cy="274320"/>
          </a:xfrm>
          <a:prstGeom prst="rect">
            <a:avLst/>
          </a:prstGeom>
          <a:noFill/>
        </p:spPr>
        <p:txBody>
          <a:bodyPr wrap="square" anchor="t" lIns="36576" rIns="36576" tIns="18288" bIns="18288">
            <a:spAutoFit/>
          </a:bodyPr>
          <a:lstStyle/>
          <a:p>
            <a:pPr algn="l">
              <a:spcAft>
                <a:spcPts val="400"/>
              </a:spcAft>
            </a:pPr>
            <a:r>
              <a:rPr sz="1200" b="1">
                <a:solidFill>
                  <a:srgbClr val="5F6368"/>
                </a:solidFill>
                <a:latin typeface="Google Sans Flex SemiBold"/>
              </a:rPr>
              <a:t>When a station fails</a:t>
            </a:r>
          </a:p>
        </p:txBody>
      </p:sp>
      <p:sp>
        <p:nvSpPr>
          <p:cNvPr id="115" name="operations step"/>
          <p:cNvSpPr/>
          <p:nvPr/>
        </p:nvSpPr>
        <p:spPr>
          <a:xfrm>
            <a:off x="274320" y="2788920"/>
            <a:ext cx="1417320" cy="128016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perations text"/>
          <p:cNvSpPr txBox="1"/>
          <p:nvPr/>
        </p:nvSpPr>
        <p:spPr>
          <a:xfrm>
            <a:off x="310896" y="2816352"/>
            <a:ext cx="1344168" cy="1234440"/>
          </a:xfrm>
          <a:prstGeom prst="rect">
            <a:avLst/>
          </a:prstGeom>
          <a:noFill/>
        </p:spPr>
        <p:txBody>
          <a:bodyPr wrap="square" anchor="t" lIns="36576" rIns="36576" tIns="18288" bIns="18288">
            <a:spAutoFit/>
          </a:bodyPr>
          <a:lstStyle/>
          <a:p>
            <a:pPr algn="l">
              <a:spcAft>
                <a:spcPts val="300"/>
              </a:spcAft>
            </a:pPr>
            <a:r>
              <a:rPr sz="1400" b="1">
                <a:solidFill>
                  <a:srgbClr val="188038"/>
                </a:solidFill>
                <a:latin typeface="Google Sans Flex SemiBold"/>
              </a:rPr>
              <a:t>Diagnosis</a:t>
            </a:r>
          </a:p>
          <a:p>
            <a:pPr algn="l">
              <a:spcAft>
                <a:spcPts val="400"/>
              </a:spcAft>
            </a:pPr>
            <a:r>
              <a:rPr sz="1200" b="0">
                <a:solidFill>
                  <a:srgbClr val="202124"/>
                </a:solidFill>
                <a:latin typeface="Google Sans Flex"/>
              </a:rPr>
              <a:t>finds the cause with read-only tools</a:t>
            </a:r>
          </a:p>
        </p:txBody>
      </p:sp>
      <p:sp>
        <p:nvSpPr>
          <p:cNvPr id="117" name="arrow"/>
          <p:cNvSpPr/>
          <p:nvPr/>
        </p:nvSpPr>
        <p:spPr>
          <a:xfrm>
            <a:off x="1700784" y="3337560"/>
            <a:ext cx="109728" cy="182880"/>
          </a:xfrm>
          <a:prstGeom prst="rightArrow">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perations step"/>
          <p:cNvSpPr/>
          <p:nvPr/>
        </p:nvSpPr>
        <p:spPr>
          <a:xfrm>
            <a:off x="1828800" y="2788920"/>
            <a:ext cx="1417320" cy="128016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perations text"/>
          <p:cNvSpPr txBox="1"/>
          <p:nvPr/>
        </p:nvSpPr>
        <p:spPr>
          <a:xfrm>
            <a:off x="1865376" y="2816352"/>
            <a:ext cx="1344168" cy="1234440"/>
          </a:xfrm>
          <a:prstGeom prst="rect">
            <a:avLst/>
          </a:prstGeom>
          <a:noFill/>
        </p:spPr>
        <p:txBody>
          <a:bodyPr wrap="square" anchor="t" lIns="36576" rIns="36576" tIns="18288" bIns="18288">
            <a:spAutoFit/>
          </a:bodyPr>
          <a:lstStyle/>
          <a:p>
            <a:pPr algn="l">
              <a:spcAft>
                <a:spcPts val="300"/>
              </a:spcAft>
            </a:pPr>
            <a:r>
              <a:rPr sz="1400" b="1">
                <a:solidFill>
                  <a:srgbClr val="188038"/>
                </a:solidFill>
                <a:latin typeface="Google Sans Flex SemiBold"/>
              </a:rPr>
              <a:t>Verifier</a:t>
            </a:r>
          </a:p>
          <a:p>
            <a:pPr algn="l">
              <a:spcAft>
                <a:spcPts val="400"/>
              </a:spcAft>
            </a:pPr>
            <a:r>
              <a:rPr sz="1200" b="0">
                <a:solidFill>
                  <a:srgbClr val="202124"/>
                </a:solidFill>
                <a:latin typeface="Google Sans Flex"/>
              </a:rPr>
              <a:t>recomputes every number it cites</a:t>
            </a:r>
          </a:p>
        </p:txBody>
      </p:sp>
      <p:sp>
        <p:nvSpPr>
          <p:cNvPr id="120" name="arrow"/>
          <p:cNvSpPr/>
          <p:nvPr/>
        </p:nvSpPr>
        <p:spPr>
          <a:xfrm>
            <a:off x="3255264" y="3337560"/>
            <a:ext cx="109728" cy="182880"/>
          </a:xfrm>
          <a:prstGeom prst="rightArrow">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perations step"/>
          <p:cNvSpPr/>
          <p:nvPr/>
        </p:nvSpPr>
        <p:spPr>
          <a:xfrm>
            <a:off x="3383279" y="2788920"/>
            <a:ext cx="1417320" cy="128016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perations text"/>
          <p:cNvSpPr txBox="1"/>
          <p:nvPr/>
        </p:nvSpPr>
        <p:spPr>
          <a:xfrm>
            <a:off x="3419856" y="2816352"/>
            <a:ext cx="1344168" cy="1234440"/>
          </a:xfrm>
          <a:prstGeom prst="rect">
            <a:avLst/>
          </a:prstGeom>
          <a:noFill/>
        </p:spPr>
        <p:txBody>
          <a:bodyPr wrap="square" anchor="t" lIns="36576" rIns="36576" tIns="18288" bIns="18288">
            <a:spAutoFit/>
          </a:bodyPr>
          <a:lstStyle/>
          <a:p>
            <a:pPr algn="l">
              <a:spcAft>
                <a:spcPts val="300"/>
              </a:spcAft>
            </a:pPr>
            <a:r>
              <a:rPr sz="1400" b="1">
                <a:solidFill>
                  <a:srgbClr val="188038"/>
                </a:solidFill>
                <a:latin typeface="Google Sans Flex SemiBold"/>
              </a:rPr>
              <a:t>Planner</a:t>
            </a:r>
          </a:p>
          <a:p>
            <a:pPr algn="l">
              <a:spcAft>
                <a:spcPts val="400"/>
              </a:spcAft>
            </a:pPr>
            <a:r>
              <a:rPr sz="1200" b="0">
                <a:solidFill>
                  <a:srgbClr val="202124"/>
                </a:solidFill>
                <a:latin typeface="Google Sans Flex"/>
              </a:rPr>
              <a:t>proposes the fix with exact settings</a:t>
            </a:r>
          </a:p>
        </p:txBody>
      </p:sp>
      <p:sp>
        <p:nvSpPr>
          <p:cNvPr id="123" name="arrow"/>
          <p:cNvSpPr/>
          <p:nvPr/>
        </p:nvSpPr>
        <p:spPr>
          <a:xfrm>
            <a:off x="4809744" y="3337560"/>
            <a:ext cx="109728" cy="182880"/>
          </a:xfrm>
          <a:prstGeom prst="rightArrow">
            <a:avLst/>
          </a:prstGeom>
          <a:solidFill>
            <a:srgbClr val="1880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perations step"/>
          <p:cNvSpPr/>
          <p:nvPr/>
        </p:nvSpPr>
        <p:spPr>
          <a:xfrm>
            <a:off x="4937759" y="2788920"/>
            <a:ext cx="1417320" cy="1280160"/>
          </a:xfrm>
          <a:prstGeom prst="roundRect">
            <a:avLst>
              <a:gd name="adj" fmla="val 5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perations text"/>
          <p:cNvSpPr txBox="1"/>
          <p:nvPr/>
        </p:nvSpPr>
        <p:spPr>
          <a:xfrm>
            <a:off x="4974336" y="2816352"/>
            <a:ext cx="1344168" cy="1234440"/>
          </a:xfrm>
          <a:prstGeom prst="rect">
            <a:avLst/>
          </a:prstGeom>
          <a:noFill/>
        </p:spPr>
        <p:txBody>
          <a:bodyPr wrap="square" anchor="t" lIns="36576" rIns="36576" tIns="18288" bIns="18288">
            <a:spAutoFit/>
          </a:bodyPr>
          <a:lstStyle/>
          <a:p>
            <a:pPr algn="l">
              <a:spcAft>
                <a:spcPts val="300"/>
              </a:spcAft>
            </a:pPr>
            <a:r>
              <a:rPr sz="1400" b="1">
                <a:solidFill>
                  <a:srgbClr val="C5221F"/>
                </a:solidFill>
                <a:latin typeface="Google Sans Flex SemiBold"/>
              </a:rPr>
              <a:t>Warden</a:t>
            </a:r>
          </a:p>
          <a:p>
            <a:pPr algn="l">
              <a:spcAft>
                <a:spcPts val="400"/>
              </a:spcAft>
            </a:pPr>
            <a:r>
              <a:rPr sz="1200" b="0">
                <a:solidFill>
                  <a:srgbClr val="202124"/>
                </a:solidFill>
                <a:latin typeface="Google Sans Flex"/>
              </a:rPr>
              <a:t>hard limits, then a score from 0 to 100</a:t>
            </a:r>
          </a:p>
        </p:txBody>
      </p:sp>
      <p:sp>
        <p:nvSpPr>
          <p:cNvPr id="126" name="outcome"/>
          <p:cNvSpPr/>
          <p:nvPr/>
        </p:nvSpPr>
        <p:spPr>
          <a:xfrm>
            <a:off x="6675120" y="2788920"/>
            <a:ext cx="2194560" cy="411480"/>
          </a:xfrm>
          <a:prstGeom prst="roundRect">
            <a:avLst>
              <a:gd name="adj" fmla="val 5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tcome text"/>
          <p:cNvSpPr txBox="1"/>
          <p:nvPr/>
        </p:nvSpPr>
        <p:spPr>
          <a:xfrm>
            <a:off x="6702552" y="2788920"/>
            <a:ext cx="2148840" cy="411480"/>
          </a:xfrm>
          <a:prstGeom prst="rect">
            <a:avLst/>
          </a:prstGeom>
          <a:noFill/>
        </p:spPr>
        <p:txBody>
          <a:bodyPr wrap="square" anchor="ctr" lIns="36576" rIns="36576" tIns="18288" bIns="18288">
            <a:spAutoFit/>
          </a:bodyPr>
          <a:lstStyle/>
          <a:p>
            <a:pPr algn="l">
              <a:spcAft>
                <a:spcPts val="400"/>
              </a:spcAft>
            </a:pPr>
            <a:r>
              <a:rPr sz="1200" b="1">
                <a:solidFill>
                  <a:srgbClr val="C5221F"/>
                </a:solidFill>
                <a:latin typeface="Google Sans Flex SemiBold"/>
              </a:rPr>
              <a:t>Blocked or refused: </a:t>
            </a:r>
            <a:r>
              <a:rPr sz="1200" b="0">
                <a:solidFill>
                  <a:srgbClr val="202124"/>
                </a:solidFill>
                <a:latin typeface="Google Sans Flex"/>
              </a:rPr>
              <a:t>does not run</a:t>
            </a:r>
          </a:p>
        </p:txBody>
      </p:sp>
      <p:sp>
        <p:nvSpPr>
          <p:cNvPr id="128" name="outcome"/>
          <p:cNvSpPr/>
          <p:nvPr/>
        </p:nvSpPr>
        <p:spPr>
          <a:xfrm>
            <a:off x="6675120" y="3246120"/>
            <a:ext cx="2194560" cy="411480"/>
          </a:xfrm>
          <a:prstGeom prst="roundRect">
            <a:avLst>
              <a:gd name="adj" fmla="val 5000"/>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tcome text"/>
          <p:cNvSpPr txBox="1"/>
          <p:nvPr/>
        </p:nvSpPr>
        <p:spPr>
          <a:xfrm>
            <a:off x="6702552" y="3246120"/>
            <a:ext cx="2148840" cy="411480"/>
          </a:xfrm>
          <a:prstGeom prst="rect">
            <a:avLst/>
          </a:prstGeom>
          <a:noFill/>
        </p:spPr>
        <p:txBody>
          <a:bodyPr wrap="square" anchor="ctr" lIns="36576" rIns="36576" tIns="18288" bIns="18288">
            <a:spAutoFit/>
          </a:bodyPr>
          <a:lstStyle/>
          <a:p>
            <a:pPr algn="l">
              <a:spcAft>
                <a:spcPts val="400"/>
              </a:spcAft>
            </a:pPr>
            <a:r>
              <a:rPr sz="1200" b="1">
                <a:solidFill>
                  <a:srgbClr val="B06000"/>
                </a:solidFill>
                <a:latin typeface="Google Sans Flex SemiBold"/>
              </a:rPr>
              <a:t>A person approves: </a:t>
            </a:r>
            <a:r>
              <a:rPr sz="1200" b="0">
                <a:solidFill>
                  <a:srgbClr val="202124"/>
                </a:solidFill>
                <a:latin typeface="Google Sans Flex"/>
              </a:rPr>
              <a:t>in the app or chat</a:t>
            </a:r>
          </a:p>
        </p:txBody>
      </p:sp>
      <p:sp>
        <p:nvSpPr>
          <p:cNvPr id="130" name="outcome"/>
          <p:cNvSpPr/>
          <p:nvPr/>
        </p:nvSpPr>
        <p:spPr>
          <a:xfrm>
            <a:off x="6675120" y="3703320"/>
            <a:ext cx="2194560" cy="41148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tcome text"/>
          <p:cNvSpPr txBox="1"/>
          <p:nvPr/>
        </p:nvSpPr>
        <p:spPr>
          <a:xfrm>
            <a:off x="6702552" y="3703320"/>
            <a:ext cx="2148840" cy="411480"/>
          </a:xfrm>
          <a:prstGeom prst="rect">
            <a:avLst/>
          </a:prstGeom>
          <a:noFill/>
        </p:spPr>
        <p:txBody>
          <a:bodyPr wrap="square" anchor="ctr" lIns="36576" rIns="36576" tIns="18288" bIns="18288">
            <a:spAutoFit/>
          </a:bodyPr>
          <a:lstStyle/>
          <a:p>
            <a:pPr algn="l">
              <a:spcAft>
                <a:spcPts val="400"/>
              </a:spcAft>
            </a:pPr>
            <a:r>
              <a:rPr sz="1200" b="1">
                <a:solidFill>
                  <a:srgbClr val="188038"/>
                </a:solidFill>
                <a:latin typeface="Google Sans Flex SemiBold"/>
              </a:rPr>
              <a:t>Runs by itself: </a:t>
            </a:r>
            <a:r>
              <a:rPr sz="1200" b="0">
                <a:solidFill>
                  <a:srgbClr val="202124"/>
                </a:solidFill>
                <a:latin typeface="Google Sans Flex"/>
              </a:rPr>
              <a:t>score 80 or more</a:t>
            </a:r>
          </a:p>
        </p:txBody>
      </p:sp>
      <p:sp>
        <p:nvSpPr>
          <p:cNvPr id="132" name="arrow"/>
          <p:cNvSpPr/>
          <p:nvPr/>
        </p:nvSpPr>
        <p:spPr>
          <a:xfrm>
            <a:off x="6492240" y="3337560"/>
            <a:ext cx="146304" cy="182880"/>
          </a:xfrm>
          <a:prstGeom prst="rightArrow">
            <a:avLst/>
          </a:prstGeom>
          <a:solidFill>
            <a:srgbClr val="C522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flow note"/>
          <p:cNvSpPr txBox="1"/>
          <p:nvPr/>
        </p:nvSpPr>
        <p:spPr>
          <a:xfrm>
            <a:off x="274320" y="4160520"/>
            <a:ext cx="8595360" cy="777240"/>
          </a:xfrm>
          <a:prstGeom prst="rect">
            <a:avLst/>
          </a:prstGeom>
          <a:noFill/>
        </p:spPr>
        <p:txBody>
          <a:bodyPr wrap="square" anchor="t" lIns="36576" rIns="36576" tIns="18288" bIns="18288">
            <a:spAutoFit/>
          </a:bodyPr>
          <a:lstStyle/>
          <a:p>
            <a:pPr algn="l">
              <a:spcAft>
                <a:spcPts val="400"/>
              </a:spcAft>
            </a:pPr>
            <a:r>
              <a:rPr sz="1200" b="1">
                <a:solidFill>
                  <a:srgbClr val="202124"/>
                </a:solidFill>
                <a:latin typeface="Google Sans Flex SemiBold"/>
              </a:rPr>
              <a:t>Then: </a:t>
            </a:r>
            <a:r>
              <a:rPr sz="1200" b="0">
                <a:solidFill>
                  <a:srgbClr val="202124"/>
                </a:solidFill>
                <a:latin typeface="Google Sans Flex"/>
              </a:rPr>
              <a:t>the Action Broker applies only what the gate allows, in a simulator. Every model call, tool call and decision is recorded. </a:t>
            </a:r>
            <a:r>
              <a:rPr sz="1200" b="1">
                <a:solidFill>
                  <a:srgbClr val="202124"/>
                </a:solidFill>
                <a:latin typeface="Google Sans Flex SemiBold"/>
              </a:rPr>
              <a:t>Who uses it: </a:t>
            </a:r>
            <a:r>
              <a:rPr sz="1200" b="0">
                <a:solidFill>
                  <a:srgbClr val="202124"/>
                </a:solidFill>
                <a:latin typeface="Google Sans Flex"/>
              </a:rPr>
              <a:t>the owner sets it up and the limits, an operator reads the floor, a supervisor approves the middle zone.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lane label"/>
          <p:cNvSpPr txBox="1"/>
          <p:nvPr/>
        </p:nvSpPr>
        <p:spPr>
          <a:xfrm>
            <a:off x="274320" y="987552"/>
            <a:ext cx="3657600" cy="237744"/>
          </a:xfrm>
          <a:prstGeom prst="rect">
            <a:avLst/>
          </a:prstGeom>
          <a:noFill/>
        </p:spPr>
        <p:txBody>
          <a:bodyPr wrap="square" anchor="t" lIns="36576" rIns="36576" tIns="18288" bIns="18288">
            <a:spAutoFit/>
          </a:bodyPr>
          <a:lstStyle/>
          <a:p>
            <a:pPr algn="l">
              <a:spcAft>
                <a:spcPts val="400"/>
              </a:spcAft>
            </a:pPr>
            <a:r>
              <a:rPr sz="1100" b="0">
                <a:solidFill>
                  <a:srgbClr val="B06000"/>
                </a:solidFill>
                <a:latin typeface="Cambria Math"/>
              </a:rPr>
              <a:t>Once, at setup</a:t>
            </a:r>
          </a:p>
        </p:txBody>
      </p:sp>
      <p:sp>
        <p:nvSpPr>
          <p:cNvPr id="113" name="flow box"/>
          <p:cNvSpPr/>
          <p:nvPr/>
        </p:nvSpPr>
        <p:spPr>
          <a:xfrm>
            <a:off x="274320" y="1243584"/>
            <a:ext cx="2011680" cy="731520"/>
          </a:xfrm>
          <a:prstGeom prst="roundRect">
            <a:avLst>
              <a:gd name="adj" fmla="val 5000"/>
            </a:avLst>
          </a:prstGeom>
          <a:solidFill>
            <a:srgbClr val="F1F3F4"/>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flow box text"/>
          <p:cNvSpPr txBox="1"/>
          <p:nvPr/>
        </p:nvSpPr>
        <p:spPr>
          <a:xfrm>
            <a:off x="274320" y="1243584"/>
            <a:ext cx="2011680" cy="731520"/>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Documents and data</a:t>
            </a:r>
          </a:p>
          <a:p>
            <a:pPr algn="ctr">
              <a:spcAft>
                <a:spcPts val="0"/>
              </a:spcAft>
            </a:pPr>
            <a:r>
              <a:rPr sz="1050" b="0">
                <a:solidFill>
                  <a:srgbClr val="5F6368"/>
                </a:solidFill>
                <a:latin typeface="Google Sans Flex"/>
              </a:rPr>
              <a:t>MES, ERP, MQTT, MCP</a:t>
            </a:r>
          </a:p>
        </p:txBody>
      </p:sp>
      <p:cxnSp>
        <p:nvCxnSpPr>
          <p:cNvPr id="115" name="flow arrow"/>
          <p:cNvCxnSpPr/>
          <p:nvPr/>
        </p:nvCxnSpPr>
        <p:spPr>
          <a:xfrm>
            <a:off x="2304288" y="1609344"/>
            <a:ext cx="347472" cy="0"/>
          </a:xfrm>
          <a:prstGeom prst="line">
            <a:avLst/>
          </a:prstGeom>
          <a:ln w="1905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16" name="flow box"/>
          <p:cNvSpPr/>
          <p:nvPr/>
        </p:nvSpPr>
        <p:spPr>
          <a:xfrm>
            <a:off x="2670048" y="1243584"/>
            <a:ext cx="2377440" cy="731520"/>
          </a:xfrm>
          <a:prstGeom prst="roundRect">
            <a:avLst>
              <a:gd name="adj" fmla="val 5000"/>
            </a:avLst>
          </a:prstGeom>
          <a:solidFill>
            <a:srgbClr val="E8F0FE"/>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flow box text"/>
          <p:cNvSpPr txBox="1"/>
          <p:nvPr/>
        </p:nvSpPr>
        <p:spPr>
          <a:xfrm>
            <a:off x="2670048" y="1243584"/>
            <a:ext cx="2377440" cy="731520"/>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Symbiotic Compiler</a:t>
            </a:r>
          </a:p>
          <a:p>
            <a:pPr algn="ctr">
              <a:spcAft>
                <a:spcPts val="0"/>
              </a:spcAft>
            </a:pPr>
            <a:r>
              <a:rPr sz="1050" b="0">
                <a:solidFill>
                  <a:srgbClr val="5F6368"/>
                </a:solidFill>
                <a:latin typeface="Google Sans Flex"/>
              </a:rPr>
              <a:t>Reader, Scout, Modeler</a:t>
            </a:r>
          </a:p>
        </p:txBody>
      </p:sp>
      <p:cxnSp>
        <p:nvCxnSpPr>
          <p:cNvPr id="118" name="flow arrow"/>
          <p:cNvCxnSpPr/>
          <p:nvPr/>
        </p:nvCxnSpPr>
        <p:spPr>
          <a:xfrm>
            <a:off x="5065776" y="1609344"/>
            <a:ext cx="347472" cy="0"/>
          </a:xfrm>
          <a:prstGeom prst="line">
            <a:avLst/>
          </a:prstGeom>
          <a:ln w="19050">
            <a:solidFill>
              <a:srgbClr val="1A73E8"/>
            </a:solidFill>
            <a:tailEnd type="triangle"/>
          </a:ln>
        </p:spPr>
        <p:style>
          <a:lnRef idx="2">
            <a:schemeClr val="accent1"/>
          </a:lnRef>
          <a:fillRef idx="0">
            <a:schemeClr val="accent1"/>
          </a:fillRef>
          <a:effectRef idx="1">
            <a:schemeClr val="accent1"/>
          </a:effectRef>
          <a:fontRef idx="minor">
            <a:schemeClr val="tx1"/>
          </a:fontRef>
        </p:style>
      </p:cxnSp>
      <p:sp>
        <p:nvSpPr>
          <p:cNvPr id="119" name="flow box"/>
          <p:cNvSpPr/>
          <p:nvPr/>
        </p:nvSpPr>
        <p:spPr>
          <a:xfrm>
            <a:off x="5431536" y="1243584"/>
            <a:ext cx="2103120" cy="731520"/>
          </a:xfrm>
          <a:prstGeom prst="roundRect">
            <a:avLst>
              <a:gd name="adj" fmla="val 5000"/>
            </a:avLst>
          </a:prstGeom>
          <a:solidFill>
            <a:srgbClr val="F1F3F4"/>
          </a:solidFill>
          <a:ln w="1587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flow box text"/>
          <p:cNvSpPr txBox="1"/>
          <p:nvPr/>
        </p:nvSpPr>
        <p:spPr>
          <a:xfrm>
            <a:off x="5431536" y="1243584"/>
            <a:ext cx="2103120" cy="731520"/>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Knowledge graph</a:t>
            </a:r>
          </a:p>
          <a:p>
            <a:pPr algn="ctr">
              <a:spcAft>
                <a:spcPts val="0"/>
              </a:spcAft>
            </a:pPr>
            <a:r>
              <a:rPr sz="1050" b="0">
                <a:solidFill>
                  <a:srgbClr val="5F6368"/>
                </a:solidFill>
                <a:latin typeface="Google Sans Flex"/>
              </a:rPr>
              <a:t>each edge keeps its quote</a:t>
            </a:r>
          </a:p>
        </p:txBody>
      </p:sp>
      <p:sp>
        <p:nvSpPr>
          <p:cNvPr id="121" name="graph rule"/>
          <p:cNvSpPr txBox="1"/>
          <p:nvPr/>
        </p:nvSpPr>
        <p:spPr>
          <a:xfrm>
            <a:off x="7607808" y="1243584"/>
            <a:ext cx="1280160" cy="731520"/>
          </a:xfrm>
          <a:prstGeom prst="rect">
            <a:avLst/>
          </a:prstGeom>
          <a:noFill/>
        </p:spPr>
        <p:txBody>
          <a:bodyPr wrap="square" anchor="ctr" lIns="36576" rIns="36576" tIns="18288" bIns="18288">
            <a:spAutoFit/>
          </a:bodyPr>
          <a:lstStyle/>
          <a:p>
            <a:pPr algn="l">
              <a:spcAft>
                <a:spcPts val="400"/>
              </a:spcAft>
            </a:pPr>
            <a:r>
              <a:rPr sz="1050" b="0">
                <a:solidFill>
                  <a:srgbClr val="5F6368"/>
                </a:solidFill>
                <a:latin typeface="Cambria Math"/>
              </a:rPr>
              <a:t>An edge counts only if seen in runtime data.</a:t>
            </a:r>
          </a:p>
        </p:txBody>
      </p:sp>
      <p:sp>
        <p:nvSpPr>
          <p:cNvPr id="122" name="lane label"/>
          <p:cNvSpPr txBox="1"/>
          <p:nvPr/>
        </p:nvSpPr>
        <p:spPr>
          <a:xfrm>
            <a:off x="274320" y="2103120"/>
            <a:ext cx="3657600" cy="237744"/>
          </a:xfrm>
          <a:prstGeom prst="rect">
            <a:avLst/>
          </a:prstGeom>
          <a:noFill/>
        </p:spPr>
        <p:txBody>
          <a:bodyPr wrap="square" anchor="t" lIns="36576" rIns="36576" tIns="18288" bIns="18288">
            <a:spAutoFit/>
          </a:bodyPr>
          <a:lstStyle/>
          <a:p>
            <a:pPr algn="l">
              <a:spcAft>
                <a:spcPts val="400"/>
              </a:spcAft>
            </a:pPr>
            <a:r>
              <a:rPr sz="1100" b="0">
                <a:solidFill>
                  <a:srgbClr val="188038"/>
                </a:solidFill>
                <a:latin typeface="Cambria Math"/>
              </a:rPr>
              <a:t>When a station fails</a:t>
            </a:r>
          </a:p>
        </p:txBody>
      </p:sp>
      <p:sp>
        <p:nvSpPr>
          <p:cNvPr id="123" name="flow box"/>
          <p:cNvSpPr/>
          <p:nvPr/>
        </p:nvSpPr>
        <p:spPr>
          <a:xfrm>
            <a:off x="274320" y="2377440"/>
            <a:ext cx="1325880" cy="56692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flow box text"/>
          <p:cNvSpPr txBox="1"/>
          <p:nvPr/>
        </p:nvSpPr>
        <p:spPr>
          <a:xfrm>
            <a:off x="274320"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Alert</a:t>
            </a:r>
          </a:p>
        </p:txBody>
      </p:sp>
      <p:cxnSp>
        <p:nvCxnSpPr>
          <p:cNvPr id="125" name="flow arrow"/>
          <p:cNvCxnSpPr/>
          <p:nvPr/>
        </p:nvCxnSpPr>
        <p:spPr>
          <a:xfrm>
            <a:off x="1618488" y="2660904"/>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6" name="flow box"/>
          <p:cNvSpPr/>
          <p:nvPr/>
        </p:nvSpPr>
        <p:spPr>
          <a:xfrm>
            <a:off x="1728216" y="2377440"/>
            <a:ext cx="1325880" cy="56692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flow box text"/>
          <p:cNvSpPr txBox="1"/>
          <p:nvPr/>
        </p:nvSpPr>
        <p:spPr>
          <a:xfrm>
            <a:off x="1728216"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Diagnosis</a:t>
            </a:r>
          </a:p>
        </p:txBody>
      </p:sp>
      <p:cxnSp>
        <p:nvCxnSpPr>
          <p:cNvPr id="128" name="flow arrow"/>
          <p:cNvCxnSpPr/>
          <p:nvPr/>
        </p:nvCxnSpPr>
        <p:spPr>
          <a:xfrm>
            <a:off x="3072384" y="2660904"/>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29" name="flow box"/>
          <p:cNvSpPr/>
          <p:nvPr/>
        </p:nvSpPr>
        <p:spPr>
          <a:xfrm>
            <a:off x="3182112" y="2377440"/>
            <a:ext cx="1325880" cy="56692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flow box text"/>
          <p:cNvSpPr txBox="1"/>
          <p:nvPr/>
        </p:nvSpPr>
        <p:spPr>
          <a:xfrm>
            <a:off x="3182112"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Verifier</a:t>
            </a:r>
          </a:p>
        </p:txBody>
      </p:sp>
      <p:cxnSp>
        <p:nvCxnSpPr>
          <p:cNvPr id="131" name="flow arrow"/>
          <p:cNvCxnSpPr/>
          <p:nvPr/>
        </p:nvCxnSpPr>
        <p:spPr>
          <a:xfrm>
            <a:off x="4526280" y="2660904"/>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32" name="flow box"/>
          <p:cNvSpPr/>
          <p:nvPr/>
        </p:nvSpPr>
        <p:spPr>
          <a:xfrm>
            <a:off x="4636008" y="2377440"/>
            <a:ext cx="1325880" cy="56692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flow box text"/>
          <p:cNvSpPr txBox="1"/>
          <p:nvPr/>
        </p:nvSpPr>
        <p:spPr>
          <a:xfrm>
            <a:off x="4636008"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Planner</a:t>
            </a:r>
          </a:p>
        </p:txBody>
      </p:sp>
      <p:cxnSp>
        <p:nvCxnSpPr>
          <p:cNvPr id="134" name="flow arrow"/>
          <p:cNvCxnSpPr/>
          <p:nvPr/>
        </p:nvCxnSpPr>
        <p:spPr>
          <a:xfrm>
            <a:off x="5980176" y="2660904"/>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35" name="flow box"/>
          <p:cNvSpPr/>
          <p:nvPr/>
        </p:nvSpPr>
        <p:spPr>
          <a:xfrm>
            <a:off x="6089904" y="2377440"/>
            <a:ext cx="1325880" cy="566928"/>
          </a:xfrm>
          <a:prstGeom prst="roundRect">
            <a:avLst>
              <a:gd name="adj" fmla="val 5000"/>
            </a:avLst>
          </a:prstGeom>
          <a:solidFill>
            <a:srgbClr val="FCE8E6"/>
          </a:solidFill>
          <a:ln w="15875">
            <a:solidFill>
              <a:srgbClr val="C52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flow box text"/>
          <p:cNvSpPr txBox="1"/>
          <p:nvPr/>
        </p:nvSpPr>
        <p:spPr>
          <a:xfrm>
            <a:off x="6089904"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Warden</a:t>
            </a:r>
          </a:p>
        </p:txBody>
      </p:sp>
      <p:cxnSp>
        <p:nvCxnSpPr>
          <p:cNvPr id="137" name="flow arrow"/>
          <p:cNvCxnSpPr/>
          <p:nvPr/>
        </p:nvCxnSpPr>
        <p:spPr>
          <a:xfrm>
            <a:off x="7434072" y="2660904"/>
            <a:ext cx="91440" cy="0"/>
          </a:xfrm>
          <a:prstGeom prst="line">
            <a:avLst/>
          </a:prstGeom>
          <a:ln w="19050">
            <a:solidFill>
              <a:srgbClr val="5F6368"/>
            </a:solidFill>
            <a:tailEnd type="triangle"/>
          </a:ln>
        </p:spPr>
        <p:style>
          <a:lnRef idx="2">
            <a:schemeClr val="accent1"/>
          </a:lnRef>
          <a:fillRef idx="0">
            <a:schemeClr val="accent1"/>
          </a:fillRef>
          <a:effectRef idx="1">
            <a:schemeClr val="accent1"/>
          </a:effectRef>
          <a:fontRef idx="minor">
            <a:schemeClr val="tx1"/>
          </a:fontRef>
        </p:style>
      </p:cxnSp>
      <p:sp>
        <p:nvSpPr>
          <p:cNvPr id="138" name="flow box"/>
          <p:cNvSpPr/>
          <p:nvPr/>
        </p:nvSpPr>
        <p:spPr>
          <a:xfrm>
            <a:off x="7543800" y="2377440"/>
            <a:ext cx="1325880" cy="56692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flow box text"/>
          <p:cNvSpPr txBox="1"/>
          <p:nvPr/>
        </p:nvSpPr>
        <p:spPr>
          <a:xfrm>
            <a:off x="7543800" y="2377440"/>
            <a:ext cx="1325880" cy="566928"/>
          </a:xfrm>
          <a:prstGeom prst="rect">
            <a:avLst/>
          </a:prstGeom>
          <a:noFill/>
        </p:spPr>
        <p:txBody>
          <a:bodyPr wrap="square" anchor="ctr" lIns="36576" rIns="36576" tIns="18288" bIns="18288">
            <a:spAutoFit/>
          </a:bodyPr>
          <a:lstStyle/>
          <a:p>
            <a:pPr algn="ctr">
              <a:spcAft>
                <a:spcPts val="0"/>
              </a:spcAft>
            </a:pPr>
            <a:r>
              <a:rPr sz="1400" b="1">
                <a:solidFill>
                  <a:srgbClr val="202124"/>
                </a:solidFill>
                <a:latin typeface="Google Sans Flex SemiBold"/>
              </a:rPr>
              <a:t>Action Broker</a:t>
            </a:r>
          </a:p>
        </p:txBody>
      </p:sp>
      <p:cxnSp>
        <p:nvCxnSpPr>
          <p:cNvPr id="140" name="flow arrow"/>
          <p:cNvCxnSpPr/>
          <p:nvPr/>
        </p:nvCxnSpPr>
        <p:spPr>
          <a:xfrm>
            <a:off x="6766560" y="1984248"/>
            <a:ext cx="0" cy="374904"/>
          </a:xfrm>
          <a:prstGeom prst="line">
            <a:avLst/>
          </a:prstGeom>
          <a:ln w="19050">
            <a:solidFill>
              <a:srgbClr val="1A73E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41" name="graph feed"/>
          <p:cNvSpPr txBox="1"/>
          <p:nvPr/>
        </p:nvSpPr>
        <p:spPr>
          <a:xfrm>
            <a:off x="6858000" y="2011680"/>
            <a:ext cx="2011680" cy="256032"/>
          </a:xfrm>
          <a:prstGeom prst="rect">
            <a:avLst/>
          </a:prstGeom>
          <a:noFill/>
        </p:spPr>
        <p:txBody>
          <a:bodyPr wrap="square" anchor="t" lIns="36576" rIns="36576" tIns="18288" bIns="18288">
            <a:spAutoFit/>
          </a:bodyPr>
          <a:lstStyle/>
          <a:p>
            <a:pPr algn="l">
              <a:spcAft>
                <a:spcPts val="400"/>
              </a:spcAft>
            </a:pPr>
            <a:r>
              <a:rPr sz="1050" b="0">
                <a:solidFill>
                  <a:srgbClr val="5F6368"/>
                </a:solidFill>
                <a:latin typeface="Cambria Math"/>
              </a:rPr>
              <a:t>limits and reach</a:t>
            </a:r>
          </a:p>
        </p:txBody>
      </p:sp>
      <p:sp>
        <p:nvSpPr>
          <p:cNvPr id="142" name="equation fusion"/>
          <p:cNvSpPr txBox="1"/>
          <p:nvPr/>
        </p:nvSpPr>
        <p:spPr>
          <a:xfrm>
            <a:off x="274320" y="3200400"/>
            <a:ext cx="4114800" cy="457200"/>
          </a:xfrm>
          <a:prstGeom prst="rect">
            <a:avLst/>
          </a:prstGeom>
          <a:noFill/>
        </p:spPr>
        <p:txBody>
          <a:bodyPr wrap="square" anchor="t" lIns="36576" rIns="36576" tIns="18288" bIns="18288">
            <a:spAutoFit/>
          </a:bodyPr>
          <a:lstStyle/>
          <a:p>
            <a:pPr algn="l">
              <a:spcAft>
                <a:spcPts val="400"/>
              </a:spcAft>
            </a:pPr>
            <a:r>
              <a:rPr sz="1800" b="1">
                <a:solidFill>
                  <a:srgbClr val="202124"/>
                </a:solidFill>
                <a:latin typeface="Cambria Math"/>
              </a:rPr>
              <a:t>F(c) = (1/K) Σₚ sₚ(c) / maxₖ sₚ(k)</a:t>
            </a:r>
          </a:p>
        </p:txBody>
      </p:sp>
      <p:sp>
        <p:nvSpPr>
          <p:cNvPr id="143" name="equation caption"/>
          <p:cNvSpPr txBox="1"/>
          <p:nvPr/>
        </p:nvSpPr>
        <p:spPr>
          <a:xfrm>
            <a:off x="274320" y="3639312"/>
            <a:ext cx="4114800" cy="274320"/>
          </a:xfrm>
          <a:prstGeom prst="rect">
            <a:avLst/>
          </a:prstGeom>
          <a:noFill/>
        </p:spPr>
        <p:txBody>
          <a:bodyPr wrap="square" anchor="t" lIns="36576" rIns="36576" tIns="18288" bIns="18288">
            <a:spAutoFit/>
          </a:bodyPr>
          <a:lstStyle/>
          <a:p>
            <a:pPr algn="l">
              <a:spcAft>
                <a:spcPts val="400"/>
              </a:spcAft>
            </a:pPr>
            <a:r>
              <a:rPr sz="1050" b="0">
                <a:solidFill>
                  <a:srgbClr val="5F6368"/>
                </a:solidFill>
                <a:latin typeface="Google Sans Flex"/>
              </a:rPr>
              <a:t>Metric, trace and log probes fused into one ranking of causes.</a:t>
            </a:r>
          </a:p>
        </p:txBody>
      </p:sp>
      <p:sp>
        <p:nvSpPr>
          <p:cNvPr id="144" name="decision"/>
          <p:cNvSpPr/>
          <p:nvPr/>
        </p:nvSpPr>
        <p:spPr>
          <a:xfrm>
            <a:off x="4572000" y="3127248"/>
            <a:ext cx="1417320" cy="384048"/>
          </a:xfrm>
          <a:prstGeom prst="roundRect">
            <a:avLst>
              <a:gd name="adj" fmla="val 5000"/>
            </a:avLst>
          </a:prstGeom>
          <a:solidFill>
            <a:srgbClr val="E6F4EA"/>
          </a:solidFill>
          <a:ln w="1587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ecision text"/>
          <p:cNvSpPr txBox="1"/>
          <p:nvPr/>
        </p:nvSpPr>
        <p:spPr>
          <a:xfrm>
            <a:off x="4572000" y="3127248"/>
            <a:ext cx="1417320" cy="384048"/>
          </a:xfrm>
          <a:prstGeom prst="rect">
            <a:avLst/>
          </a:prstGeom>
          <a:noFill/>
        </p:spPr>
        <p:txBody>
          <a:bodyPr wrap="square" anchor="ctr" lIns="36576" rIns="36576" tIns="18288" bIns="18288">
            <a:spAutoFit/>
          </a:bodyPr>
          <a:lstStyle/>
          <a:p>
            <a:pPr algn="ctr">
              <a:spcAft>
                <a:spcPts val="0"/>
              </a:spcAft>
            </a:pPr>
            <a:r>
              <a:rPr sz="1200" b="1">
                <a:solidFill>
                  <a:srgbClr val="202124"/>
                </a:solidFill>
                <a:latin typeface="Google Sans Flex SemiBold"/>
              </a:rPr>
              <a:t>Alone: S ≥ 80</a:t>
            </a:r>
          </a:p>
        </p:txBody>
      </p:sp>
      <p:sp>
        <p:nvSpPr>
          <p:cNvPr id="146" name="decision"/>
          <p:cNvSpPr/>
          <p:nvPr/>
        </p:nvSpPr>
        <p:spPr>
          <a:xfrm>
            <a:off x="6012180" y="3127248"/>
            <a:ext cx="1417320" cy="384048"/>
          </a:xfrm>
          <a:prstGeom prst="roundRect">
            <a:avLst>
              <a:gd name="adj" fmla="val 5000"/>
            </a:avLst>
          </a:prstGeom>
          <a:solidFill>
            <a:srgbClr val="FEF7E0"/>
          </a:solidFill>
          <a:ln w="1587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decision text"/>
          <p:cNvSpPr txBox="1"/>
          <p:nvPr/>
        </p:nvSpPr>
        <p:spPr>
          <a:xfrm>
            <a:off x="6012180" y="3127248"/>
            <a:ext cx="1417320" cy="384048"/>
          </a:xfrm>
          <a:prstGeom prst="rect">
            <a:avLst/>
          </a:prstGeom>
          <a:noFill/>
        </p:spPr>
        <p:txBody>
          <a:bodyPr wrap="square" anchor="ctr" lIns="36576" rIns="36576" tIns="18288" bIns="18288">
            <a:spAutoFit/>
          </a:bodyPr>
          <a:lstStyle/>
          <a:p>
            <a:pPr algn="ctr">
              <a:spcAft>
                <a:spcPts val="0"/>
              </a:spcAft>
            </a:pPr>
            <a:r>
              <a:rPr sz="1200" b="1">
                <a:solidFill>
                  <a:srgbClr val="202124"/>
                </a:solidFill>
                <a:latin typeface="Google Sans Flex SemiBold"/>
              </a:rPr>
              <a:t>Approve: 40 to 79</a:t>
            </a:r>
          </a:p>
        </p:txBody>
      </p:sp>
      <p:sp>
        <p:nvSpPr>
          <p:cNvPr id="148" name="decision"/>
          <p:cNvSpPr/>
          <p:nvPr/>
        </p:nvSpPr>
        <p:spPr>
          <a:xfrm>
            <a:off x="7452360" y="3127248"/>
            <a:ext cx="1417320" cy="384048"/>
          </a:xfrm>
          <a:prstGeom prst="roundRect">
            <a:avLst>
              <a:gd name="adj" fmla="val 5000"/>
            </a:avLst>
          </a:prstGeom>
          <a:solidFill>
            <a:srgbClr val="FCE8E6"/>
          </a:solidFill>
          <a:ln w="15875">
            <a:solidFill>
              <a:srgbClr val="C52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decision text"/>
          <p:cNvSpPr txBox="1"/>
          <p:nvPr/>
        </p:nvSpPr>
        <p:spPr>
          <a:xfrm>
            <a:off x="7452360" y="3127248"/>
            <a:ext cx="1417320" cy="384048"/>
          </a:xfrm>
          <a:prstGeom prst="rect">
            <a:avLst/>
          </a:prstGeom>
          <a:noFill/>
        </p:spPr>
        <p:txBody>
          <a:bodyPr wrap="square" anchor="ctr" lIns="36576" rIns="36576" tIns="18288" bIns="18288">
            <a:spAutoFit/>
          </a:bodyPr>
          <a:lstStyle/>
          <a:p>
            <a:pPr algn="ctr">
              <a:spcAft>
                <a:spcPts val="0"/>
              </a:spcAft>
            </a:pPr>
            <a:r>
              <a:rPr sz="1200" b="1">
                <a:solidFill>
                  <a:srgbClr val="202124"/>
                </a:solidFill>
                <a:latin typeface="Google Sans Flex SemiBold"/>
              </a:rPr>
              <a:t>Refused: S &lt; 40</a:t>
            </a:r>
          </a:p>
        </p:txBody>
      </p:sp>
      <p:sp>
        <p:nvSpPr>
          <p:cNvPr id="150" name="equation warden"/>
          <p:cNvSpPr txBox="1"/>
          <p:nvPr/>
        </p:nvSpPr>
        <p:spPr>
          <a:xfrm>
            <a:off x="4572000" y="3566160"/>
            <a:ext cx="4297680" cy="457200"/>
          </a:xfrm>
          <a:prstGeom prst="rect">
            <a:avLst/>
          </a:prstGeom>
          <a:noFill/>
        </p:spPr>
        <p:txBody>
          <a:bodyPr wrap="square" anchor="t" lIns="36576" rIns="36576" tIns="18288" bIns="18288">
            <a:spAutoFit/>
          </a:bodyPr>
          <a:lstStyle/>
          <a:p>
            <a:pPr algn="l">
              <a:spcAft>
                <a:spcPts val="400"/>
              </a:spcAft>
            </a:pPr>
            <a:r>
              <a:rPr sz="1800" b="1">
                <a:solidFill>
                  <a:srgbClr val="202124"/>
                </a:solidFill>
                <a:latin typeface="Cambria Math"/>
              </a:rPr>
              <a:t>S = Σᵢ 100 · wᵢ · vᵢ</a:t>
            </a:r>
          </a:p>
        </p:txBody>
      </p:sp>
      <p:sp>
        <p:nvSpPr>
          <p:cNvPr id="151" name="equation caption"/>
          <p:cNvSpPr txBox="1"/>
          <p:nvPr/>
        </p:nvSpPr>
        <p:spPr>
          <a:xfrm>
            <a:off x="4572000" y="3959352"/>
            <a:ext cx="4297680" cy="274320"/>
          </a:xfrm>
          <a:prstGeom prst="rect">
            <a:avLst/>
          </a:prstGeom>
          <a:noFill/>
        </p:spPr>
        <p:txBody>
          <a:bodyPr wrap="square" anchor="t" lIns="36576" rIns="36576" tIns="18288" bIns="18288">
            <a:spAutoFit/>
          </a:bodyPr>
          <a:lstStyle/>
          <a:p>
            <a:pPr algn="l">
              <a:spcAft>
                <a:spcPts val="400"/>
              </a:spcAft>
            </a:pPr>
            <a:r>
              <a:rPr sz="1050" b="0">
                <a:solidFill>
                  <a:srgbClr val="5F6368"/>
                </a:solidFill>
                <a:latin typeface="Google Sans Flex"/>
              </a:rPr>
              <a:t>Six factors. A broken hard limit blocks at any score.</a:t>
            </a:r>
          </a:p>
        </p:txBody>
      </p:sp>
      <p:sp>
        <p:nvSpPr>
          <p:cNvPr id="152" name="metric card"/>
          <p:cNvSpPr/>
          <p:nvPr/>
        </p:nvSpPr>
        <p:spPr>
          <a:xfrm>
            <a:off x="274320" y="4315968"/>
            <a:ext cx="2788920" cy="60350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metric number"/>
          <p:cNvSpPr txBox="1"/>
          <p:nvPr/>
        </p:nvSpPr>
        <p:spPr>
          <a:xfrm>
            <a:off x="320040" y="4315968"/>
            <a:ext cx="1097280" cy="603504"/>
          </a:xfrm>
          <a:prstGeom prst="rect">
            <a:avLst/>
          </a:prstGeom>
          <a:noFill/>
        </p:spPr>
        <p:txBody>
          <a:bodyPr wrap="square" anchor="ctr" lIns="36576" rIns="36576" tIns="18288" bIns="18288">
            <a:spAutoFit/>
          </a:bodyPr>
          <a:lstStyle/>
          <a:p>
            <a:pPr algn="ctr">
              <a:spcAft>
                <a:spcPts val="400"/>
              </a:spcAft>
            </a:pPr>
            <a:r>
              <a:rPr sz="2400" b="1">
                <a:solidFill>
                  <a:srgbClr val="188038"/>
                </a:solidFill>
                <a:latin typeface="Google Sans Flex SemiBold"/>
              </a:rPr>
              <a:t>+0.08</a:t>
            </a:r>
          </a:p>
        </p:txBody>
      </p:sp>
      <p:sp>
        <p:nvSpPr>
          <p:cNvPr id="154" name="metric label"/>
          <p:cNvSpPr txBox="1"/>
          <p:nvPr/>
        </p:nvSpPr>
        <p:spPr>
          <a:xfrm>
            <a:off x="1417320" y="4315968"/>
            <a:ext cx="1627632" cy="603504"/>
          </a:xfrm>
          <a:prstGeom prst="rect">
            <a:avLst/>
          </a:prstGeom>
          <a:noFill/>
        </p:spPr>
        <p:txBody>
          <a:bodyPr wrap="square" anchor="ctr" lIns="36576" rIns="36576" tIns="18288" bIns="18288">
            <a:spAutoFit/>
          </a:bodyPr>
          <a:lstStyle/>
          <a:p>
            <a:pPr algn="l">
              <a:spcAft>
                <a:spcPts val="400"/>
              </a:spcAft>
            </a:pPr>
            <a:r>
              <a:rPr sz="1050" b="0">
                <a:solidFill>
                  <a:srgbClr val="5F6368"/>
                </a:solidFill>
                <a:latin typeface="Google Sans Flex"/>
              </a:rPr>
              <a:t>Avg@5 over BARO, public software benchmark (RCAEval)</a:t>
            </a:r>
          </a:p>
        </p:txBody>
      </p:sp>
      <p:sp>
        <p:nvSpPr>
          <p:cNvPr id="155" name="metric card"/>
          <p:cNvSpPr/>
          <p:nvPr/>
        </p:nvSpPr>
        <p:spPr>
          <a:xfrm>
            <a:off x="3172968" y="4315968"/>
            <a:ext cx="2788920" cy="60350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metric number"/>
          <p:cNvSpPr txBox="1"/>
          <p:nvPr/>
        </p:nvSpPr>
        <p:spPr>
          <a:xfrm>
            <a:off x="3218687" y="4315968"/>
            <a:ext cx="1097280" cy="603504"/>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32%</a:t>
            </a:r>
          </a:p>
        </p:txBody>
      </p:sp>
      <p:sp>
        <p:nvSpPr>
          <p:cNvPr id="157" name="metric label"/>
          <p:cNvSpPr txBox="1"/>
          <p:nvPr/>
        </p:nvSpPr>
        <p:spPr>
          <a:xfrm>
            <a:off x="4315968" y="4315968"/>
            <a:ext cx="1627632" cy="603504"/>
          </a:xfrm>
          <a:prstGeom prst="rect">
            <a:avLst/>
          </a:prstGeom>
          <a:noFill/>
        </p:spPr>
        <p:txBody>
          <a:bodyPr wrap="square" anchor="ctr" lIns="36576" rIns="36576" tIns="18288" bIns="18288">
            <a:spAutoFit/>
          </a:bodyPr>
          <a:lstStyle/>
          <a:p>
            <a:pPr algn="l">
              <a:spcAft>
                <a:spcPts val="400"/>
              </a:spcAft>
            </a:pPr>
            <a:r>
              <a:rPr sz="1050" b="0">
                <a:solidFill>
                  <a:srgbClr val="5F6368"/>
                </a:solidFill>
                <a:latin typeface="Google Sans Flex"/>
              </a:rPr>
              <a:t>of 465 benchmark incidents (RCAEval) run alone</a:t>
            </a:r>
          </a:p>
        </p:txBody>
      </p:sp>
      <p:sp>
        <p:nvSpPr>
          <p:cNvPr id="158" name="metric card"/>
          <p:cNvSpPr/>
          <p:nvPr/>
        </p:nvSpPr>
        <p:spPr>
          <a:xfrm>
            <a:off x="6071616" y="4315968"/>
            <a:ext cx="2788920" cy="60350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metric number"/>
          <p:cNvSpPr txBox="1"/>
          <p:nvPr/>
        </p:nvSpPr>
        <p:spPr>
          <a:xfrm>
            <a:off x="6117336" y="4315968"/>
            <a:ext cx="1097280" cy="603504"/>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~30 s</a:t>
            </a:r>
          </a:p>
        </p:txBody>
      </p:sp>
      <p:sp>
        <p:nvSpPr>
          <p:cNvPr id="160" name="metric label"/>
          <p:cNvSpPr txBox="1"/>
          <p:nvPr/>
        </p:nvSpPr>
        <p:spPr>
          <a:xfrm>
            <a:off x="7214616" y="4315968"/>
            <a:ext cx="1627632" cy="603504"/>
          </a:xfrm>
          <a:prstGeom prst="rect">
            <a:avLst/>
          </a:prstGeom>
          <a:noFill/>
        </p:spPr>
        <p:txBody>
          <a:bodyPr wrap="square" anchor="ctr" lIns="36576" rIns="36576" tIns="18288" bIns="18288">
            <a:spAutoFit/>
          </a:bodyPr>
          <a:lstStyle/>
          <a:p>
            <a:pPr algn="l">
              <a:spcAft>
                <a:spcPts val="400"/>
              </a:spcAft>
            </a:pPr>
            <a:r>
              <a:rPr sz="1050" b="0">
                <a:solidFill>
                  <a:srgbClr val="5F6368"/>
                </a:solidFill>
                <a:latin typeface="Google Sans Flex"/>
              </a:rPr>
              <a:t>failed station to scored plan, median of 7 local runs</a:t>
            </a:r>
          </a:p>
        </p:txBody>
      </p:sp>
      <p:sp>
        <p:nvSpPr>
          <p:cNvPr id="161" name="runs on"/>
          <p:cNvSpPr txBox="1"/>
          <p:nvPr/>
        </p:nvSpPr>
        <p:spPr>
          <a:xfrm>
            <a:off x="274320" y="3959352"/>
            <a:ext cx="4114800" cy="256032"/>
          </a:xfrm>
          <a:prstGeom prst="rect">
            <a:avLst/>
          </a:prstGeom>
          <a:noFill/>
        </p:spPr>
        <p:txBody>
          <a:bodyPr wrap="square" anchor="t" lIns="36576" rIns="36576" tIns="18288" bIns="18288">
            <a:spAutoFit/>
          </a:bodyPr>
          <a:lstStyle/>
          <a:p>
            <a:pPr algn="l">
              <a:spcAft>
                <a:spcPts val="400"/>
              </a:spcAft>
            </a:pPr>
            <a:r>
              <a:rPr sz="1050" b="0">
                <a:solidFill>
                  <a:srgbClr val="5F6368"/>
                </a:solidFill>
                <a:latin typeface="Google Sans Flex"/>
              </a:rPr>
              <a:t>Runs on Cloud Run, Vertex AI and Firebase.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nology card"/>
          <p:cNvSpPr/>
          <p:nvPr/>
        </p:nvSpPr>
        <p:spPr>
          <a:xfrm>
            <a:off x="274320" y="1051560"/>
            <a:ext cx="4251960" cy="1527048"/>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chnology title"/>
          <p:cNvSpPr txBox="1"/>
          <p:nvPr/>
        </p:nvSpPr>
        <p:spPr>
          <a:xfrm>
            <a:off x="365760" y="1088136"/>
            <a:ext cx="402336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Google Cloud</a:t>
            </a:r>
          </a:p>
        </p:txBody>
      </p:sp>
      <p:sp>
        <p:nvSpPr>
          <p:cNvPr id="122" name="technology text"/>
          <p:cNvSpPr txBox="1"/>
          <p:nvPr/>
        </p:nvSpPr>
        <p:spPr>
          <a:xfrm>
            <a:off x="365760" y="1380743"/>
            <a:ext cx="4069080" cy="1188720"/>
          </a:xfrm>
          <a:prstGeom prst="rect">
            <a:avLst/>
          </a:prstGeom>
          <a:noFill/>
        </p:spPr>
        <p:txBody>
          <a:bodyPr wrap="square" anchor="t" lIns="36576" rIns="36576" tIns="18288" bIns="18288">
            <a:spAutoFit/>
          </a:bodyPr>
          <a:lstStyle/>
          <a:p>
            <a:pPr algn="l" marL="164592" indent="-164592">
              <a:spcAft>
                <a:spcPts val="200"/>
              </a:spcAft>
              <a:buChar char="•"/>
            </a:pPr>
            <a:r>
              <a:rPr sz="1200" b="0">
                <a:solidFill>
                  <a:srgbClr val="202124"/>
                </a:solidFill>
                <a:latin typeface="Google Sans Flex"/>
              </a:rPr>
              <a:t>Gemini on Vertex AI (Gemini 2.5 Flash and the flash-lite family)</a:t>
            </a:r>
          </a:p>
          <a:p>
            <a:pPr algn="l" marL="164592" indent="-164592">
              <a:spcAft>
                <a:spcPts val="200"/>
              </a:spcAft>
              <a:buChar char="•"/>
            </a:pPr>
            <a:r>
              <a:rPr sz="1200" b="0">
                <a:solidFill>
                  <a:srgbClr val="202124"/>
                </a:solidFill>
                <a:latin typeface="Google Sans Flex"/>
              </a:rPr>
              <a:t>Cloud Run, one always-on instance</a:t>
            </a:r>
          </a:p>
          <a:p>
            <a:pPr algn="l" marL="164592" indent="-164592">
              <a:spcAft>
                <a:spcPts val="200"/>
              </a:spcAft>
              <a:buChar char="•"/>
            </a:pPr>
            <a:r>
              <a:rPr sz="1200" b="0">
                <a:solidFill>
                  <a:srgbClr val="202124"/>
                </a:solidFill>
                <a:latin typeface="Google Sans Flex"/>
              </a:rPr>
              <a:t>Firebase Authentication (Google, email, guest)</a:t>
            </a:r>
          </a:p>
          <a:p>
            <a:pPr algn="l" marL="164592" indent="-164592">
              <a:spcAft>
                <a:spcPts val="200"/>
              </a:spcAft>
              <a:buChar char="•"/>
            </a:pPr>
            <a:r>
              <a:rPr sz="1200" b="0">
                <a:solidFill>
                  <a:srgbClr val="202124"/>
                </a:solidFill>
                <a:latin typeface="Google Sans Flex"/>
              </a:rPr>
              <a:t>Cloud Build and Artifact Registry</a:t>
            </a:r>
          </a:p>
        </p:txBody>
      </p:sp>
      <p:sp>
        <p:nvSpPr>
          <p:cNvPr id="123" name="technology card"/>
          <p:cNvSpPr/>
          <p:nvPr/>
        </p:nvSpPr>
        <p:spPr>
          <a:xfrm>
            <a:off x="4617720" y="1051560"/>
            <a:ext cx="4251960" cy="1527048"/>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chnology title"/>
          <p:cNvSpPr txBox="1"/>
          <p:nvPr/>
        </p:nvSpPr>
        <p:spPr>
          <a:xfrm>
            <a:off x="4709159" y="1088136"/>
            <a:ext cx="402336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Agents and safety</a:t>
            </a:r>
          </a:p>
        </p:txBody>
      </p:sp>
      <p:sp>
        <p:nvSpPr>
          <p:cNvPr id="125" name="technology text"/>
          <p:cNvSpPr txBox="1"/>
          <p:nvPr/>
        </p:nvSpPr>
        <p:spPr>
          <a:xfrm>
            <a:off x="4709159" y="1380743"/>
            <a:ext cx="4069080" cy="1188720"/>
          </a:xfrm>
          <a:prstGeom prst="rect">
            <a:avLst/>
          </a:prstGeom>
          <a:noFill/>
        </p:spPr>
        <p:txBody>
          <a:bodyPr wrap="square" anchor="t" lIns="36576" rIns="36576" tIns="18288" bIns="18288">
            <a:spAutoFit/>
          </a:bodyPr>
          <a:lstStyle/>
          <a:p>
            <a:pPr algn="l" marL="164592" indent="-164592">
              <a:spcAft>
                <a:spcPts val="200"/>
              </a:spcAft>
              <a:buChar char="•"/>
            </a:pPr>
            <a:r>
              <a:rPr sz="1200" b="0">
                <a:solidFill>
                  <a:srgbClr val="202124"/>
                </a:solidFill>
                <a:latin typeface="Google Sans Flex"/>
              </a:rPr>
              <a:t>Foreman agent runner, Gemini function calling</a:t>
            </a:r>
          </a:p>
          <a:p>
            <a:pPr algn="l" marL="164592" indent="-164592">
              <a:spcAft>
                <a:spcPts val="200"/>
              </a:spcAft>
              <a:buChar char="•"/>
            </a:pPr>
            <a:r>
              <a:rPr sz="1200" b="0">
                <a:solidFill>
                  <a:srgbClr val="202124"/>
                </a:solidFill>
                <a:latin typeface="Google Sans Flex"/>
              </a:rPr>
              <a:t>Cedar policy language, default deny</a:t>
            </a:r>
          </a:p>
          <a:p>
            <a:pPr algn="l" marL="164592" indent="-164592">
              <a:spcAft>
                <a:spcPts val="200"/>
              </a:spcAft>
              <a:buChar char="•"/>
            </a:pPr>
            <a:r>
              <a:rPr sz="1200" b="0">
                <a:solidFill>
                  <a:srgbClr val="202124"/>
                </a:solidFill>
                <a:latin typeface="Google Sans Flex"/>
              </a:rPr>
              <a:t>Model Context Protocol (hub and client)</a:t>
            </a:r>
          </a:p>
          <a:p>
            <a:pPr algn="l" marL="164592" indent="-164592">
              <a:spcAft>
                <a:spcPts val="200"/>
              </a:spcAft>
              <a:buChar char="•"/>
            </a:pPr>
            <a:r>
              <a:rPr sz="1200" b="0">
                <a:solidFill>
                  <a:srgbClr val="202124"/>
                </a:solidFill>
                <a:latin typeface="Google Sans Flex"/>
              </a:rPr>
              <a:t>Rule-driven Warden and Sentinel</a:t>
            </a:r>
          </a:p>
        </p:txBody>
      </p:sp>
      <p:sp>
        <p:nvSpPr>
          <p:cNvPr id="126" name="technology card"/>
          <p:cNvSpPr/>
          <p:nvPr/>
        </p:nvSpPr>
        <p:spPr>
          <a:xfrm>
            <a:off x="274320" y="2651760"/>
            <a:ext cx="4251960" cy="1527048"/>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chnology title"/>
          <p:cNvSpPr txBox="1"/>
          <p:nvPr/>
        </p:nvSpPr>
        <p:spPr>
          <a:xfrm>
            <a:off x="365760" y="2688336"/>
            <a:ext cx="402336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Data and connectors</a:t>
            </a:r>
          </a:p>
        </p:txBody>
      </p:sp>
      <p:sp>
        <p:nvSpPr>
          <p:cNvPr id="128" name="technology text"/>
          <p:cNvSpPr txBox="1"/>
          <p:nvPr/>
        </p:nvSpPr>
        <p:spPr>
          <a:xfrm>
            <a:off x="365760" y="2980944"/>
            <a:ext cx="4069080" cy="1188720"/>
          </a:xfrm>
          <a:prstGeom prst="rect">
            <a:avLst/>
          </a:prstGeom>
          <a:noFill/>
        </p:spPr>
        <p:txBody>
          <a:bodyPr wrap="square" anchor="t" lIns="36576" rIns="36576" tIns="18288" bIns="18288">
            <a:spAutoFit/>
          </a:bodyPr>
          <a:lstStyle/>
          <a:p>
            <a:pPr algn="l" marL="164592" indent="-164592">
              <a:spcAft>
                <a:spcPts val="200"/>
              </a:spcAft>
              <a:buChar char="•"/>
            </a:pPr>
            <a:r>
              <a:rPr sz="1200" b="0">
                <a:solidFill>
                  <a:srgbClr val="202124"/>
                </a:solidFill>
                <a:latin typeface="Google Sans Flex"/>
              </a:rPr>
              <a:t>DuckDB lake, dlt loaders</a:t>
            </a:r>
          </a:p>
          <a:p>
            <a:pPr algn="l" marL="164592" indent="-164592">
              <a:spcAft>
                <a:spcPts val="200"/>
              </a:spcAft>
              <a:buChar char="•"/>
            </a:pPr>
            <a:r>
              <a:rPr sz="1200" b="0">
                <a:solidFill>
                  <a:srgbClr val="202124"/>
                </a:solidFill>
                <a:latin typeface="Google Sans Flex"/>
              </a:rPr>
              <a:t>SQLAlchemy: PostgreSQL, MySQL, SQL Server, Oracle</a:t>
            </a:r>
          </a:p>
          <a:p>
            <a:pPr algn="l" marL="164592" indent="-164592">
              <a:spcAft>
                <a:spcPts val="200"/>
              </a:spcAft>
              <a:buChar char="•"/>
            </a:pPr>
            <a:r>
              <a:rPr sz="1200" b="0">
                <a:solidFill>
                  <a:srgbClr val="202124"/>
                </a:solidFill>
                <a:latin typeface="Google Sans Flex"/>
              </a:rPr>
              <a:t>pymongo, MQTT, Kafka, OPC UA (asyncua)</a:t>
            </a:r>
          </a:p>
          <a:p>
            <a:pPr algn="l" marL="164592" indent="-164592">
              <a:spcAft>
                <a:spcPts val="200"/>
              </a:spcAft>
              <a:buChar char="•"/>
            </a:pPr>
            <a:r>
              <a:rPr sz="1200" b="0">
                <a:solidFill>
                  <a:srgbClr val="202124"/>
                </a:solidFill>
                <a:latin typeface="Google Sans Flex"/>
              </a:rPr>
              <a:t>Encrypted vault for passwords</a:t>
            </a:r>
          </a:p>
        </p:txBody>
      </p:sp>
      <p:sp>
        <p:nvSpPr>
          <p:cNvPr id="129" name="technology card"/>
          <p:cNvSpPr/>
          <p:nvPr/>
        </p:nvSpPr>
        <p:spPr>
          <a:xfrm>
            <a:off x="4617720" y="2651760"/>
            <a:ext cx="4251960" cy="1527048"/>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chnology title"/>
          <p:cNvSpPr txBox="1"/>
          <p:nvPr/>
        </p:nvSpPr>
        <p:spPr>
          <a:xfrm>
            <a:off x="4709159" y="2688336"/>
            <a:ext cx="402336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Web</a:t>
            </a:r>
          </a:p>
        </p:txBody>
      </p:sp>
      <p:sp>
        <p:nvSpPr>
          <p:cNvPr id="131" name="technology text"/>
          <p:cNvSpPr txBox="1"/>
          <p:nvPr/>
        </p:nvSpPr>
        <p:spPr>
          <a:xfrm>
            <a:off x="4709159" y="2980944"/>
            <a:ext cx="4069080" cy="1188720"/>
          </a:xfrm>
          <a:prstGeom prst="rect">
            <a:avLst/>
          </a:prstGeom>
          <a:noFill/>
        </p:spPr>
        <p:txBody>
          <a:bodyPr wrap="square" anchor="t" lIns="36576" rIns="36576" tIns="18288" bIns="18288">
            <a:spAutoFit/>
          </a:bodyPr>
          <a:lstStyle/>
          <a:p>
            <a:pPr algn="l" marL="164592" indent="-164592">
              <a:spcAft>
                <a:spcPts val="200"/>
              </a:spcAft>
              <a:buChar char="•"/>
            </a:pPr>
            <a:r>
              <a:rPr sz="1200" b="0">
                <a:solidFill>
                  <a:srgbClr val="202124"/>
                </a:solidFill>
                <a:latin typeface="Google Sans Flex"/>
              </a:rPr>
              <a:t>Next.js 16 and React 19</a:t>
            </a:r>
          </a:p>
          <a:p>
            <a:pPr algn="l" marL="164592" indent="-164592">
              <a:spcAft>
                <a:spcPts val="200"/>
              </a:spcAft>
              <a:buChar char="•"/>
            </a:pPr>
            <a:r>
              <a:rPr sz="1200" b="0">
                <a:solidFill>
                  <a:srgbClr val="202124"/>
                </a:solidFill>
                <a:latin typeface="Google Sans Flex"/>
              </a:rPr>
              <a:t>2D and 3D floor-plan viewer</a:t>
            </a:r>
          </a:p>
          <a:p>
            <a:pPr algn="l" marL="164592" indent="-164592">
              <a:spcAft>
                <a:spcPts val="200"/>
              </a:spcAft>
              <a:buChar char="•"/>
            </a:pPr>
            <a:r>
              <a:rPr sz="1200" b="0">
                <a:solidFill>
                  <a:srgbClr val="202124"/>
                </a:solidFill>
                <a:latin typeface="Google Sans Flex"/>
              </a:rPr>
              <a:t>three.js, React Flow</a:t>
            </a:r>
          </a:p>
          <a:p>
            <a:pPr algn="l" marL="164592" indent="-164592">
              <a:spcAft>
                <a:spcPts val="200"/>
              </a:spcAft>
              <a:buChar char="•"/>
            </a:pPr>
            <a:r>
              <a:rPr sz="1200" b="0">
                <a:solidFill>
                  <a:srgbClr val="202124"/>
                </a:solidFill>
                <a:latin typeface="Google Sans Flex"/>
              </a:rPr>
              <a:t>FastAPI backend</a:t>
            </a:r>
          </a:p>
        </p:txBody>
      </p:sp>
      <p:sp>
        <p:nvSpPr>
          <p:cNvPr id="132" name="takeaway"/>
          <p:cNvSpPr/>
          <p:nvPr/>
        </p:nvSpPr>
        <p:spPr>
          <a:xfrm>
            <a:off x="274320" y="4315968"/>
            <a:ext cx="8595360" cy="621792"/>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akeaway text"/>
          <p:cNvSpPr txBox="1"/>
          <p:nvPr/>
        </p:nvSpPr>
        <p:spPr>
          <a:xfrm>
            <a:off x="411480" y="4315968"/>
            <a:ext cx="8321040" cy="621792"/>
          </a:xfrm>
          <a:prstGeom prst="rect">
            <a:avLst/>
          </a:prstGeom>
          <a:noFill/>
        </p:spPr>
        <p:txBody>
          <a:bodyPr wrap="square" anchor="ctr" lIns="36576" rIns="36576" tIns="18288" bIns="18288">
            <a:spAutoFit/>
          </a:bodyPr>
          <a:lstStyle/>
          <a:p>
            <a:pPr algn="l">
              <a:spcAft>
                <a:spcPts val="400"/>
              </a:spcAft>
            </a:pPr>
            <a:r>
              <a:rPr sz="1200" b="1">
                <a:solidFill>
                  <a:srgbClr val="1A73E8"/>
                </a:solidFill>
                <a:latin typeface="Google Sans Flex SemiBold"/>
              </a:rPr>
              <a:t>Gemini is called through one gateway: a daily cap, model rotation when a model is busy, recorded answers as a fallback, and a visible notice when Gemini is under load.</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cost table"/>
          <p:cNvGraphicFramePr>
            <a:graphicFrameLocks noGrp="1"/>
          </p:cNvGraphicFramePr>
          <p:nvPr/>
        </p:nvGraphicFramePr>
        <p:xfrm>
          <a:off x="274320" y="1024128"/>
          <a:ext cx="8595360" cy="3456432"/>
        </p:xfrm>
        <a:graphic>
          <a:graphicData uri="http://schemas.openxmlformats.org/drawingml/2006/table">
            <a:tbl>
              <a:tblPr firstRow="1" bandRow="1">
                <a:tableStyleId>{5C22544A-7EE6-4342-B048-85BDC9FD1C3A}</a:tableStyleId>
              </a:tblPr>
              <a:tblGrid>
                <a:gridCol w="1600200"/>
                <a:gridCol w="4160520"/>
                <a:gridCol w="1234440"/>
                <a:gridCol w="1600200"/>
              </a:tblGrid>
              <a:tr h="493776">
                <a:tc>
                  <a:txBody>
                    <a:bodyPr/>
                    <a:lstStyle/>
                    <a:p>
                      <a:pPr algn="l"/>
                      <a:r>
                        <a:rPr sz="1200" b="1">
                          <a:solidFill>
                            <a:srgbClr val="FFFFFF"/>
                          </a:solidFill>
                          <a:latin typeface="Google Sans Flex SemiBold"/>
                        </a:rPr>
                        <a:t>Item</a:t>
                      </a:r>
                    </a:p>
                  </a:txBody>
                  <a:tcPr marL="45720" marR="45720" marT="18288" marB="18288">
                    <a:solidFill>
                      <a:srgbClr val="1A73E8"/>
                    </a:solidFill>
                  </a:tcPr>
                </a:tc>
                <a:tc>
                  <a:txBody>
                    <a:bodyPr/>
                    <a:lstStyle/>
                    <a:p>
                      <a:pPr algn="ctr"/>
                      <a:r>
                        <a:rPr sz="1200" b="1">
                          <a:solidFill>
                            <a:srgbClr val="FFFFFF"/>
                          </a:solidFill>
                          <a:latin typeface="Google Sans Flex SemiBold"/>
                        </a:rPr>
                        <a:t>What it covers</a:t>
                      </a:r>
                    </a:p>
                  </a:txBody>
                  <a:tcPr marL="45720" marR="45720" marT="18288" marB="18288">
                    <a:solidFill>
                      <a:srgbClr val="1A73E8"/>
                    </a:solidFill>
                  </a:tcPr>
                </a:tc>
                <a:tc>
                  <a:txBody>
                    <a:bodyPr/>
                    <a:lstStyle/>
                    <a:p>
                      <a:pPr algn="ctr"/>
                      <a:r>
                        <a:rPr sz="1200" b="1">
                          <a:solidFill>
                            <a:srgbClr val="FFFFFF"/>
                          </a:solidFill>
                          <a:latin typeface="Google Sans Flex SemiBold"/>
                        </a:rPr>
                        <a:t>Pilot, 1 plant</a:t>
                      </a:r>
                    </a:p>
                  </a:txBody>
                  <a:tcPr marL="45720" marR="45720" marT="18288" marB="18288">
                    <a:solidFill>
                      <a:srgbClr val="1A73E8"/>
                    </a:solidFill>
                  </a:tcPr>
                </a:tc>
                <a:tc>
                  <a:txBody>
                    <a:bodyPr/>
                    <a:lstStyle/>
                    <a:p>
                      <a:pPr algn="ctr"/>
                      <a:r>
                        <a:rPr sz="1200" b="1">
                          <a:solidFill>
                            <a:srgbClr val="FFFFFF"/>
                          </a:solidFill>
                          <a:latin typeface="Google Sans Flex SemiBold"/>
                        </a:rPr>
                        <a:t>Production, 10 plants</a:t>
                      </a:r>
                    </a:p>
                  </a:txBody>
                  <a:tcPr marL="45720" marR="45720" marT="18288" marB="18288">
                    <a:solidFill>
                      <a:srgbClr val="1A73E8"/>
                    </a:solidFill>
                  </a:tcPr>
                </a:tc>
              </a:tr>
              <a:tr h="493776">
                <a:tc>
                  <a:txBody>
                    <a:bodyPr/>
                    <a:lstStyle/>
                    <a:p>
                      <a:pPr algn="l"/>
                      <a:r>
                        <a:rPr sz="1200" b="0">
                          <a:solidFill>
                            <a:srgbClr val="202124"/>
                          </a:solidFill>
                          <a:latin typeface="Google Sans Flex"/>
                        </a:rPr>
                        <a:t>Cloud Run</a:t>
                      </a:r>
                    </a:p>
                  </a:txBody>
                  <a:tcPr marL="45720" marR="45720" marT="18288" marB="18288">
                    <a:solidFill>
                      <a:srgbClr val="FFFFFF"/>
                    </a:solidFill>
                  </a:tcPr>
                </a:tc>
                <a:tc>
                  <a:txBody>
                    <a:bodyPr/>
                    <a:lstStyle/>
                    <a:p>
                      <a:pPr algn="ctr"/>
                      <a:r>
                        <a:rPr sz="1200" b="0">
                          <a:solidFill>
                            <a:srgbClr val="202124"/>
                          </a:solidFill>
                          <a:latin typeface="Google Sans Flex"/>
                        </a:rPr>
                        <a:t>Web app and API. Today: 1 instance. Production: 3 instances in different zones.</a:t>
                      </a:r>
                    </a:p>
                  </a:txBody>
                  <a:tcPr marL="45720" marR="45720" marT="18288" marB="18288">
                    <a:solidFill>
                      <a:srgbClr val="FFFFFF"/>
                    </a:solidFill>
                  </a:tcPr>
                </a:tc>
                <a:tc>
                  <a:txBody>
                    <a:bodyPr/>
                    <a:lstStyle/>
                    <a:p>
                      <a:pPr algn="ctr"/>
                      <a:r>
                        <a:rPr sz="1200" b="0">
                          <a:solidFill>
                            <a:srgbClr val="202124"/>
                          </a:solidFill>
                          <a:latin typeface="Google Sans Flex"/>
                        </a:rPr>
                        <a:t>~$120</a:t>
                      </a:r>
                    </a:p>
                  </a:txBody>
                  <a:tcPr marL="45720" marR="45720" marT="18288" marB="18288">
                    <a:solidFill>
                      <a:srgbClr val="FFFFFF"/>
                    </a:solidFill>
                  </a:tcPr>
                </a:tc>
                <a:tc>
                  <a:txBody>
                    <a:bodyPr/>
                    <a:lstStyle/>
                    <a:p>
                      <a:pPr algn="ctr"/>
                      <a:r>
                        <a:rPr sz="1200" b="0">
                          <a:solidFill>
                            <a:srgbClr val="202124"/>
                          </a:solidFill>
                          <a:latin typeface="Google Sans Flex"/>
                        </a:rPr>
                        <a:t>~$380</a:t>
                      </a:r>
                    </a:p>
                  </a:txBody>
                  <a:tcPr marL="45720" marR="45720" marT="18288" marB="18288">
                    <a:solidFill>
                      <a:srgbClr val="FFFFFF"/>
                    </a:solidFill>
                  </a:tcPr>
                </a:tc>
              </a:tr>
              <a:tr h="493776">
                <a:tc>
                  <a:txBody>
                    <a:bodyPr/>
                    <a:lstStyle/>
                    <a:p>
                      <a:pPr algn="l"/>
                      <a:r>
                        <a:rPr sz="1200" b="0">
                          <a:solidFill>
                            <a:srgbClr val="202124"/>
                          </a:solidFill>
                          <a:latin typeface="Google Sans Flex"/>
                        </a:rPr>
                        <a:t>Gemini on Vertex AI</a:t>
                      </a:r>
                    </a:p>
                  </a:txBody>
                  <a:tcPr marL="45720" marR="45720" marT="18288" marB="18288">
                    <a:solidFill>
                      <a:srgbClr val="F1F3F4"/>
                    </a:solidFill>
                  </a:tcPr>
                </a:tc>
                <a:tc>
                  <a:txBody>
                    <a:bodyPr/>
                    <a:lstStyle/>
                    <a:p>
                      <a:pPr algn="ctr"/>
                      <a:r>
                        <a:rPr sz="1200" b="0">
                          <a:solidFill>
                            <a:srgbClr val="202124"/>
                          </a:solidFill>
                          <a:latin typeface="Google Sans Flex"/>
                        </a:rPr>
                        <a:t>About $0.02 for each incident. 20 incidents a day today, 200 in production, plus onboarding.</a:t>
                      </a:r>
                    </a:p>
                  </a:txBody>
                  <a:tcPr marL="45720" marR="45720" marT="18288" marB="18288">
                    <a:solidFill>
                      <a:srgbClr val="F1F3F4"/>
                    </a:solidFill>
                  </a:tcPr>
                </a:tc>
                <a:tc>
                  <a:txBody>
                    <a:bodyPr/>
                    <a:lstStyle/>
                    <a:p>
                      <a:pPr algn="ctr"/>
                      <a:r>
                        <a:rPr sz="1200" b="0">
                          <a:solidFill>
                            <a:srgbClr val="202124"/>
                          </a:solidFill>
                          <a:latin typeface="Google Sans Flex"/>
                        </a:rPr>
                        <a:t>~$11</a:t>
                      </a:r>
                    </a:p>
                  </a:txBody>
                  <a:tcPr marL="45720" marR="45720" marT="18288" marB="18288">
                    <a:solidFill>
                      <a:srgbClr val="F1F3F4"/>
                    </a:solidFill>
                  </a:tcPr>
                </a:tc>
                <a:tc>
                  <a:txBody>
                    <a:bodyPr/>
                    <a:lstStyle/>
                    <a:p>
                      <a:pPr algn="ctr"/>
                      <a:r>
                        <a:rPr sz="1200" b="0">
                          <a:solidFill>
                            <a:srgbClr val="202124"/>
                          </a:solidFill>
                          <a:latin typeface="Google Sans Flex"/>
                        </a:rPr>
                        <a:t>~$140</a:t>
                      </a:r>
                    </a:p>
                  </a:txBody>
                  <a:tcPr marL="45720" marR="45720" marT="18288" marB="18288">
                    <a:solidFill>
                      <a:srgbClr val="F1F3F4"/>
                    </a:solidFill>
                  </a:tcPr>
                </a:tc>
              </a:tr>
              <a:tr h="493776">
                <a:tc>
                  <a:txBody>
                    <a:bodyPr/>
                    <a:lstStyle/>
                    <a:p>
                      <a:pPr algn="l"/>
                      <a:r>
                        <a:rPr sz="1200" b="0">
                          <a:solidFill>
                            <a:srgbClr val="202124"/>
                          </a:solidFill>
                          <a:latin typeface="Google Sans Flex"/>
                        </a:rPr>
                        <a:t>Database</a:t>
                      </a:r>
                    </a:p>
                  </a:txBody>
                  <a:tcPr marL="45720" marR="45720" marT="18288" marB="18288">
                    <a:solidFill>
                      <a:srgbClr val="FFFFFF"/>
                    </a:solidFill>
                  </a:tcPr>
                </a:tc>
                <a:tc>
                  <a:txBody>
                    <a:bodyPr/>
                    <a:lstStyle/>
                    <a:p>
                      <a:pPr algn="ctr"/>
                      <a:r>
                        <a:rPr sz="1200" b="0">
                          <a:solidFill>
                            <a:srgbClr val="202124"/>
                          </a:solidFill>
                          <a:latin typeface="Google Sans Flex"/>
                        </a:rPr>
                        <a:t>Cloud SQL with high availability: 4 vCPU, 16 GB, 200 GB. Today: files and DuckDB in the container.</a:t>
                      </a:r>
                    </a:p>
                  </a:txBody>
                  <a:tcPr marL="45720" marR="45720" marT="18288" marB="18288">
                    <a:solidFill>
                      <a:srgbClr val="FFFFFF"/>
                    </a:solidFill>
                  </a:tcPr>
                </a:tc>
                <a:tc>
                  <a:txBody>
                    <a:bodyPr/>
                    <a:lstStyle/>
                    <a:p>
                      <a:pPr algn="ctr"/>
                      <a:r>
                        <a:rPr sz="1200" b="0">
                          <a:solidFill>
                            <a:srgbClr val="202124"/>
                          </a:solidFill>
                          <a:latin typeface="Google Sans Flex"/>
                        </a:rPr>
                        <a:t>$0</a:t>
                      </a:r>
                    </a:p>
                  </a:txBody>
                  <a:tcPr marL="45720" marR="45720" marT="18288" marB="18288">
                    <a:solidFill>
                      <a:srgbClr val="FFFFFF"/>
                    </a:solidFill>
                  </a:tcPr>
                </a:tc>
                <a:tc>
                  <a:txBody>
                    <a:bodyPr/>
                    <a:lstStyle/>
                    <a:p>
                      <a:pPr algn="ctr"/>
                      <a:r>
                        <a:rPr sz="1200" b="0">
                          <a:solidFill>
                            <a:srgbClr val="202124"/>
                          </a:solidFill>
                          <a:latin typeface="Google Sans Flex"/>
                        </a:rPr>
                        <a:t>~$500</a:t>
                      </a:r>
                    </a:p>
                  </a:txBody>
                  <a:tcPr marL="45720" marR="45720" marT="18288" marB="18288">
                    <a:solidFill>
                      <a:srgbClr val="FFFFFF"/>
                    </a:solidFill>
                  </a:tcPr>
                </a:tc>
              </a:tr>
              <a:tr h="493776">
                <a:tc>
                  <a:txBody>
                    <a:bodyPr/>
                    <a:lstStyle/>
                    <a:p>
                      <a:pPr algn="l"/>
                      <a:r>
                        <a:rPr sz="1200" b="0">
                          <a:solidFill>
                            <a:srgbClr val="202124"/>
                          </a:solidFill>
                          <a:latin typeface="Google Sans Flex"/>
                        </a:rPr>
                        <a:t>Network and security</a:t>
                      </a:r>
                    </a:p>
                  </a:txBody>
                  <a:tcPr marL="45720" marR="45720" marT="18288" marB="18288">
                    <a:solidFill>
                      <a:srgbClr val="F1F3F4"/>
                    </a:solidFill>
                  </a:tcPr>
                </a:tc>
                <a:tc>
                  <a:txBody>
                    <a:bodyPr/>
                    <a:lstStyle/>
                    <a:p>
                      <a:pPr algn="ctr"/>
                      <a:r>
                        <a:rPr sz="1200" b="0">
                          <a:solidFill>
                            <a:srgbClr val="202124"/>
                          </a:solidFill>
                          <a:latin typeface="Google Sans Flex"/>
                        </a:rPr>
                        <a:t>Load balancer, Cloud Armor, and VPN links to the plant networks.</a:t>
                      </a:r>
                    </a:p>
                  </a:txBody>
                  <a:tcPr marL="45720" marR="45720" marT="18288" marB="18288">
                    <a:solidFill>
                      <a:srgbClr val="F1F3F4"/>
                    </a:solidFill>
                  </a:tcPr>
                </a:tc>
                <a:tc>
                  <a:txBody>
                    <a:bodyPr/>
                    <a:lstStyle/>
                    <a:p>
                      <a:pPr algn="ctr"/>
                      <a:r>
                        <a:rPr sz="1200" b="0">
                          <a:solidFill>
                            <a:srgbClr val="202124"/>
                          </a:solidFill>
                          <a:latin typeface="Google Sans Flex"/>
                        </a:rPr>
                        <a:t>$0</a:t>
                      </a:r>
                    </a:p>
                  </a:txBody>
                  <a:tcPr marL="45720" marR="45720" marT="18288" marB="18288">
                    <a:solidFill>
                      <a:srgbClr val="F1F3F4"/>
                    </a:solidFill>
                  </a:tcPr>
                </a:tc>
                <a:tc>
                  <a:txBody>
                    <a:bodyPr/>
                    <a:lstStyle/>
                    <a:p>
                      <a:pPr algn="ctr"/>
                      <a:r>
                        <a:rPr sz="1200" b="0">
                          <a:solidFill>
                            <a:srgbClr val="202124"/>
                          </a:solidFill>
                          <a:latin typeface="Google Sans Flex"/>
                        </a:rPr>
                        <a:t>~$190</a:t>
                      </a:r>
                    </a:p>
                  </a:txBody>
                  <a:tcPr marL="45720" marR="45720" marT="18288" marB="18288">
                    <a:solidFill>
                      <a:srgbClr val="F1F3F4"/>
                    </a:solidFill>
                  </a:tcPr>
                </a:tc>
              </a:tr>
              <a:tr h="493776">
                <a:tc>
                  <a:txBody>
                    <a:bodyPr/>
                    <a:lstStyle/>
                    <a:p>
                      <a:pPr algn="l"/>
                      <a:r>
                        <a:rPr sz="1200" b="0">
                          <a:solidFill>
                            <a:srgbClr val="202124"/>
                          </a:solidFill>
                          <a:latin typeface="Google Sans Flex"/>
                        </a:rPr>
                        <a:t>Logs, storage, build</a:t>
                      </a:r>
                    </a:p>
                  </a:txBody>
                  <a:tcPr marL="45720" marR="45720" marT="18288" marB="18288">
                    <a:solidFill>
                      <a:srgbClr val="FFFFFF"/>
                    </a:solidFill>
                  </a:tcPr>
                </a:tc>
                <a:tc>
                  <a:txBody>
                    <a:bodyPr/>
                    <a:lstStyle/>
                    <a:p>
                      <a:pPr algn="ctr"/>
                      <a:r>
                        <a:rPr sz="1200" b="0">
                          <a:solidFill>
                            <a:srgbClr val="202124"/>
                          </a:solidFill>
                          <a:latin typeface="Google Sans Flex"/>
                        </a:rPr>
                        <a:t>Audit logs, monitoring, backups, secrets, and one build for each deploy.</a:t>
                      </a:r>
                    </a:p>
                  </a:txBody>
                  <a:tcPr marL="45720" marR="45720" marT="18288" marB="18288">
                    <a:solidFill>
                      <a:srgbClr val="FFFFFF"/>
                    </a:solidFill>
                  </a:tcPr>
                </a:tc>
                <a:tc>
                  <a:txBody>
                    <a:bodyPr/>
                    <a:lstStyle/>
                    <a:p>
                      <a:pPr algn="ctr"/>
                      <a:r>
                        <a:rPr sz="1200" b="0">
                          <a:solidFill>
                            <a:srgbClr val="202124"/>
                          </a:solidFill>
                          <a:latin typeface="Google Sans Flex"/>
                        </a:rPr>
                        <a:t>~$2</a:t>
                      </a:r>
                    </a:p>
                  </a:txBody>
                  <a:tcPr marL="45720" marR="45720" marT="18288" marB="18288">
                    <a:solidFill>
                      <a:srgbClr val="FFFFFF"/>
                    </a:solidFill>
                  </a:tcPr>
                </a:tc>
                <a:tc>
                  <a:txBody>
                    <a:bodyPr/>
                    <a:lstStyle/>
                    <a:p>
                      <a:pPr algn="ctr"/>
                      <a:r>
                        <a:rPr sz="1200" b="0">
                          <a:solidFill>
                            <a:srgbClr val="202124"/>
                          </a:solidFill>
                          <a:latin typeface="Google Sans Flex"/>
                        </a:rPr>
                        <a:t>~$85</a:t>
                      </a:r>
                    </a:p>
                  </a:txBody>
                  <a:tcPr marL="45720" marR="45720" marT="18288" marB="18288">
                    <a:solidFill>
                      <a:srgbClr val="FFFFFF"/>
                    </a:solidFill>
                  </a:tcPr>
                </a:tc>
              </a:tr>
              <a:tr h="493776">
                <a:tc>
                  <a:txBody>
                    <a:bodyPr/>
                    <a:lstStyle/>
                    <a:p>
                      <a:pPr algn="l"/>
                      <a:r>
                        <a:rPr sz="1200" b="1">
                          <a:solidFill>
                            <a:srgbClr val="1A73E8"/>
                          </a:solidFill>
                          <a:latin typeface="Google Sans Flex SemiBold"/>
                        </a:rPr>
                        <a:t>One month</a:t>
                      </a:r>
                    </a:p>
                  </a:txBody>
                  <a:tcPr marL="45720" marR="45720" marT="18288" marB="18288">
                    <a:solidFill>
                      <a:srgbClr val="F1F3F4"/>
                    </a:solidFill>
                  </a:tcPr>
                </a:tc>
                <a:tc>
                  <a:txBody>
                    <a:bodyPr/>
                    <a:lstStyle/>
                    <a:p>
                      <a:pPr algn="ctr"/>
                      <a:r>
                        <a:rPr sz="1200" b="1">
                          <a:solidFill>
                            <a:srgbClr val="1A73E8"/>
                          </a:solidFill>
                          <a:latin typeface="Google Sans Flex SemiBold"/>
                        </a:rPr>
                        <a:t>Production is about $130 for each plant.</a:t>
                      </a:r>
                    </a:p>
                  </a:txBody>
                  <a:tcPr marL="45720" marR="45720" marT="18288" marB="18288">
                    <a:solidFill>
                      <a:srgbClr val="F1F3F4"/>
                    </a:solidFill>
                  </a:tcPr>
                </a:tc>
                <a:tc>
                  <a:txBody>
                    <a:bodyPr/>
                    <a:lstStyle/>
                    <a:p>
                      <a:pPr algn="ctr"/>
                      <a:r>
                        <a:rPr sz="1200" b="1">
                          <a:solidFill>
                            <a:srgbClr val="1A73E8"/>
                          </a:solidFill>
                          <a:latin typeface="Google Sans Flex SemiBold"/>
                        </a:rPr>
                        <a:t>~$135</a:t>
                      </a:r>
                    </a:p>
                  </a:txBody>
                  <a:tcPr marL="45720" marR="45720" marT="18288" marB="18288">
                    <a:solidFill>
                      <a:srgbClr val="F1F3F4"/>
                    </a:solidFill>
                  </a:tcPr>
                </a:tc>
                <a:tc>
                  <a:txBody>
                    <a:bodyPr/>
                    <a:lstStyle/>
                    <a:p>
                      <a:pPr algn="ctr"/>
                      <a:r>
                        <a:rPr sz="1200" b="1">
                          <a:solidFill>
                            <a:srgbClr val="1A73E8"/>
                          </a:solidFill>
                          <a:latin typeface="Google Sans Flex SemiBold"/>
                        </a:rPr>
                        <a:t>~$1,300</a:t>
                      </a:r>
                    </a:p>
                  </a:txBody>
                  <a:tcPr marL="45720" marR="45720" marT="18288" marB="18288">
                    <a:solidFill>
                      <a:srgbClr val="F1F3F4"/>
                    </a:solidFill>
                  </a:tcPr>
                </a:tc>
              </a:tr>
            </a:tbl>
          </a:graphicData>
        </a:graphic>
      </p:graphicFrame>
      <p:sp>
        <p:nvSpPr>
          <p:cNvPr id="129" name="cost note"/>
          <p:cNvSpPr txBox="1"/>
          <p:nvPr/>
        </p:nvSpPr>
        <p:spPr>
          <a:xfrm>
            <a:off x="274320" y="4526280"/>
            <a:ext cx="8595360" cy="45720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Estimate at list prices, in US dollars. It leaves out people, a support plan and licences. Gemini: about 3,000 input and 500 output tokens for each call.</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Floor in 3D" descr="floor_3d.png"/>
          <p:cNvPicPr>
            <a:picLocks noChangeAspect="1"/>
          </p:cNvPicPr>
          <p:nvPr/>
        </p:nvPicPr>
        <p:blipFill>
          <a:blip r:embed="rId5"/>
          <a:stretch>
            <a:fillRect/>
          </a:stretch>
        </p:blipFill>
        <p:spPr>
          <a:xfrm>
            <a:off x="274320" y="1366787"/>
            <a:ext cx="4251960" cy="2387065"/>
          </a:xfrm>
          <a:prstGeom prst="rect">
            <a:avLst/>
          </a:prstGeom>
          <a:ln w="9525">
            <a:solidFill>
              <a:srgbClr val="DADCE0"/>
            </a:solidFill>
          </a:ln>
        </p:spPr>
      </p:pic>
      <p:sp>
        <p:nvSpPr>
          <p:cNvPr id="137" name="caption"/>
          <p:cNvSpPr txBox="1"/>
          <p:nvPr/>
        </p:nvSpPr>
        <p:spPr>
          <a:xfrm>
            <a:off x="274320" y="4069080"/>
            <a:ext cx="4251960" cy="36576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The same plant in 3D, with its data flows</a:t>
            </a:r>
          </a:p>
        </p:txBody>
      </p:sp>
      <p:pic>
        <p:nvPicPr>
          <p:cNvPr id="138" name="Floor in 2D" descr="floor_plan.png"/>
          <p:cNvPicPr>
            <a:picLocks noChangeAspect="1"/>
          </p:cNvPicPr>
          <p:nvPr/>
        </p:nvPicPr>
        <p:blipFill>
          <a:blip r:embed="rId6"/>
          <a:stretch>
            <a:fillRect/>
          </a:stretch>
        </p:blipFill>
        <p:spPr>
          <a:xfrm>
            <a:off x="4617720" y="1171200"/>
            <a:ext cx="4251960" cy="2778238"/>
          </a:xfrm>
          <a:prstGeom prst="rect">
            <a:avLst/>
          </a:prstGeom>
          <a:ln w="9525">
            <a:solidFill>
              <a:srgbClr val="DADCE0"/>
            </a:solidFill>
          </a:ln>
        </p:spPr>
      </p:pic>
      <p:sp>
        <p:nvSpPr>
          <p:cNvPr id="139" name="caption"/>
          <p:cNvSpPr txBox="1"/>
          <p:nvPr/>
        </p:nvSpPr>
        <p:spPr>
          <a:xfrm>
            <a:off x="4617720" y="4069080"/>
            <a:ext cx="4251960" cy="59436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The demo plant in 2D: data feeds, name tags and the status panel</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How the product performs</a:t>
            </a:r>
            <a:endParaRPr sz="1600">
              <a:latin typeface="Google Sans Flex Medium"/>
              <a:ea typeface="Google Sans Flex Medium"/>
              <a:cs typeface="Google Sans Flex Medium"/>
              <a:sym typeface="Google Sans Flex Medium"/>
            </a:endParaRPr>
          </a:p>
        </p:txBody>
      </p:sp>
      <p:sp>
        <p:nvSpPr>
          <p:cNvPr id="144" name="stat card"/>
          <p:cNvSpPr/>
          <p:nvPr/>
        </p:nvSpPr>
        <p:spPr>
          <a:xfrm>
            <a:off x="274320" y="1051560"/>
            <a:ext cx="1920240" cy="12344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stat number"/>
          <p:cNvSpPr txBox="1"/>
          <p:nvPr/>
        </p:nvSpPr>
        <p:spPr>
          <a:xfrm>
            <a:off x="274320" y="1124712"/>
            <a:ext cx="192024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~30 s</a:t>
            </a:r>
          </a:p>
        </p:txBody>
      </p:sp>
      <p:sp>
        <p:nvSpPr>
          <p:cNvPr id="146" name="stat label"/>
          <p:cNvSpPr txBox="1"/>
          <p:nvPr/>
        </p:nvSpPr>
        <p:spPr>
          <a:xfrm>
            <a:off x="320040" y="1655064"/>
            <a:ext cx="1828800" cy="59436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failed station to scored plan, median of 7 local runs</a:t>
            </a:r>
          </a:p>
        </p:txBody>
      </p:sp>
      <p:sp>
        <p:nvSpPr>
          <p:cNvPr id="147" name="stat card"/>
          <p:cNvSpPr/>
          <p:nvPr/>
        </p:nvSpPr>
        <p:spPr>
          <a:xfrm>
            <a:off x="2286000" y="1051560"/>
            <a:ext cx="1920240" cy="12344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stat number"/>
          <p:cNvSpPr txBox="1"/>
          <p:nvPr/>
        </p:nvSpPr>
        <p:spPr>
          <a:xfrm>
            <a:off x="2286000" y="1124712"/>
            <a:ext cx="192024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~9</a:t>
            </a:r>
          </a:p>
        </p:txBody>
      </p:sp>
      <p:sp>
        <p:nvSpPr>
          <p:cNvPr id="149" name="stat label"/>
          <p:cNvSpPr txBox="1"/>
          <p:nvPr/>
        </p:nvSpPr>
        <p:spPr>
          <a:xfrm>
            <a:off x="2331720" y="1655064"/>
            <a:ext cx="1828800" cy="59436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Gemini calls per incident, one measured run</a:t>
            </a:r>
          </a:p>
        </p:txBody>
      </p:sp>
      <p:sp>
        <p:nvSpPr>
          <p:cNvPr id="150" name="stat card"/>
          <p:cNvSpPr/>
          <p:nvPr/>
        </p:nvSpPr>
        <p:spPr>
          <a:xfrm>
            <a:off x="4297680" y="1051560"/>
            <a:ext cx="2743200" cy="12344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stat number"/>
          <p:cNvSpPr txBox="1"/>
          <p:nvPr/>
        </p:nvSpPr>
        <p:spPr>
          <a:xfrm>
            <a:off x="4297680" y="1124712"/>
            <a:ext cx="274320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12 / 4 / 0</a:t>
            </a:r>
          </a:p>
        </p:txBody>
      </p:sp>
      <p:sp>
        <p:nvSpPr>
          <p:cNvPr id="152" name="stat label"/>
          <p:cNvSpPr txBox="1"/>
          <p:nvPr/>
        </p:nvSpPr>
        <p:spPr>
          <a:xfrm>
            <a:off x="4343400" y="1655064"/>
            <a:ext cx="2651760" cy="59436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actions run alone / sent for approval / blocked (16 actions, 7 demo incidents)</a:t>
            </a:r>
          </a:p>
        </p:txBody>
      </p:sp>
      <p:sp>
        <p:nvSpPr>
          <p:cNvPr id="153" name="stat card"/>
          <p:cNvSpPr/>
          <p:nvPr/>
        </p:nvSpPr>
        <p:spPr>
          <a:xfrm>
            <a:off x="7132320" y="1051560"/>
            <a:ext cx="1737360" cy="12344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stat number"/>
          <p:cNvSpPr txBox="1"/>
          <p:nvPr/>
        </p:nvSpPr>
        <p:spPr>
          <a:xfrm>
            <a:off x="7132320" y="1124712"/>
            <a:ext cx="1737360" cy="502920"/>
          </a:xfrm>
          <a:prstGeom prst="rect">
            <a:avLst/>
          </a:prstGeom>
          <a:noFill/>
        </p:spPr>
        <p:txBody>
          <a:bodyPr wrap="square" anchor="ctr" lIns="36576" rIns="36576" tIns="18288" bIns="18288">
            <a:spAutoFit/>
          </a:bodyPr>
          <a:lstStyle/>
          <a:p>
            <a:pPr algn="ctr">
              <a:spcAft>
                <a:spcPts val="400"/>
              </a:spcAft>
            </a:pPr>
            <a:r>
              <a:rPr sz="2400" b="1">
                <a:solidFill>
                  <a:srgbClr val="188038"/>
                </a:solidFill>
                <a:latin typeface="Google Sans Flex SemiBold"/>
              </a:rPr>
              <a:t>0.2 s</a:t>
            </a:r>
          </a:p>
        </p:txBody>
      </p:sp>
      <p:sp>
        <p:nvSpPr>
          <p:cNvPr id="155" name="stat label"/>
          <p:cNvSpPr txBox="1"/>
          <p:nvPr/>
        </p:nvSpPr>
        <p:spPr>
          <a:xfrm>
            <a:off x="7178040" y="1655064"/>
            <a:ext cx="1645919" cy="59436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a read-only MCP tool call, measured locally</a:t>
            </a:r>
          </a:p>
        </p:txBody>
      </p:sp>
      <p:sp>
        <p:nvSpPr>
          <p:cNvPr id="156" name="checks card"/>
          <p:cNvSpPr/>
          <p:nvPr/>
        </p:nvSpPr>
        <p:spPr>
          <a:xfrm>
            <a:off x="274320" y="2395728"/>
            <a:ext cx="4206240" cy="24688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checks text"/>
          <p:cNvSpPr txBox="1"/>
          <p:nvPr/>
        </p:nvSpPr>
        <p:spPr>
          <a:xfrm>
            <a:off x="365760" y="2432304"/>
            <a:ext cx="4023360" cy="2395728"/>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Checks that pass today</a:t>
            </a:r>
          </a:p>
          <a:p>
            <a:pPr algn="l" marL="164592" indent="-164592">
              <a:spcAft>
                <a:spcPts val="300"/>
              </a:spcAft>
              <a:buChar char="•"/>
            </a:pPr>
            <a:r>
              <a:rPr sz="1200" b="0">
                <a:solidFill>
                  <a:srgbClr val="202124"/>
                </a:solidFill>
                <a:latin typeface="Google Sans Flex"/>
              </a:rPr>
              <a:t>12 automated suites: policy, agents, Sentinel, probes, connectors, vault, MCP.</a:t>
            </a:r>
          </a:p>
          <a:p>
            <a:pPr algn="l" marL="164592" indent="-164592">
              <a:spcAft>
                <a:spcPts val="300"/>
              </a:spcAft>
              <a:buChar char="•"/>
            </a:pPr>
            <a:r>
              <a:rPr sz="1200" b="0">
                <a:solidFill>
                  <a:srgbClr val="202124"/>
                </a:solidFill>
                <a:latin typeface="Google Sans Flex"/>
              </a:rPr>
              <a:t>PostgreSQL, MQTT and MongoDB connected live, loading only what is new.</a:t>
            </a:r>
          </a:p>
          <a:p>
            <a:pPr algn="l" marL="164592" indent="-164592">
              <a:spcAft>
                <a:spcPts val="300"/>
              </a:spcAft>
              <a:buChar char="•"/>
            </a:pPr>
            <a:r>
              <a:rPr sz="1200" b="0">
                <a:solidFill>
                  <a:srgbClr val="202124"/>
                </a:solidFill>
                <a:latin typeface="Google Sans Flex"/>
              </a:rPr>
              <a:t>A remote MCP server: a read-only tool runs, an acting tool is denied.</a:t>
            </a:r>
          </a:p>
          <a:p>
            <a:pPr algn="l" marL="164592" indent="-164592">
              <a:spcAft>
                <a:spcPts val="400"/>
              </a:spcAft>
              <a:buChar char="•"/>
            </a:pPr>
            <a:r>
              <a:rPr sz="1200" b="0">
                <a:solidFill>
                  <a:srgbClr val="5F6368"/>
                </a:solidFill>
                <a:latin typeface="Google Sans Flex"/>
              </a:rPr>
              <a:t>Not yet tested live: MySQL, SQL Server, Oracle, Kafka, OPC UA.</a:t>
            </a:r>
          </a:p>
        </p:txBody>
      </p:sp>
      <p:sp>
        <p:nvSpPr>
          <p:cNvPr id="158" name="research card"/>
          <p:cNvSpPr/>
          <p:nvPr/>
        </p:nvSpPr>
        <p:spPr>
          <a:xfrm>
            <a:off x="4617720" y="2395728"/>
            <a:ext cx="4251960" cy="128016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search text"/>
          <p:cNvSpPr txBox="1"/>
          <p:nvPr/>
        </p:nvSpPr>
        <p:spPr>
          <a:xfrm>
            <a:off x="4709160" y="2423160"/>
            <a:ext cx="4069080" cy="1417320"/>
          </a:xfrm>
          <a:prstGeom prst="rect">
            <a:avLst/>
          </a:prstGeom>
          <a:noFill/>
        </p:spPr>
        <p:txBody>
          <a:bodyPr wrap="square" anchor="t" lIns="36576" rIns="36576" tIns="18288" bIns="18288">
            <a:spAutoFit/>
          </a:bodyPr>
          <a:lstStyle/>
          <a:p>
            <a:pPr algn="l">
              <a:spcAft>
                <a:spcPts val="300"/>
              </a:spcAft>
            </a:pPr>
            <a:r>
              <a:rPr sz="1400" b="1">
                <a:solidFill>
                  <a:srgbClr val="1A73E8"/>
                </a:solidFill>
                <a:latin typeface="Google Sans Flex SemiBold"/>
              </a:rPr>
              <a:t>Research result</a:t>
            </a:r>
          </a:p>
          <a:p>
            <a:pPr algn="l">
              <a:spcAft>
                <a:spcPts val="400"/>
              </a:spcAft>
            </a:pPr>
            <a:r>
              <a:rPr sz="1200" b="0">
                <a:solidFill>
                  <a:srgbClr val="202124"/>
                </a:solidFill>
                <a:latin typeface="Google Sans Flex"/>
              </a:rPr>
              <a:t>Root-cause ranking on a public software benchmark (RCAEval RE1, 298 cases): +0.08 Avg@5 over BARO, 95% interval +0.05 to +0.12. No Gemini in this test.</a:t>
            </a:r>
          </a:p>
        </p:txBody>
      </p:sp>
      <p:sp>
        <p:nvSpPr>
          <p:cNvPr id="160" name="measure note"/>
          <p:cNvSpPr txBox="1"/>
          <p:nvPr/>
        </p:nvSpPr>
        <p:spPr>
          <a:xfrm>
            <a:off x="4617720" y="4114800"/>
            <a:ext cx="4251960" cy="73152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Figures come from the running prototype on one computer. Gemini's speed varies with load; the app then shows a notice.</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future row"/>
          <p:cNvSpPr/>
          <p:nvPr/>
        </p:nvSpPr>
        <p:spPr>
          <a:xfrm>
            <a:off x="274320" y="1051560"/>
            <a:ext cx="8595360" cy="71323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future item"/>
          <p:cNvSpPr txBox="1"/>
          <p:nvPr/>
        </p:nvSpPr>
        <p:spPr>
          <a:xfrm>
            <a:off x="365760" y="1069848"/>
            <a:ext cx="2514600" cy="676656"/>
          </a:xfrm>
          <a:prstGeom prst="rect">
            <a:avLst/>
          </a:prstGeom>
          <a:noFill/>
        </p:spPr>
        <p:txBody>
          <a:bodyPr wrap="square" anchor="ctr" lIns="36576" rIns="36576" tIns="18288" bIns="18288">
            <a:spAutoFit/>
          </a:bodyPr>
          <a:lstStyle/>
          <a:p>
            <a:pPr algn="l">
              <a:spcAft>
                <a:spcPts val="400"/>
              </a:spcAft>
            </a:pPr>
            <a:r>
              <a:rPr sz="1400" b="1">
                <a:solidFill>
                  <a:srgbClr val="1A73E8"/>
                </a:solidFill>
                <a:latin typeface="Google Sans Flex SemiBold"/>
              </a:rPr>
              <a:t>A pilot with a real plant</a:t>
            </a:r>
          </a:p>
        </p:txBody>
      </p:sp>
      <p:sp>
        <p:nvSpPr>
          <p:cNvPr id="154" name="future text"/>
          <p:cNvSpPr txBox="1"/>
          <p:nvPr/>
        </p:nvSpPr>
        <p:spPr>
          <a:xfrm>
            <a:off x="2926080" y="1069848"/>
            <a:ext cx="5852160" cy="676656"/>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Replace the replayed lab log and software incidents with a customer's own history.</a:t>
            </a:r>
          </a:p>
        </p:txBody>
      </p:sp>
      <p:sp>
        <p:nvSpPr>
          <p:cNvPr id="155" name="future row"/>
          <p:cNvSpPr/>
          <p:nvPr/>
        </p:nvSpPr>
        <p:spPr>
          <a:xfrm>
            <a:off x="274320" y="1819655"/>
            <a:ext cx="8595360" cy="71323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future item"/>
          <p:cNvSpPr txBox="1"/>
          <p:nvPr/>
        </p:nvSpPr>
        <p:spPr>
          <a:xfrm>
            <a:off x="365760" y="1837943"/>
            <a:ext cx="2514600" cy="676656"/>
          </a:xfrm>
          <a:prstGeom prst="rect">
            <a:avLst/>
          </a:prstGeom>
          <a:noFill/>
        </p:spPr>
        <p:txBody>
          <a:bodyPr wrap="square" anchor="ctr" lIns="36576" rIns="36576" tIns="18288" bIns="18288">
            <a:spAutoFit/>
          </a:bodyPr>
          <a:lstStyle/>
          <a:p>
            <a:pPr algn="l">
              <a:spcAft>
                <a:spcPts val="400"/>
              </a:spcAft>
            </a:pPr>
            <a:r>
              <a:rPr sz="1400" b="1">
                <a:solidFill>
                  <a:srgbClr val="1A73E8"/>
                </a:solidFill>
                <a:latin typeface="Google Sans Flex SemiBold"/>
              </a:rPr>
              <a:t>Tune Gemma for Sentinel</a:t>
            </a:r>
          </a:p>
        </p:txBody>
      </p:sp>
      <p:sp>
        <p:nvSpPr>
          <p:cNvPr id="157" name="future text"/>
          <p:cNvSpPr txBox="1"/>
          <p:nvPr/>
        </p:nvSpPr>
        <p:spPr>
          <a:xfrm>
            <a:off x="2926080" y="1837943"/>
            <a:ext cx="5852160" cy="676656"/>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Gemini sorts short texts into labels today. We plan to fine-tune Gemma for that one classification job, with plain rules still judging the result.</a:t>
            </a:r>
          </a:p>
        </p:txBody>
      </p:sp>
      <p:sp>
        <p:nvSpPr>
          <p:cNvPr id="158" name="future row"/>
          <p:cNvSpPr/>
          <p:nvPr/>
        </p:nvSpPr>
        <p:spPr>
          <a:xfrm>
            <a:off x="274320" y="2587752"/>
            <a:ext cx="8595360" cy="71323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future item"/>
          <p:cNvSpPr txBox="1"/>
          <p:nvPr/>
        </p:nvSpPr>
        <p:spPr>
          <a:xfrm>
            <a:off x="365760" y="2606040"/>
            <a:ext cx="2514600" cy="676656"/>
          </a:xfrm>
          <a:prstGeom prst="rect">
            <a:avLst/>
          </a:prstGeom>
          <a:noFill/>
        </p:spPr>
        <p:txBody>
          <a:bodyPr wrap="square" anchor="ctr" lIns="36576" rIns="36576" tIns="18288" bIns="18288">
            <a:spAutoFit/>
          </a:bodyPr>
          <a:lstStyle/>
          <a:p>
            <a:pPr algn="l">
              <a:spcAft>
                <a:spcPts val="400"/>
              </a:spcAft>
            </a:pPr>
            <a:r>
              <a:rPr sz="1400" b="1">
                <a:solidFill>
                  <a:srgbClr val="1A73E8"/>
                </a:solidFill>
                <a:latin typeface="Google Sans Flex SemiBold"/>
              </a:rPr>
              <a:t>Reach private plant networks</a:t>
            </a:r>
          </a:p>
        </p:txBody>
      </p:sp>
      <p:sp>
        <p:nvSpPr>
          <p:cNvPr id="160" name="future text"/>
          <p:cNvSpPr txBox="1"/>
          <p:nvPr/>
        </p:nvSpPr>
        <p:spPr>
          <a:xfrm>
            <a:off x="2926080" y="2606040"/>
            <a:ext cx="5852160" cy="676656"/>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Probes or a tunnel so a cloud copy can read systems inside a factory network.</a:t>
            </a:r>
          </a:p>
        </p:txBody>
      </p:sp>
      <p:sp>
        <p:nvSpPr>
          <p:cNvPr id="161" name="future row"/>
          <p:cNvSpPr/>
          <p:nvPr/>
        </p:nvSpPr>
        <p:spPr>
          <a:xfrm>
            <a:off x="274320" y="3355848"/>
            <a:ext cx="8595360" cy="71323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future item"/>
          <p:cNvSpPr txBox="1"/>
          <p:nvPr/>
        </p:nvSpPr>
        <p:spPr>
          <a:xfrm>
            <a:off x="365760" y="3374136"/>
            <a:ext cx="2514600" cy="676656"/>
          </a:xfrm>
          <a:prstGeom prst="rect">
            <a:avLst/>
          </a:prstGeom>
          <a:noFill/>
        </p:spPr>
        <p:txBody>
          <a:bodyPr wrap="square" anchor="ctr" lIns="36576" rIns="36576" tIns="18288" bIns="18288">
            <a:spAutoFit/>
          </a:bodyPr>
          <a:lstStyle/>
          <a:p>
            <a:pPr algn="l">
              <a:spcAft>
                <a:spcPts val="400"/>
              </a:spcAft>
            </a:pPr>
            <a:r>
              <a:rPr sz="1400" b="1">
                <a:solidFill>
                  <a:srgbClr val="1A73E8"/>
                </a:solidFill>
                <a:latin typeface="Google Sans Flex SemiBold"/>
              </a:rPr>
              <a:t>Write actions behind Warden</a:t>
            </a:r>
          </a:p>
        </p:txBody>
      </p:sp>
      <p:sp>
        <p:nvSpPr>
          <p:cNvPr id="163" name="future text"/>
          <p:cNvSpPr txBox="1"/>
          <p:nvPr/>
        </p:nvSpPr>
        <p:spPr>
          <a:xfrm>
            <a:off x="2926080" y="3374136"/>
            <a:ext cx="5852160" cy="676656"/>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Let remote MCP tools act, only through the gate and with a person's approval.</a:t>
            </a:r>
          </a:p>
        </p:txBody>
      </p:sp>
      <p:sp>
        <p:nvSpPr>
          <p:cNvPr id="164" name="future row"/>
          <p:cNvSpPr/>
          <p:nvPr/>
        </p:nvSpPr>
        <p:spPr>
          <a:xfrm>
            <a:off x="274320" y="4123944"/>
            <a:ext cx="8595360" cy="713232"/>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future item"/>
          <p:cNvSpPr txBox="1"/>
          <p:nvPr/>
        </p:nvSpPr>
        <p:spPr>
          <a:xfrm>
            <a:off x="365760" y="4142231"/>
            <a:ext cx="2514600" cy="676656"/>
          </a:xfrm>
          <a:prstGeom prst="rect">
            <a:avLst/>
          </a:prstGeom>
          <a:noFill/>
        </p:spPr>
        <p:txBody>
          <a:bodyPr wrap="square" anchor="ctr" lIns="36576" rIns="36576" tIns="18288" bIns="18288">
            <a:spAutoFit/>
          </a:bodyPr>
          <a:lstStyle/>
          <a:p>
            <a:pPr algn="l">
              <a:spcAft>
                <a:spcPts val="400"/>
              </a:spcAft>
            </a:pPr>
            <a:r>
              <a:rPr sz="1400" b="1">
                <a:solidFill>
                  <a:srgbClr val="1A73E8"/>
                </a:solidFill>
                <a:latin typeface="Google Sans Flex SemiBold"/>
              </a:rPr>
              <a:t>More live checks</a:t>
            </a:r>
          </a:p>
        </p:txBody>
      </p:sp>
      <p:sp>
        <p:nvSpPr>
          <p:cNvPr id="166" name="future text"/>
          <p:cNvSpPr txBox="1"/>
          <p:nvPr/>
        </p:nvSpPr>
        <p:spPr>
          <a:xfrm>
            <a:off x="2926080" y="4142231"/>
            <a:ext cx="5852160" cy="676656"/>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Test Kafka, Oracle, SQL Server, MySQL and OPC UA against live servers. Add roles for approvers and many plants per owner.</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73736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 https://github.com/shreyash-sharma/tolerance</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 </a:t>
            </a:r>
            <a:r>
              <a:rPr lang="en-GB" b="1">
                <a:solidFill>
                  <a:srgbClr val="D50000"/>
                </a:solidFill>
                <a:latin typeface="Google Sans Flex Medium"/>
                <a:ea typeface="Google Sans Flex Medium"/>
                <a:cs typeface="Google Sans Flex Medium"/>
                <a:sym typeface="Google Sans Flex Medium"/>
              </a:rPr>
              <a:t>[FILL: demo video URL]</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 https://tolerance-749288317336.asia-southeast1.run.app</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w label"/>
          <p:cNvSpPr txBox="1"/>
          <p:nvPr/>
        </p:nvSpPr>
        <p:spPr>
          <a:xfrm>
            <a:off x="320040" y="2468880"/>
            <a:ext cx="3657600" cy="274320"/>
          </a:xfrm>
          <a:prstGeom prst="rect">
            <a:avLst/>
          </a:prstGeom>
          <a:noFill/>
        </p:spPr>
        <p:txBody>
          <a:bodyPr wrap="square" anchor="t" lIns="36576" rIns="36576" tIns="18288" bIns="18288">
            <a:spAutoFit/>
          </a:bodyPr>
          <a:lstStyle/>
          <a:p>
            <a:pPr algn="l">
              <a:spcAft>
                <a:spcPts val="400"/>
              </a:spcAft>
            </a:pPr>
            <a:r>
              <a:rPr sz="1200" b="1">
                <a:solidFill>
                  <a:srgbClr val="5F6368"/>
                </a:solidFill>
                <a:latin typeface="Google Sans Flex SemiBold"/>
              </a:rPr>
              <a:t>How to try it</a:t>
            </a:r>
          </a:p>
        </p:txBody>
      </p:sp>
      <p:sp>
        <p:nvSpPr>
          <p:cNvPr id="161" name="try step"/>
          <p:cNvSpPr/>
          <p:nvPr/>
        </p:nvSpPr>
        <p:spPr>
          <a:xfrm>
            <a:off x="320040" y="2788920"/>
            <a:ext cx="2743200" cy="17373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step number"/>
          <p:cNvSpPr txBox="1"/>
          <p:nvPr/>
        </p:nvSpPr>
        <p:spPr>
          <a:xfrm>
            <a:off x="411479" y="2834640"/>
            <a:ext cx="548640" cy="457200"/>
          </a:xfrm>
          <a:prstGeom prst="rect">
            <a:avLst/>
          </a:prstGeom>
          <a:noFill/>
        </p:spPr>
        <p:txBody>
          <a:bodyPr wrap="square" anchor="t" lIns="36576" rIns="36576" tIns="18288" bIns="18288">
            <a:spAutoFit/>
          </a:bodyPr>
          <a:lstStyle/>
          <a:p>
            <a:pPr algn="l">
              <a:spcAft>
                <a:spcPts val="400"/>
              </a:spcAft>
            </a:pPr>
            <a:r>
              <a:rPr sz="2400" b="1">
                <a:solidFill>
                  <a:srgbClr val="1A73E8"/>
                </a:solidFill>
                <a:latin typeface="Google Sans Flex SemiBold"/>
              </a:rPr>
              <a:t>1</a:t>
            </a:r>
          </a:p>
        </p:txBody>
      </p:sp>
      <p:sp>
        <p:nvSpPr>
          <p:cNvPr id="163" name="step text"/>
          <p:cNvSpPr txBox="1"/>
          <p:nvPr/>
        </p:nvSpPr>
        <p:spPr>
          <a:xfrm>
            <a:off x="411479" y="3337560"/>
            <a:ext cx="2560320" cy="114300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Open the final product link.</a:t>
            </a:r>
          </a:p>
        </p:txBody>
      </p:sp>
      <p:sp>
        <p:nvSpPr>
          <p:cNvPr id="164" name="try step"/>
          <p:cNvSpPr/>
          <p:nvPr/>
        </p:nvSpPr>
        <p:spPr>
          <a:xfrm>
            <a:off x="3191256" y="2788920"/>
            <a:ext cx="2743200" cy="17373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step number"/>
          <p:cNvSpPr txBox="1"/>
          <p:nvPr/>
        </p:nvSpPr>
        <p:spPr>
          <a:xfrm>
            <a:off x="3282696" y="2834640"/>
            <a:ext cx="548640" cy="457200"/>
          </a:xfrm>
          <a:prstGeom prst="rect">
            <a:avLst/>
          </a:prstGeom>
          <a:noFill/>
        </p:spPr>
        <p:txBody>
          <a:bodyPr wrap="square" anchor="t" lIns="36576" rIns="36576" tIns="18288" bIns="18288">
            <a:spAutoFit/>
          </a:bodyPr>
          <a:lstStyle/>
          <a:p>
            <a:pPr algn="l">
              <a:spcAft>
                <a:spcPts val="400"/>
              </a:spcAft>
            </a:pPr>
            <a:r>
              <a:rPr sz="2400" b="1">
                <a:solidFill>
                  <a:srgbClr val="1A73E8"/>
                </a:solidFill>
                <a:latin typeface="Google Sans Flex SemiBold"/>
              </a:rPr>
              <a:t>2</a:t>
            </a:r>
          </a:p>
        </p:txBody>
      </p:sp>
      <p:sp>
        <p:nvSpPr>
          <p:cNvPr id="166" name="step text"/>
          <p:cNvSpPr txBox="1"/>
          <p:nvPr/>
        </p:nvSpPr>
        <p:spPr>
          <a:xfrm>
            <a:off x="3282696" y="3337560"/>
            <a:ext cx="2560320" cy="114300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Sign in with your Google ID. Or Register, or Try it as a guest. A guest gets a private plant with usage caps.</a:t>
            </a:r>
          </a:p>
        </p:txBody>
      </p:sp>
      <p:sp>
        <p:nvSpPr>
          <p:cNvPr id="167" name="try step"/>
          <p:cNvSpPr/>
          <p:nvPr/>
        </p:nvSpPr>
        <p:spPr>
          <a:xfrm>
            <a:off x="6062472" y="2788920"/>
            <a:ext cx="2743200" cy="17373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step number"/>
          <p:cNvSpPr txBox="1"/>
          <p:nvPr/>
        </p:nvSpPr>
        <p:spPr>
          <a:xfrm>
            <a:off x="6153912" y="2834640"/>
            <a:ext cx="548640" cy="457200"/>
          </a:xfrm>
          <a:prstGeom prst="rect">
            <a:avLst/>
          </a:prstGeom>
          <a:noFill/>
        </p:spPr>
        <p:txBody>
          <a:bodyPr wrap="square" anchor="t" lIns="36576" rIns="36576" tIns="18288" bIns="18288">
            <a:spAutoFit/>
          </a:bodyPr>
          <a:lstStyle/>
          <a:p>
            <a:pPr algn="l">
              <a:spcAft>
                <a:spcPts val="400"/>
              </a:spcAft>
            </a:pPr>
            <a:r>
              <a:rPr sz="2400" b="1">
                <a:solidFill>
                  <a:srgbClr val="1A73E8"/>
                </a:solidFill>
                <a:latin typeface="Google Sans Flex SemiBold"/>
              </a:rPr>
              <a:t>3</a:t>
            </a:r>
          </a:p>
        </p:txBody>
      </p:sp>
      <p:sp>
        <p:nvSpPr>
          <p:cNvPr id="169" name="step text"/>
          <p:cNvSpPr txBox="1"/>
          <p:nvPr/>
        </p:nvSpPr>
        <p:spPr>
          <a:xfrm>
            <a:off x="6153912" y="3337560"/>
            <a:ext cx="2560320" cy="114300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Give a plant name and drop documents, or load the made-up plant that has MES, MongoDB, ERP and IoT data.</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Why it matters</a:t>
            </a:r>
            <a:endParaRPr sz="1600">
              <a:latin typeface="Google Sans Flex Medium"/>
              <a:ea typeface="Google Sans Flex Medium"/>
              <a:cs typeface="Google Sans Flex Medium"/>
              <a:sym typeface="Google Sans Flex Medium"/>
            </a:endParaRPr>
          </a:p>
        </p:txBody>
      </p:sp>
      <p:sp>
        <p:nvSpPr>
          <p:cNvPr id="152" name="column card"/>
          <p:cNvSpPr/>
          <p:nvPr/>
        </p:nvSpPr>
        <p:spPr>
          <a:xfrm>
            <a:off x="274320" y="1143000"/>
            <a:ext cx="2788920" cy="29260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column title"/>
          <p:cNvSpPr txBox="1"/>
          <p:nvPr/>
        </p:nvSpPr>
        <p:spPr>
          <a:xfrm>
            <a:off x="384048" y="1234440"/>
            <a:ext cx="2560320" cy="41148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The problem</a:t>
            </a:r>
          </a:p>
        </p:txBody>
      </p:sp>
      <p:sp>
        <p:nvSpPr>
          <p:cNvPr id="154" name="column text"/>
          <p:cNvSpPr txBox="1"/>
          <p:nvPr/>
        </p:nvSpPr>
        <p:spPr>
          <a:xfrm>
            <a:off x="384048" y="1737360"/>
            <a:ext cx="2578608" cy="3063240"/>
          </a:xfrm>
          <a:prstGeom prst="rect">
            <a:avLst/>
          </a:prstGeom>
          <a:noFill/>
        </p:spPr>
        <p:txBody>
          <a:bodyPr wrap="square" anchor="t" lIns="36576" rIns="36576" tIns="18288" bIns="18288">
            <a:spAutoFit/>
          </a:bodyPr>
          <a:lstStyle/>
          <a:p>
            <a:pPr algn="l" marL="164592" indent="-164592">
              <a:spcAft>
                <a:spcPts val="1200"/>
              </a:spcAft>
              <a:buChar char="•"/>
            </a:pPr>
            <a:r>
              <a:rPr sz="1200" b="1">
                <a:solidFill>
                  <a:srgbClr val="202124"/>
                </a:solidFill>
                <a:latin typeface="Google Sans Flex SemiBold"/>
              </a:rPr>
              <a:t>Unplanned downtime. </a:t>
            </a:r>
            <a:r>
              <a:rPr sz="1200" b="0">
                <a:solidFill>
                  <a:srgbClr val="202124"/>
                </a:solidFill>
                <a:latin typeface="Google Sans Flex"/>
              </a:rPr>
              <a:t>A station fails and the line waits.</a:t>
            </a:r>
          </a:p>
          <a:p>
            <a:pPr algn="l" marL="164592" indent="-164592">
              <a:spcAft>
                <a:spcPts val="1200"/>
              </a:spcAft>
              <a:buChar char="•"/>
            </a:pPr>
            <a:r>
              <a:rPr sz="1200" b="0">
                <a:solidFill>
                  <a:srgbClr val="202124"/>
                </a:solidFill>
                <a:latin typeface="Google Sans Flex"/>
              </a:rPr>
              <a:t>Nobody can quickly tell why it failed, or whether a fix is safe.</a:t>
            </a:r>
          </a:p>
          <a:p>
            <a:pPr algn="l" marL="164592" indent="-164592">
              <a:spcAft>
                <a:spcPts val="1200"/>
              </a:spcAft>
              <a:buChar char="•"/>
            </a:pPr>
            <a:r>
              <a:rPr sz="1200" b="0">
                <a:solidFill>
                  <a:srgbClr val="202124"/>
                </a:solidFill>
                <a:latin typeface="Google Sans Flex"/>
              </a:rPr>
              <a:t>The knowledge sits in manuals, orders, machine logs and a few people's heads.</a:t>
            </a:r>
          </a:p>
        </p:txBody>
      </p:sp>
      <p:sp>
        <p:nvSpPr>
          <p:cNvPr id="155" name="column card"/>
          <p:cNvSpPr/>
          <p:nvPr/>
        </p:nvSpPr>
        <p:spPr>
          <a:xfrm>
            <a:off x="3172968" y="1143000"/>
            <a:ext cx="2788920" cy="29260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column title"/>
          <p:cNvSpPr txBox="1"/>
          <p:nvPr/>
        </p:nvSpPr>
        <p:spPr>
          <a:xfrm>
            <a:off x="3282696" y="1234440"/>
            <a:ext cx="2560320" cy="41148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The cost</a:t>
            </a:r>
          </a:p>
        </p:txBody>
      </p:sp>
      <p:sp>
        <p:nvSpPr>
          <p:cNvPr id="157" name="column text"/>
          <p:cNvSpPr txBox="1"/>
          <p:nvPr/>
        </p:nvSpPr>
        <p:spPr>
          <a:xfrm>
            <a:off x="3282696" y="1737360"/>
            <a:ext cx="2578608" cy="3063240"/>
          </a:xfrm>
          <a:prstGeom prst="rect">
            <a:avLst/>
          </a:prstGeom>
          <a:noFill/>
        </p:spPr>
        <p:txBody>
          <a:bodyPr wrap="square" anchor="t" lIns="36576" rIns="36576" tIns="18288" bIns="18288">
            <a:spAutoFit/>
          </a:bodyPr>
          <a:lstStyle/>
          <a:p>
            <a:pPr algn="l" marL="164592" indent="-164592">
              <a:spcAft>
                <a:spcPts val="1200"/>
              </a:spcAft>
              <a:buChar char="•"/>
            </a:pPr>
            <a:r>
              <a:rPr sz="1200" b="0">
                <a:solidFill>
                  <a:srgbClr val="202124"/>
                </a:solidFill>
                <a:latin typeface="Google Sans Flex"/>
              </a:rPr>
              <a:t>Every hour a line is down is output the plant does not get back.</a:t>
            </a:r>
          </a:p>
          <a:p>
            <a:pPr algn="l" marL="164592" indent="-164592">
              <a:spcAft>
                <a:spcPts val="1200"/>
              </a:spcAft>
              <a:buChar char="•"/>
            </a:pPr>
            <a:r>
              <a:rPr sz="1200" b="1">
                <a:solidFill>
                  <a:srgbClr val="202124"/>
                </a:solidFill>
                <a:latin typeface="Google Sans Flex SemiBold"/>
              </a:rPr>
              <a:t>Unplanned downtime costs the world's 500 largest companies about $1.4 trillion a year, 11% of their revenue (Siemens, The True Cost of Downtime 2024).</a:t>
            </a:r>
          </a:p>
        </p:txBody>
      </p:sp>
      <p:sp>
        <p:nvSpPr>
          <p:cNvPr id="158" name="column card"/>
          <p:cNvSpPr/>
          <p:nvPr/>
        </p:nvSpPr>
        <p:spPr>
          <a:xfrm>
            <a:off x="6071616" y="1143000"/>
            <a:ext cx="2788920" cy="29260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column title"/>
          <p:cNvSpPr txBox="1"/>
          <p:nvPr/>
        </p:nvSpPr>
        <p:spPr>
          <a:xfrm>
            <a:off x="6181344" y="1234440"/>
            <a:ext cx="2560320" cy="41148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Who benefits, and how it scales</a:t>
            </a:r>
          </a:p>
        </p:txBody>
      </p:sp>
      <p:sp>
        <p:nvSpPr>
          <p:cNvPr id="160" name="column text"/>
          <p:cNvSpPr txBox="1"/>
          <p:nvPr/>
        </p:nvSpPr>
        <p:spPr>
          <a:xfrm>
            <a:off x="6181344" y="1737360"/>
            <a:ext cx="2578608" cy="3063240"/>
          </a:xfrm>
          <a:prstGeom prst="rect">
            <a:avLst/>
          </a:prstGeom>
          <a:noFill/>
        </p:spPr>
        <p:txBody>
          <a:bodyPr wrap="square" anchor="t" lIns="36576" rIns="36576" tIns="18288" bIns="18288">
            <a:spAutoFit/>
          </a:bodyPr>
          <a:lstStyle/>
          <a:p>
            <a:pPr algn="l" marL="164592" indent="-164592">
              <a:spcAft>
                <a:spcPts val="1200"/>
              </a:spcAft>
              <a:buChar char="•"/>
            </a:pPr>
            <a:r>
              <a:rPr sz="1200" b="0">
                <a:solidFill>
                  <a:srgbClr val="202124"/>
                </a:solidFill>
                <a:latin typeface="Google Sans Flex"/>
              </a:rPr>
              <a:t>Small and mid-size plants that have no reliability team.</a:t>
            </a:r>
          </a:p>
          <a:p>
            <a:pPr algn="l" marL="164592" indent="-164592">
              <a:spcAft>
                <a:spcPts val="1200"/>
              </a:spcAft>
              <a:buChar char="•"/>
            </a:pPr>
            <a:r>
              <a:rPr sz="1200" b="0">
                <a:solidFill>
                  <a:srgbClr val="202124"/>
                </a:solidFill>
                <a:latin typeface="Google Sans Flex"/>
              </a:rPr>
              <a:t>Onboarding works for any plant whose systems can be connected.</a:t>
            </a:r>
          </a:p>
          <a:p>
            <a:pPr algn="l" marL="164592" indent="-164592">
              <a:spcAft>
                <a:spcPts val="1200"/>
              </a:spcAft>
              <a:buChar char="•"/>
            </a:pPr>
            <a:r>
              <a:rPr sz="1200" b="0">
                <a:solidFill>
                  <a:srgbClr val="202124"/>
                </a:solidFill>
                <a:latin typeface="Google Sans Flex"/>
              </a:rPr>
              <a:t>The owner keeps the authority. Warden runs an action alone only when its score reaches the owner's threshold (80 by default).</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One incident, start to finish</a:t>
            </a:r>
            <a:endParaRPr sz="1600">
              <a:latin typeface="Google Sans Flex Medium"/>
              <a:ea typeface="Google Sans Flex Medium"/>
              <a:cs typeface="Google Sans Flex Medium"/>
              <a:sym typeface="Google Sans Flex Medium"/>
            </a:endParaRPr>
          </a:p>
        </p:txBody>
      </p:sp>
      <p:sp>
        <p:nvSpPr>
          <p:cNvPr id="152" name="timeline"/>
          <p:cNvSpPr/>
          <p:nvPr/>
        </p:nvSpPr>
        <p:spPr>
          <a:xfrm>
            <a:off x="502920" y="1435608"/>
            <a:ext cx="8138160" cy="45720"/>
          </a:xfrm>
          <a:prstGeom prst="roundRect">
            <a:avLst>
              <a:gd name="adj" fmla="val 5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imeline dot"/>
          <p:cNvSpPr/>
          <p:nvPr/>
        </p:nvSpPr>
        <p:spPr>
          <a:xfrm>
            <a:off x="717803"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1</a:t>
            </a:r>
          </a:p>
        </p:txBody>
      </p:sp>
      <p:sp>
        <p:nvSpPr>
          <p:cNvPr id="154" name="stage card"/>
          <p:cNvSpPr/>
          <p:nvPr/>
        </p:nvSpPr>
        <p:spPr>
          <a:xfrm>
            <a:off x="274320" y="1783080"/>
            <a:ext cx="118872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stage title"/>
          <p:cNvSpPr txBox="1"/>
          <p:nvPr/>
        </p:nvSpPr>
        <p:spPr>
          <a:xfrm>
            <a:off x="320040" y="1828800"/>
            <a:ext cx="1097280"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Fault</a:t>
            </a:r>
          </a:p>
        </p:txBody>
      </p:sp>
      <p:sp>
        <p:nvSpPr>
          <p:cNvPr id="156" name="stage text"/>
          <p:cNvSpPr txBox="1"/>
          <p:nvPr/>
        </p:nvSpPr>
        <p:spPr>
          <a:xfrm>
            <a:off x="320040" y="2194560"/>
            <a:ext cx="1097280"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A station or node in the plant keeps stopping. The Operations run starts.</a:t>
            </a:r>
          </a:p>
        </p:txBody>
      </p:sp>
      <p:sp>
        <p:nvSpPr>
          <p:cNvPr id="157" name="timeline dot"/>
          <p:cNvSpPr/>
          <p:nvPr/>
        </p:nvSpPr>
        <p:spPr>
          <a:xfrm>
            <a:off x="2162556"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2</a:t>
            </a:r>
          </a:p>
        </p:txBody>
      </p:sp>
      <p:sp>
        <p:nvSpPr>
          <p:cNvPr id="158" name="stage card"/>
          <p:cNvSpPr/>
          <p:nvPr/>
        </p:nvSpPr>
        <p:spPr>
          <a:xfrm>
            <a:off x="1536192" y="1783080"/>
            <a:ext cx="155448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stage title"/>
          <p:cNvSpPr txBox="1"/>
          <p:nvPr/>
        </p:nvSpPr>
        <p:spPr>
          <a:xfrm>
            <a:off x="1581912" y="1828800"/>
            <a:ext cx="1463039"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Diagnosis</a:t>
            </a:r>
          </a:p>
        </p:txBody>
      </p:sp>
      <p:sp>
        <p:nvSpPr>
          <p:cNvPr id="160" name="stage text"/>
          <p:cNvSpPr txBox="1"/>
          <p:nvPr/>
        </p:nvSpPr>
        <p:spPr>
          <a:xfrm>
            <a:off x="1581912" y="2194560"/>
            <a:ext cx="1463039"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Finds the cause with read-only tools on the plant's data: station logs, the MES database, APIs. Result: repeated stops and a 0.3 chance of another in 4 hours. Confidence 70%.</a:t>
            </a:r>
          </a:p>
        </p:txBody>
      </p:sp>
      <p:sp>
        <p:nvSpPr>
          <p:cNvPr id="161" name="timeline dot"/>
          <p:cNvSpPr/>
          <p:nvPr/>
        </p:nvSpPr>
        <p:spPr>
          <a:xfrm>
            <a:off x="3607308"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3</a:t>
            </a:r>
          </a:p>
        </p:txBody>
      </p:sp>
      <p:sp>
        <p:nvSpPr>
          <p:cNvPr id="162" name="stage card"/>
          <p:cNvSpPr/>
          <p:nvPr/>
        </p:nvSpPr>
        <p:spPr>
          <a:xfrm>
            <a:off x="3163824" y="1783080"/>
            <a:ext cx="118872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stage title"/>
          <p:cNvSpPr txBox="1"/>
          <p:nvPr/>
        </p:nvSpPr>
        <p:spPr>
          <a:xfrm>
            <a:off x="3209544" y="1828800"/>
            <a:ext cx="1097280"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Verifier</a:t>
            </a:r>
          </a:p>
        </p:txBody>
      </p:sp>
      <p:sp>
        <p:nvSpPr>
          <p:cNvPr id="164" name="stage text"/>
          <p:cNvSpPr txBox="1"/>
          <p:nvPr/>
        </p:nvSpPr>
        <p:spPr>
          <a:xfrm>
            <a:off x="3209544" y="2194560"/>
            <a:ext cx="1097280"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Recomputes the numbers from the same data. They match, so the diagnosis stands. No hard limit is broken.</a:t>
            </a:r>
          </a:p>
        </p:txBody>
      </p:sp>
      <p:sp>
        <p:nvSpPr>
          <p:cNvPr id="165" name="timeline dot"/>
          <p:cNvSpPr/>
          <p:nvPr/>
        </p:nvSpPr>
        <p:spPr>
          <a:xfrm>
            <a:off x="4869180"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4</a:t>
            </a:r>
          </a:p>
        </p:txBody>
      </p:sp>
      <p:sp>
        <p:nvSpPr>
          <p:cNvPr id="166" name="stage card"/>
          <p:cNvSpPr/>
          <p:nvPr/>
        </p:nvSpPr>
        <p:spPr>
          <a:xfrm>
            <a:off x="4425696" y="1783080"/>
            <a:ext cx="118872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stage title"/>
          <p:cNvSpPr txBox="1"/>
          <p:nvPr/>
        </p:nvSpPr>
        <p:spPr>
          <a:xfrm>
            <a:off x="4471416" y="1828800"/>
            <a:ext cx="1097280"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Planner</a:t>
            </a:r>
          </a:p>
        </p:txBody>
      </p:sp>
      <p:sp>
        <p:nvSpPr>
          <p:cNvPr id="168" name="stage text"/>
          <p:cNvSpPr txBox="1"/>
          <p:nvPr/>
        </p:nvSpPr>
        <p:spPr>
          <a:xfrm>
            <a:off x="4471416" y="2194560"/>
            <a:ext cx="1097280"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Proposes three actions: inspect the station, schedule maintenance, cap its speed at 70%.</a:t>
            </a:r>
          </a:p>
        </p:txBody>
      </p:sp>
      <p:sp>
        <p:nvSpPr>
          <p:cNvPr id="169" name="timeline dot"/>
          <p:cNvSpPr/>
          <p:nvPr/>
        </p:nvSpPr>
        <p:spPr>
          <a:xfrm>
            <a:off x="6451092"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5</a:t>
            </a:r>
          </a:p>
        </p:txBody>
      </p:sp>
      <p:sp>
        <p:nvSpPr>
          <p:cNvPr id="170" name="stage card"/>
          <p:cNvSpPr/>
          <p:nvPr/>
        </p:nvSpPr>
        <p:spPr>
          <a:xfrm>
            <a:off x="5687568" y="1783080"/>
            <a:ext cx="182880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stage title"/>
          <p:cNvSpPr txBox="1"/>
          <p:nvPr/>
        </p:nvSpPr>
        <p:spPr>
          <a:xfrm>
            <a:off x="5733288" y="1828800"/>
            <a:ext cx="1737360"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Warden</a:t>
            </a:r>
          </a:p>
        </p:txBody>
      </p:sp>
      <p:sp>
        <p:nvSpPr>
          <p:cNvPr id="172" name="stage text"/>
          <p:cNvSpPr txBox="1"/>
          <p:nvPr/>
        </p:nvSpPr>
        <p:spPr>
          <a:xfrm>
            <a:off x="5733288" y="2194560"/>
            <a:ext cx="1737360"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Scores each action 0 to 100 from six factors: undo, reach, limits, evidence, history, plant state. Inspect (88) and maintenance (84) reach the threshold of 80 and run alone. The speed cap (74) is between 40 and 80, so a person decides.</a:t>
            </a:r>
          </a:p>
        </p:txBody>
      </p:sp>
      <p:sp>
        <p:nvSpPr>
          <p:cNvPr id="173" name="timeline dot"/>
          <p:cNvSpPr/>
          <p:nvPr/>
        </p:nvSpPr>
        <p:spPr>
          <a:xfrm>
            <a:off x="8078724" y="1307592"/>
            <a:ext cx="301752" cy="301752"/>
          </a:xfrm>
          <a:prstGeom prst="ellipse">
            <a:avLst/>
          </a:prstGeom>
          <a:solidFill>
            <a:srgbClr val="1A73E8"/>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Google Sans Flex SemiBold"/>
              </a:rPr>
              <a:t>6</a:t>
            </a:r>
          </a:p>
        </p:txBody>
      </p:sp>
      <p:sp>
        <p:nvSpPr>
          <p:cNvPr id="174" name="stage card"/>
          <p:cNvSpPr/>
          <p:nvPr/>
        </p:nvSpPr>
        <p:spPr>
          <a:xfrm>
            <a:off x="7589520" y="1783080"/>
            <a:ext cx="1280160" cy="260604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stage title"/>
          <p:cNvSpPr txBox="1"/>
          <p:nvPr/>
        </p:nvSpPr>
        <p:spPr>
          <a:xfrm>
            <a:off x="7635240" y="1828800"/>
            <a:ext cx="1188719" cy="45720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Approval</a:t>
            </a:r>
          </a:p>
        </p:txBody>
      </p:sp>
      <p:sp>
        <p:nvSpPr>
          <p:cNvPr id="176" name="stage text"/>
          <p:cNvSpPr txBox="1"/>
          <p:nvPr/>
        </p:nvSpPr>
        <p:spPr>
          <a:xfrm>
            <a:off x="7635240" y="2194560"/>
            <a:ext cx="1188719" cy="2194560"/>
          </a:xfrm>
          <a:prstGeom prst="rect">
            <a:avLst/>
          </a:prstGeom>
          <a:noFill/>
        </p:spPr>
        <p:txBody>
          <a:bodyPr wrap="square" anchor="t" lIns="36576" rIns="36576" tIns="18288" bIns="18288">
            <a:spAutoFit/>
          </a:bodyPr>
          <a:lstStyle/>
          <a:p>
            <a:pPr algn="l">
              <a:spcAft>
                <a:spcPts val="400"/>
              </a:spcAft>
            </a:pPr>
            <a:r>
              <a:rPr sz="1200" b="0">
                <a:solidFill>
                  <a:srgbClr val="202124"/>
                </a:solidFill>
                <a:latin typeface="Google Sans Flex"/>
              </a:rPr>
              <a:t>The plant owner approves in the app. The change runs in the simulator, about 30 s after the alert. Every step is in the log.</a:t>
            </a:r>
          </a:p>
        </p:txBody>
      </p:sp>
      <p:sp>
        <p:nvSpPr>
          <p:cNvPr id="177" name="caption"/>
          <p:cNvSpPr txBox="1"/>
          <p:nvPr/>
        </p:nvSpPr>
        <p:spPr>
          <a:xfrm>
            <a:off x="274320" y="4434840"/>
            <a:ext cx="8595360" cy="32004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Taken from a recorded run. Every step is in the audit log.</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Warden keeps irreversible actions with a person</a:t>
            </a:r>
            <a:endParaRPr sz="1600">
              <a:latin typeface="Google Sans Flex Medium"/>
              <a:ea typeface="Google Sans Flex Medium"/>
              <a:cs typeface="Google Sans Flex Medium"/>
              <a:sym typeface="Google Sans Flex Medium"/>
            </a:endParaRPr>
          </a:p>
        </p:txBody>
      </p:sp>
      <p:sp>
        <p:nvSpPr>
          <p:cNvPr id="152" name="takeaway"/>
          <p:cNvSpPr/>
          <p:nvPr/>
        </p:nvSpPr>
        <p:spPr>
          <a:xfrm>
            <a:off x="274320" y="1024128"/>
            <a:ext cx="8595360" cy="566928"/>
          </a:xfrm>
          <a:prstGeom prst="roundRect">
            <a:avLst>
              <a:gd name="adj" fmla="val 5000"/>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akeaway text"/>
          <p:cNvSpPr txBox="1"/>
          <p:nvPr/>
        </p:nvSpPr>
        <p:spPr>
          <a:xfrm>
            <a:off x="411480" y="1024128"/>
            <a:ext cx="8321040" cy="566928"/>
          </a:xfrm>
          <a:prstGeom prst="rect">
            <a:avLst/>
          </a:prstGeom>
          <a:noFill/>
        </p:spPr>
        <p:txBody>
          <a:bodyPr wrap="square" anchor="ctr" lIns="36576" rIns="36576" tIns="18288" bIns="18288">
            <a:spAutoFit/>
          </a:bodyPr>
          <a:lstStyle/>
          <a:p>
            <a:pPr algn="l">
              <a:spcAft>
                <a:spcPts val="400"/>
              </a:spcAft>
            </a:pPr>
            <a:r>
              <a:rPr sz="1400" b="1">
                <a:solidFill>
                  <a:srgbClr val="C5221F"/>
                </a:solidFill>
                <a:latin typeface="Google Sans Flex SemiBold"/>
              </a:rPr>
              <a:t>At the default thresholds (40 and 80), 149 of 465 benchmark incidents (32%) run alone; the rest wait for a person.</a:t>
            </a:r>
          </a:p>
        </p:txBody>
      </p:sp>
      <p:graphicFrame>
        <p:nvGraphicFramePr>
          <p:cNvPr id="154" name="harm chart"/>
          <p:cNvGraphicFramePr>
            <a:graphicFrameLocks noGrp="1"/>
          </p:cNvGraphicFramePr>
          <p:nvPr/>
        </p:nvGraphicFramePr>
        <p:xfrm>
          <a:off x="274320" y="1600200"/>
          <a:ext cx="4663440" cy="2423160"/>
        </p:xfrm>
        <a:graphic>
          <a:graphicData uri="http://schemas.openxmlformats.org/drawingml/2006/chart">
            <c:chart r:id="rId2"/>
          </a:graphicData>
        </a:graphic>
      </p:graphicFrame>
      <p:sp>
        <p:nvSpPr>
          <p:cNvPr id="155" name="table title"/>
          <p:cNvSpPr txBox="1"/>
          <p:nvPr/>
        </p:nvSpPr>
        <p:spPr>
          <a:xfrm>
            <a:off x="5074920" y="1627632"/>
            <a:ext cx="3794760" cy="5029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465 incidents from a public software benchmark (RCAEval)</a:t>
            </a:r>
          </a:p>
        </p:txBody>
      </p:sp>
      <p:graphicFrame>
        <p:nvGraphicFramePr>
          <p:cNvPr id="156" name="autonomy table"/>
          <p:cNvGraphicFramePr>
            <a:graphicFrameLocks noGrp="1"/>
          </p:cNvGraphicFramePr>
          <p:nvPr/>
        </p:nvGraphicFramePr>
        <p:xfrm>
          <a:off x="5074920" y="2194560"/>
          <a:ext cx="3794760" cy="1737360"/>
        </p:xfrm>
        <a:graphic>
          <a:graphicData uri="http://schemas.openxmlformats.org/drawingml/2006/table">
            <a:tbl>
              <a:tblPr firstRow="1" bandRow="1">
                <a:tableStyleId>{5C22544A-7EE6-4342-B048-85BDC9FD1C3A}</a:tableStyleId>
              </a:tblPr>
              <a:tblGrid>
                <a:gridCol w="1325880"/>
                <a:gridCol w="960120"/>
                <a:gridCol w="731520"/>
                <a:gridCol w="777240"/>
              </a:tblGrid>
              <a:tr h="347472">
                <a:tc>
                  <a:txBody>
                    <a:bodyPr/>
                    <a:lstStyle/>
                    <a:p>
                      <a:pPr algn="l"/>
                      <a:r>
                        <a:rPr sz="1200" b="1">
                          <a:solidFill>
                            <a:srgbClr val="FFFFFF"/>
                          </a:solidFill>
                          <a:latin typeface="Google Sans Flex SemiBold"/>
                        </a:rPr>
                        <a:t>Policy</a:t>
                      </a:r>
                    </a:p>
                  </a:txBody>
                  <a:tcPr marL="45720" marR="45720" marT="18288" marB="18288">
                    <a:solidFill>
                      <a:srgbClr val="1A73E8"/>
                    </a:solidFill>
                  </a:tcPr>
                </a:tc>
                <a:tc>
                  <a:txBody>
                    <a:bodyPr/>
                    <a:lstStyle/>
                    <a:p>
                      <a:pPr algn="ctr"/>
                      <a:r>
                        <a:rPr sz="1200" b="1">
                          <a:solidFill>
                            <a:srgbClr val="FFFFFF"/>
                          </a:solidFill>
                          <a:latin typeface="Google Sans Flex SemiBold"/>
                        </a:rPr>
                        <a:t>Run alone</a:t>
                      </a:r>
                    </a:p>
                  </a:txBody>
                  <a:tcPr marL="45720" marR="45720" marT="18288" marB="18288">
                    <a:solidFill>
                      <a:srgbClr val="1A73E8"/>
                    </a:solidFill>
                  </a:tcPr>
                </a:tc>
                <a:tc>
                  <a:txBody>
                    <a:bodyPr/>
                    <a:lstStyle/>
                    <a:p>
                      <a:pPr algn="ctr"/>
                      <a:r>
                        <a:rPr sz="1200" b="1">
                          <a:solidFill>
                            <a:srgbClr val="FFFFFF"/>
                          </a:solidFill>
                          <a:latin typeface="Google Sans Flex SemiBold"/>
                        </a:rPr>
                        <a:t>Wrong</a:t>
                      </a:r>
                    </a:p>
                  </a:txBody>
                  <a:tcPr marL="45720" marR="45720" marT="18288" marB="18288">
                    <a:solidFill>
                      <a:srgbClr val="1A73E8"/>
                    </a:solidFill>
                  </a:tcPr>
                </a:tc>
                <a:tc>
                  <a:txBody>
                    <a:bodyPr/>
                    <a:lstStyle/>
                    <a:p>
                      <a:pPr algn="ctr"/>
                      <a:r>
                        <a:rPr sz="1200" b="1">
                          <a:solidFill>
                            <a:srgbClr val="FFFFFF"/>
                          </a:solidFill>
                          <a:latin typeface="Google Sans Flex SemiBold"/>
                        </a:rPr>
                        <a:t>Harm</a:t>
                      </a:r>
                    </a:p>
                  </a:txBody>
                  <a:tcPr marL="45720" marR="45720" marT="18288" marB="18288">
                    <a:solidFill>
                      <a:srgbClr val="1A73E8"/>
                    </a:solidFill>
                  </a:tcPr>
                </a:tc>
              </a:tr>
              <a:tr h="347472">
                <a:tc>
                  <a:txBody>
                    <a:bodyPr/>
                    <a:lstStyle/>
                    <a:p>
                      <a:pPr algn="l"/>
                      <a:r>
                        <a:rPr sz="1200" b="0">
                          <a:solidFill>
                            <a:srgbClr val="202124"/>
                          </a:solidFill>
                          <a:latin typeface="Google Sans Flex"/>
                        </a:rPr>
                        <a:t>Run all alone</a:t>
                      </a:r>
                    </a:p>
                  </a:txBody>
                  <a:tcPr marL="45720" marR="45720" marT="18288" marB="18288">
                    <a:solidFill>
                      <a:srgbClr val="FFFFFF"/>
                    </a:solidFill>
                  </a:tcPr>
                </a:tc>
                <a:tc>
                  <a:txBody>
                    <a:bodyPr/>
                    <a:lstStyle/>
                    <a:p>
                      <a:pPr algn="ctr"/>
                      <a:r>
                        <a:rPr sz="1200" b="0">
                          <a:solidFill>
                            <a:srgbClr val="202124"/>
                          </a:solidFill>
                          <a:latin typeface="Google Sans Flex"/>
                        </a:rPr>
                        <a:t>465</a:t>
                      </a:r>
                    </a:p>
                  </a:txBody>
                  <a:tcPr marL="45720" marR="45720" marT="18288" marB="18288">
                    <a:solidFill>
                      <a:srgbClr val="FFFFFF"/>
                    </a:solidFill>
                  </a:tcPr>
                </a:tc>
                <a:tc>
                  <a:txBody>
                    <a:bodyPr/>
                    <a:lstStyle/>
                    <a:p>
                      <a:pPr algn="ctr"/>
                      <a:r>
                        <a:rPr sz="1200" b="0">
                          <a:solidFill>
                            <a:srgbClr val="202124"/>
                          </a:solidFill>
                          <a:latin typeface="Google Sans Flex"/>
                        </a:rPr>
                        <a:t>116</a:t>
                      </a:r>
                    </a:p>
                  </a:txBody>
                  <a:tcPr marL="45720" marR="45720" marT="18288" marB="18288">
                    <a:solidFill>
                      <a:srgbClr val="FFFFFF"/>
                    </a:solidFill>
                  </a:tcPr>
                </a:tc>
                <a:tc>
                  <a:txBody>
                    <a:bodyPr/>
                    <a:lstStyle/>
                    <a:p>
                      <a:pPr algn="ctr"/>
                      <a:r>
                        <a:rPr sz="1200" b="0">
                          <a:solidFill>
                            <a:srgbClr val="202124"/>
                          </a:solidFill>
                          <a:latin typeface="Google Sans Flex"/>
                        </a:rPr>
                        <a:t>4.8</a:t>
                      </a:r>
                    </a:p>
                  </a:txBody>
                  <a:tcPr marL="45720" marR="45720" marT="18288" marB="18288">
                    <a:solidFill>
                      <a:srgbClr val="FFFFFF"/>
                    </a:solidFill>
                  </a:tcPr>
                </a:tc>
              </a:tr>
              <a:tr h="347472">
                <a:tc>
                  <a:txBody>
                    <a:bodyPr/>
                    <a:lstStyle/>
                    <a:p>
                      <a:pPr algn="l"/>
                      <a:r>
                        <a:rPr sz="1200" b="0">
                          <a:solidFill>
                            <a:srgbClr val="202124"/>
                          </a:solidFill>
                          <a:latin typeface="Google Sans Flex"/>
                        </a:rPr>
                        <a:t>Random 149</a:t>
                      </a:r>
                    </a:p>
                  </a:txBody>
                  <a:tcPr marL="45720" marR="45720" marT="18288" marB="18288">
                    <a:solidFill>
                      <a:srgbClr val="F1F3F4"/>
                    </a:solidFill>
                  </a:tcPr>
                </a:tc>
                <a:tc>
                  <a:txBody>
                    <a:bodyPr/>
                    <a:lstStyle/>
                    <a:p>
                      <a:pPr algn="ctr"/>
                      <a:r>
                        <a:rPr sz="1200" b="0">
                          <a:solidFill>
                            <a:srgbClr val="202124"/>
                          </a:solidFill>
                          <a:latin typeface="Google Sans Flex"/>
                        </a:rPr>
                        <a:t>149</a:t>
                      </a:r>
                    </a:p>
                  </a:txBody>
                  <a:tcPr marL="45720" marR="45720" marT="18288" marB="18288">
                    <a:solidFill>
                      <a:srgbClr val="F1F3F4"/>
                    </a:solidFill>
                  </a:tcPr>
                </a:tc>
                <a:tc>
                  <a:txBody>
                    <a:bodyPr/>
                    <a:lstStyle/>
                    <a:p>
                      <a:pPr algn="ctr"/>
                      <a:r>
                        <a:rPr sz="1200" b="0">
                          <a:solidFill>
                            <a:srgbClr val="202124"/>
                          </a:solidFill>
                          <a:latin typeface="Google Sans Flex"/>
                        </a:rPr>
                        <a:t>33</a:t>
                      </a:r>
                    </a:p>
                  </a:txBody>
                  <a:tcPr marL="45720" marR="45720" marT="18288" marB="18288">
                    <a:solidFill>
                      <a:srgbClr val="F1F3F4"/>
                    </a:solidFill>
                  </a:tcPr>
                </a:tc>
                <a:tc>
                  <a:txBody>
                    <a:bodyPr/>
                    <a:lstStyle/>
                    <a:p>
                      <a:pPr algn="ctr"/>
                      <a:r>
                        <a:rPr sz="1200" b="0">
                          <a:solidFill>
                            <a:srgbClr val="202124"/>
                          </a:solidFill>
                          <a:latin typeface="Google Sans Flex"/>
                        </a:rPr>
                        <a:t>1.1</a:t>
                      </a:r>
                    </a:p>
                  </a:txBody>
                  <a:tcPr marL="45720" marR="45720" marT="18288" marB="18288">
                    <a:solidFill>
                      <a:srgbClr val="F1F3F4"/>
                    </a:solidFill>
                  </a:tcPr>
                </a:tc>
              </a:tr>
              <a:tr h="347472">
                <a:tc>
                  <a:txBody>
                    <a:bodyPr/>
                    <a:lstStyle/>
                    <a:p>
                      <a:pPr algn="l"/>
                      <a:r>
                        <a:rPr sz="1200" b="0">
                          <a:solidFill>
                            <a:srgbClr val="202124"/>
                          </a:solidFill>
                          <a:latin typeface="Google Sans Flex"/>
                        </a:rPr>
                        <a:t>Confidence only</a:t>
                      </a:r>
                    </a:p>
                  </a:txBody>
                  <a:tcPr marL="45720" marR="45720" marT="18288" marB="18288">
                    <a:solidFill>
                      <a:srgbClr val="FFFFFF"/>
                    </a:solidFill>
                  </a:tcPr>
                </a:tc>
                <a:tc>
                  <a:txBody>
                    <a:bodyPr/>
                    <a:lstStyle/>
                    <a:p>
                      <a:pPr algn="ctr"/>
                      <a:r>
                        <a:rPr sz="1200" b="0">
                          <a:solidFill>
                            <a:srgbClr val="202124"/>
                          </a:solidFill>
                          <a:latin typeface="Google Sans Flex"/>
                        </a:rPr>
                        <a:t>149</a:t>
                      </a:r>
                    </a:p>
                  </a:txBody>
                  <a:tcPr marL="45720" marR="45720" marT="18288" marB="18288">
                    <a:solidFill>
                      <a:srgbClr val="FFFFFF"/>
                    </a:solidFill>
                  </a:tcPr>
                </a:tc>
                <a:tc>
                  <a:txBody>
                    <a:bodyPr/>
                    <a:lstStyle/>
                    <a:p>
                      <a:pPr algn="ctr"/>
                      <a:r>
                        <a:rPr sz="1200" b="0">
                          <a:solidFill>
                            <a:srgbClr val="202124"/>
                          </a:solidFill>
                          <a:latin typeface="Google Sans Flex"/>
                        </a:rPr>
                        <a:t>19</a:t>
                      </a:r>
                    </a:p>
                  </a:txBody>
                  <a:tcPr marL="45720" marR="45720" marT="18288" marB="18288">
                    <a:solidFill>
                      <a:srgbClr val="FFFFFF"/>
                    </a:solidFill>
                  </a:tcPr>
                </a:tc>
                <a:tc>
                  <a:txBody>
                    <a:bodyPr/>
                    <a:lstStyle/>
                    <a:p>
                      <a:pPr algn="ctr"/>
                      <a:r>
                        <a:rPr sz="1200" b="0">
                          <a:solidFill>
                            <a:srgbClr val="202124"/>
                          </a:solidFill>
                          <a:latin typeface="Google Sans Flex"/>
                        </a:rPr>
                        <a:t>2.6</a:t>
                      </a:r>
                    </a:p>
                  </a:txBody>
                  <a:tcPr marL="45720" marR="45720" marT="18288" marB="18288">
                    <a:solidFill>
                      <a:srgbClr val="FFFFFF"/>
                    </a:solidFill>
                  </a:tcPr>
                </a:tc>
              </a:tr>
              <a:tr h="347472">
                <a:tc>
                  <a:txBody>
                    <a:bodyPr/>
                    <a:lstStyle/>
                    <a:p>
                      <a:pPr algn="l"/>
                      <a:r>
                        <a:rPr sz="1200" b="0">
                          <a:solidFill>
                            <a:srgbClr val="202124"/>
                          </a:solidFill>
                          <a:latin typeface="Google Sans Flex"/>
                        </a:rPr>
                        <a:t>Warden gate</a:t>
                      </a:r>
                    </a:p>
                  </a:txBody>
                  <a:tcPr marL="45720" marR="45720" marT="18288" marB="18288">
                    <a:solidFill>
                      <a:srgbClr val="F1F3F4"/>
                    </a:solidFill>
                  </a:tcPr>
                </a:tc>
                <a:tc>
                  <a:txBody>
                    <a:bodyPr/>
                    <a:lstStyle/>
                    <a:p>
                      <a:pPr algn="ctr"/>
                      <a:r>
                        <a:rPr sz="1200" b="0">
                          <a:solidFill>
                            <a:srgbClr val="202124"/>
                          </a:solidFill>
                          <a:latin typeface="Google Sans Flex"/>
                        </a:rPr>
                        <a:t>149</a:t>
                      </a:r>
                    </a:p>
                  </a:txBody>
                  <a:tcPr marL="45720" marR="45720" marT="18288" marB="18288">
                    <a:solidFill>
                      <a:srgbClr val="F1F3F4"/>
                    </a:solidFill>
                  </a:tcPr>
                </a:tc>
                <a:tc>
                  <a:txBody>
                    <a:bodyPr/>
                    <a:lstStyle/>
                    <a:p>
                      <a:pPr algn="ctr"/>
                      <a:r>
                        <a:rPr sz="1200" b="0">
                          <a:solidFill>
                            <a:srgbClr val="202124"/>
                          </a:solidFill>
                          <a:latin typeface="Google Sans Flex"/>
                        </a:rPr>
                        <a:t>29</a:t>
                      </a:r>
                    </a:p>
                  </a:txBody>
                  <a:tcPr marL="45720" marR="45720" marT="18288" marB="18288">
                    <a:solidFill>
                      <a:srgbClr val="F1F3F4"/>
                    </a:solidFill>
                  </a:tcPr>
                </a:tc>
                <a:tc>
                  <a:txBody>
                    <a:bodyPr/>
                    <a:lstStyle/>
                    <a:p>
                      <a:pPr algn="ctr"/>
                      <a:r>
                        <a:rPr sz="1200" b="0">
                          <a:solidFill>
                            <a:srgbClr val="202124"/>
                          </a:solidFill>
                          <a:latin typeface="Google Sans Flex"/>
                        </a:rPr>
                        <a:t>0.0</a:t>
                      </a:r>
                    </a:p>
                  </a:txBody>
                  <a:tcPr marL="45720" marR="45720" marT="18288" marB="18288">
                    <a:solidFill>
                      <a:srgbClr val="F1F3F4"/>
                    </a:solidFill>
                  </a:tcPr>
                </a:tc>
              </a:tr>
            </a:tbl>
          </a:graphicData>
        </a:graphic>
      </p:graphicFrame>
      <p:sp>
        <p:nvSpPr>
          <p:cNvPr id="157" name="caveat card"/>
          <p:cNvSpPr/>
          <p:nvPr/>
        </p:nvSpPr>
        <p:spPr>
          <a:xfrm>
            <a:off x="274320" y="4069080"/>
            <a:ext cx="8595360" cy="8686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caveat text"/>
          <p:cNvSpPr txBox="1"/>
          <p:nvPr/>
        </p:nvSpPr>
        <p:spPr>
          <a:xfrm>
            <a:off x="365760" y="4069080"/>
            <a:ext cx="8412480" cy="868680"/>
          </a:xfrm>
          <a:prstGeom prst="rect">
            <a:avLst/>
          </a:prstGeom>
          <a:noFill/>
        </p:spPr>
        <p:txBody>
          <a:bodyPr wrap="square" anchor="ctr" lIns="36576" rIns="36576" tIns="18288" bIns="18288">
            <a:spAutoFit/>
          </a:bodyPr>
          <a:lstStyle/>
          <a:p>
            <a:pPr algn="l">
              <a:spcAft>
                <a:spcPts val="400"/>
              </a:spcAft>
            </a:pPr>
            <a:r>
              <a:rPr sz="1200" b="0">
                <a:solidFill>
                  <a:srgbClr val="202124"/>
                </a:solidFill>
                <a:latin typeface="Google Sans Flex"/>
              </a:rPr>
              <a:t>Warden lets more wrong diagnoses run alone (29) than confidence alone (19), but only actions that can be undone, so harm stays at zero. Harm is weighted by our action table's reversibility values, so low harm partly follows from the gate's design. The chart shows how much autonomy that costs.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Root-cause ranking detail (RCAEval RE1)</a:t>
            </a:r>
            <a:endParaRPr sz="1600">
              <a:latin typeface="Google Sans Flex Medium"/>
              <a:ea typeface="Google Sans Flex Medium"/>
              <a:cs typeface="Google Sans Flex Medium"/>
              <a:sym typeface="Google Sans Flex Medium"/>
            </a:endParaRPr>
          </a:p>
        </p:txBody>
      </p:sp>
      <p:graphicFrame>
        <p:nvGraphicFramePr>
          <p:cNvPr id="152" name="RE1 by fault chart"/>
          <p:cNvGraphicFramePr>
            <a:graphicFrameLocks noGrp="1"/>
          </p:cNvGraphicFramePr>
          <p:nvPr/>
        </p:nvGraphicFramePr>
        <p:xfrm>
          <a:off x="274320" y="1051560"/>
          <a:ext cx="4572000" cy="3154680"/>
        </p:xfrm>
        <a:graphic>
          <a:graphicData uri="http://schemas.openxmlformats.org/drawingml/2006/chart">
            <c:chart r:id="rId2"/>
          </a:graphicData>
        </a:graphic>
      </p:graphicFrame>
      <p:sp>
        <p:nvSpPr>
          <p:cNvPr id="153" name="table title"/>
          <p:cNvSpPr txBox="1"/>
          <p:nvPr/>
        </p:nvSpPr>
        <p:spPr>
          <a:xfrm>
            <a:off x="4983480" y="1051560"/>
            <a:ext cx="3886200" cy="5029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Difference from BARO, Avg@5 (95% interval)</a:t>
            </a:r>
          </a:p>
        </p:txBody>
      </p:sp>
      <p:graphicFrame>
        <p:nvGraphicFramePr>
          <p:cNvPr id="154" name="RE1 paired table"/>
          <p:cNvGraphicFramePr>
            <a:graphicFrameLocks noGrp="1"/>
          </p:cNvGraphicFramePr>
          <p:nvPr/>
        </p:nvGraphicFramePr>
        <p:xfrm>
          <a:off x="4983480" y="1554480"/>
          <a:ext cx="3886200" cy="1554480"/>
        </p:xfrm>
        <a:graphic>
          <a:graphicData uri="http://schemas.openxmlformats.org/drawingml/2006/table">
            <a:tbl>
              <a:tblPr firstRow="1" bandRow="1">
                <a:tableStyleId>{5C22544A-7EE6-4342-B048-85BDC9FD1C3A}</a:tableStyleId>
              </a:tblPr>
              <a:tblGrid>
                <a:gridCol w="1325880"/>
                <a:gridCol w="411480"/>
                <a:gridCol w="2148840"/>
              </a:tblGrid>
              <a:tr h="310896">
                <a:tc>
                  <a:txBody>
                    <a:bodyPr/>
                    <a:lstStyle/>
                    <a:p>
                      <a:pPr algn="l"/>
                      <a:r>
                        <a:rPr sz="1200" b="1">
                          <a:solidFill>
                            <a:srgbClr val="FFFFFF"/>
                          </a:solidFill>
                          <a:latin typeface="Google Sans Flex SemiBold"/>
                        </a:rPr>
                        <a:t>Subset</a:t>
                      </a:r>
                    </a:p>
                  </a:txBody>
                  <a:tcPr marL="45720" marR="45720" marT="18288" marB="18288">
                    <a:solidFill>
                      <a:srgbClr val="1A73E8"/>
                    </a:solidFill>
                  </a:tcPr>
                </a:tc>
                <a:tc>
                  <a:txBody>
                    <a:bodyPr/>
                    <a:lstStyle/>
                    <a:p>
                      <a:pPr algn="ctr"/>
                      <a:r>
                        <a:rPr sz="1200" b="1">
                          <a:solidFill>
                            <a:srgbClr val="FFFFFF"/>
                          </a:solidFill>
                          <a:latin typeface="Google Sans Flex SemiBold"/>
                        </a:rPr>
                        <a:t>n</a:t>
                      </a:r>
                    </a:p>
                  </a:txBody>
                  <a:tcPr marL="45720" marR="45720" marT="18288" marB="18288">
                    <a:solidFill>
                      <a:srgbClr val="1A73E8"/>
                    </a:solidFill>
                  </a:tcPr>
                </a:tc>
                <a:tc>
                  <a:txBody>
                    <a:bodyPr/>
                    <a:lstStyle/>
                    <a:p>
                      <a:pPr algn="ctr"/>
                      <a:r>
                        <a:rPr sz="1200" b="1">
                          <a:solidFill>
                            <a:srgbClr val="FFFFFF"/>
                          </a:solidFill>
                          <a:latin typeface="Google Sans Flex SemiBold"/>
                        </a:rPr>
                        <a:t>Tolerance minus BARO</a:t>
                      </a:r>
                    </a:p>
                  </a:txBody>
                  <a:tcPr marL="45720" marR="45720" marT="18288" marB="18288">
                    <a:solidFill>
                      <a:srgbClr val="1A73E8"/>
                    </a:solidFill>
                  </a:tcPr>
                </a:tc>
              </a:tr>
              <a:tr h="310896">
                <a:tc>
                  <a:txBody>
                    <a:bodyPr/>
                    <a:lstStyle/>
                    <a:p>
                      <a:pPr algn="l"/>
                      <a:r>
                        <a:rPr sz="1200" b="0">
                          <a:solidFill>
                            <a:srgbClr val="202124"/>
                          </a:solidFill>
                          <a:latin typeface="Google Sans Flex"/>
                        </a:rPr>
                        <a:t>all</a:t>
                      </a:r>
                    </a:p>
                  </a:txBody>
                  <a:tcPr marL="45720" marR="45720" marT="18288" marB="18288">
                    <a:solidFill>
                      <a:srgbClr val="FFFFFF"/>
                    </a:solidFill>
                  </a:tcPr>
                </a:tc>
                <a:tc>
                  <a:txBody>
                    <a:bodyPr/>
                    <a:lstStyle/>
                    <a:p>
                      <a:pPr algn="ctr"/>
                      <a:r>
                        <a:rPr sz="1200" b="0">
                          <a:solidFill>
                            <a:srgbClr val="202124"/>
                          </a:solidFill>
                          <a:latin typeface="Google Sans Flex"/>
                        </a:rPr>
                        <a:t>298</a:t>
                      </a:r>
                    </a:p>
                  </a:txBody>
                  <a:tcPr marL="45720" marR="45720" marT="18288" marB="18288">
                    <a:solidFill>
                      <a:srgbClr val="FFFFFF"/>
                    </a:solidFill>
                  </a:tcPr>
                </a:tc>
                <a:tc>
                  <a:txBody>
                    <a:bodyPr/>
                    <a:lstStyle/>
                    <a:p>
                      <a:pPr algn="ctr"/>
                      <a:r>
                        <a:rPr sz="1200" b="0">
                          <a:solidFill>
                            <a:srgbClr val="202124"/>
                          </a:solidFill>
                          <a:latin typeface="Google Sans Flex"/>
                        </a:rPr>
                        <a:t>+0.08  [+0.05, +0.12]</a:t>
                      </a:r>
                    </a:p>
                  </a:txBody>
                  <a:tcPr marL="45720" marR="45720" marT="18288" marB="18288">
                    <a:solidFill>
                      <a:srgbClr val="FFFFFF"/>
                    </a:solidFill>
                  </a:tcPr>
                </a:tc>
              </a:tr>
              <a:tr h="310896">
                <a:tc>
                  <a:txBody>
                    <a:bodyPr/>
                    <a:lstStyle/>
                    <a:p>
                      <a:pPr algn="l"/>
                      <a:r>
                        <a:rPr sz="1200" b="0">
                          <a:solidFill>
                            <a:srgbClr val="202124"/>
                          </a:solidFill>
                          <a:latin typeface="Google Sans Flex"/>
                        </a:rPr>
                        <a:t>Train Ticket</a:t>
                      </a:r>
                    </a:p>
                  </a:txBody>
                  <a:tcPr marL="45720" marR="45720" marT="18288" marB="18288">
                    <a:solidFill>
                      <a:srgbClr val="F1F3F4"/>
                    </a:solidFill>
                  </a:tcPr>
                </a:tc>
                <a:tc>
                  <a:txBody>
                    <a:bodyPr/>
                    <a:lstStyle/>
                    <a:p>
                      <a:pPr algn="ctr"/>
                      <a:r>
                        <a:rPr sz="1200" b="0">
                          <a:solidFill>
                            <a:srgbClr val="202124"/>
                          </a:solidFill>
                          <a:latin typeface="Google Sans Flex"/>
                        </a:rPr>
                        <a:t>100</a:t>
                      </a:r>
                    </a:p>
                  </a:txBody>
                  <a:tcPr marL="45720" marR="45720" marT="18288" marB="18288">
                    <a:solidFill>
                      <a:srgbClr val="F1F3F4"/>
                    </a:solidFill>
                  </a:tcPr>
                </a:tc>
                <a:tc>
                  <a:txBody>
                    <a:bodyPr/>
                    <a:lstStyle/>
                    <a:p>
                      <a:pPr algn="ctr"/>
                      <a:r>
                        <a:rPr sz="1200" b="0">
                          <a:solidFill>
                            <a:srgbClr val="202124"/>
                          </a:solidFill>
                          <a:latin typeface="Google Sans Flex"/>
                        </a:rPr>
                        <a:t>+0.19  [+0.10, +0.27]</a:t>
                      </a:r>
                    </a:p>
                  </a:txBody>
                  <a:tcPr marL="45720" marR="45720" marT="18288" marB="18288">
                    <a:solidFill>
                      <a:srgbClr val="F1F3F4"/>
                    </a:solidFill>
                  </a:tcPr>
                </a:tc>
              </a:tr>
              <a:tr h="310896">
                <a:tc>
                  <a:txBody>
                    <a:bodyPr/>
                    <a:lstStyle/>
                    <a:p>
                      <a:pPr algn="l"/>
                      <a:r>
                        <a:rPr sz="1200" b="0">
                          <a:solidFill>
                            <a:srgbClr val="202124"/>
                          </a:solidFill>
                          <a:latin typeface="Google Sans Flex"/>
                        </a:rPr>
                        <a:t>Online Boutique</a:t>
                      </a:r>
                    </a:p>
                  </a:txBody>
                  <a:tcPr marL="45720" marR="45720" marT="18288" marB="18288">
                    <a:solidFill>
                      <a:srgbClr val="FFFFFF"/>
                    </a:solidFill>
                  </a:tcPr>
                </a:tc>
                <a:tc>
                  <a:txBody>
                    <a:bodyPr/>
                    <a:lstStyle/>
                    <a:p>
                      <a:pPr algn="ctr"/>
                      <a:r>
                        <a:rPr sz="1200" b="0">
                          <a:solidFill>
                            <a:srgbClr val="202124"/>
                          </a:solidFill>
                          <a:latin typeface="Google Sans Flex"/>
                        </a:rPr>
                        <a:t>98</a:t>
                      </a:r>
                    </a:p>
                  </a:txBody>
                  <a:tcPr marL="45720" marR="45720" marT="18288" marB="18288">
                    <a:solidFill>
                      <a:srgbClr val="FFFFFF"/>
                    </a:solidFill>
                  </a:tcPr>
                </a:tc>
                <a:tc>
                  <a:txBody>
                    <a:bodyPr/>
                    <a:lstStyle/>
                    <a:p>
                      <a:pPr algn="ctr"/>
                      <a:r>
                        <a:rPr sz="1200" b="0">
                          <a:solidFill>
                            <a:srgbClr val="202124"/>
                          </a:solidFill>
                          <a:latin typeface="Google Sans Flex"/>
                        </a:rPr>
                        <a:t>+0.04  [-0.01, +0.10]</a:t>
                      </a:r>
                    </a:p>
                  </a:txBody>
                  <a:tcPr marL="45720" marR="45720" marT="18288" marB="18288">
                    <a:solidFill>
                      <a:srgbClr val="FFFFFF"/>
                    </a:solidFill>
                  </a:tcPr>
                </a:tc>
              </a:tr>
              <a:tr h="310896">
                <a:tc>
                  <a:txBody>
                    <a:bodyPr/>
                    <a:lstStyle/>
                    <a:p>
                      <a:pPr algn="l"/>
                      <a:r>
                        <a:rPr sz="1200" b="0">
                          <a:solidFill>
                            <a:srgbClr val="202124"/>
                          </a:solidFill>
                          <a:latin typeface="Google Sans Flex"/>
                        </a:rPr>
                        <a:t>Sock Shop</a:t>
                      </a:r>
                    </a:p>
                  </a:txBody>
                  <a:tcPr marL="45720" marR="45720" marT="18288" marB="18288">
                    <a:solidFill>
                      <a:srgbClr val="F1F3F4"/>
                    </a:solidFill>
                  </a:tcPr>
                </a:tc>
                <a:tc>
                  <a:txBody>
                    <a:bodyPr/>
                    <a:lstStyle/>
                    <a:p>
                      <a:pPr algn="ctr"/>
                      <a:r>
                        <a:rPr sz="1200" b="0">
                          <a:solidFill>
                            <a:srgbClr val="202124"/>
                          </a:solidFill>
                          <a:latin typeface="Google Sans Flex"/>
                        </a:rPr>
                        <a:t>100</a:t>
                      </a:r>
                    </a:p>
                  </a:txBody>
                  <a:tcPr marL="45720" marR="45720" marT="18288" marB="18288">
                    <a:solidFill>
                      <a:srgbClr val="F1F3F4"/>
                    </a:solidFill>
                  </a:tcPr>
                </a:tc>
                <a:tc>
                  <a:txBody>
                    <a:bodyPr/>
                    <a:lstStyle/>
                    <a:p>
                      <a:pPr algn="ctr"/>
                      <a:r>
                        <a:rPr sz="1200" b="0">
                          <a:solidFill>
                            <a:srgbClr val="202124"/>
                          </a:solidFill>
                          <a:latin typeface="Google Sans Flex"/>
                        </a:rPr>
                        <a:t>+0.02  [-0.01, +0.05]</a:t>
                      </a:r>
                    </a:p>
                  </a:txBody>
                  <a:tcPr marL="45720" marR="45720" marT="18288" marB="18288">
                    <a:solidFill>
                      <a:srgbClr val="F1F3F4"/>
                    </a:solidFill>
                  </a:tcPr>
                </a:tc>
              </a:tr>
            </a:tbl>
          </a:graphicData>
        </a:graphic>
      </p:graphicFrame>
      <p:sp>
        <p:nvSpPr>
          <p:cNvPr id="155" name="reading"/>
          <p:cNvSpPr txBox="1"/>
          <p:nvPr/>
        </p:nvSpPr>
        <p:spPr>
          <a:xfrm>
            <a:off x="4983480" y="3200400"/>
            <a:ext cx="3886200" cy="1051560"/>
          </a:xfrm>
          <a:prstGeom prst="rect">
            <a:avLst/>
          </a:prstGeom>
          <a:noFill/>
        </p:spPr>
        <p:txBody>
          <a:bodyPr wrap="square" anchor="t" lIns="36576" rIns="36576" tIns="18288" bIns="18288">
            <a:spAutoFit/>
          </a:bodyPr>
          <a:lstStyle/>
          <a:p>
            <a:pPr algn="l" marL="164592" indent="-164592">
              <a:spcAft>
                <a:spcPts val="300"/>
              </a:spcAft>
              <a:buChar char="•"/>
            </a:pPr>
            <a:r>
              <a:rPr sz="1200" b="0">
                <a:solidFill>
                  <a:srgbClr val="202124"/>
                </a:solidFill>
                <a:latin typeface="Google Sans Flex"/>
              </a:rPr>
              <a:t>BARO is already at 0.96 on Sock Shop, so there is little room.</a:t>
            </a:r>
          </a:p>
          <a:p>
            <a:pPr algn="l" marL="164592" indent="-164592">
              <a:spcAft>
                <a:spcPts val="300"/>
              </a:spcAft>
              <a:buChar char="•"/>
            </a:pPr>
            <a:r>
              <a:rPr sz="1200" b="0">
                <a:solidFill>
                  <a:srgbClr val="202124"/>
                </a:solidFill>
                <a:latin typeface="Google Sans Flex"/>
              </a:rPr>
              <a:t>Packet loss gains most by fault: 0.59 to 0.84.</a:t>
            </a:r>
          </a:p>
          <a:p>
            <a:pPr algn="l" marL="164592" indent="-164592">
              <a:spcAft>
                <a:spcPts val="400"/>
              </a:spcAft>
              <a:buChar char="•"/>
            </a:pPr>
            <a:r>
              <a:rPr sz="1200" b="0">
                <a:solidFill>
                  <a:srgbClr val="5F6368"/>
                </a:solidFill>
                <a:latin typeface="Google Sans Flex"/>
              </a:rPr>
              <a:t>Pooled rows use the four faults the BARO paper reports.</a:t>
            </a:r>
          </a:p>
        </p:txBody>
      </p:sp>
      <p:sp>
        <p:nvSpPr>
          <p:cNvPr id="156" name="takeaway"/>
          <p:cNvSpPr/>
          <p:nvPr/>
        </p:nvSpPr>
        <p:spPr>
          <a:xfrm>
            <a:off x="274320" y="4315968"/>
            <a:ext cx="8595360" cy="621792"/>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akeaway text"/>
          <p:cNvSpPr txBox="1"/>
          <p:nvPr/>
        </p:nvSpPr>
        <p:spPr>
          <a:xfrm>
            <a:off x="411480" y="4315968"/>
            <a:ext cx="8321040" cy="621792"/>
          </a:xfrm>
          <a:prstGeom prst="rect">
            <a:avLst/>
          </a:prstGeom>
          <a:noFill/>
        </p:spPr>
        <p:txBody>
          <a:bodyPr wrap="square" anchor="ctr" lIns="36576" rIns="36576" tIns="18288" bIns="18288">
            <a:spAutoFit/>
          </a:bodyPr>
          <a:lstStyle/>
          <a:p>
            <a:pPr algn="l">
              <a:spcAft>
                <a:spcPts val="400"/>
              </a:spcAft>
            </a:pPr>
            <a:r>
              <a:rPr sz="1200" b="1">
                <a:solidFill>
                  <a:srgbClr val="1A73E8"/>
                </a:solidFill>
                <a:latin typeface="Google Sans Flex SemiBold"/>
              </a:rPr>
              <a:t>Pooled: +0.08 Avg@5 over BARO (interval +0.05 to +0.12). Train Ticket: +0.19 against our BARO run (0.66); the BARO paper reports 0.79 for this system.</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What the results cover, and the next tests</a:t>
            </a:r>
            <a:endParaRPr sz="1600">
              <a:latin typeface="Google Sans Flex Medium"/>
              <a:ea typeface="Google Sans Flex Medium"/>
              <a:cs typeface="Google Sans Flex Medium"/>
              <a:sym typeface="Google Sans Flex Medium"/>
            </a:endParaRPr>
          </a:p>
        </p:txBody>
      </p:sp>
      <p:sp>
        <p:nvSpPr>
          <p:cNvPr id="152" name="threats card"/>
          <p:cNvSpPr/>
          <p:nvPr/>
        </p:nvSpPr>
        <p:spPr>
          <a:xfrm>
            <a:off x="274320" y="1051560"/>
            <a:ext cx="4251960" cy="301752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hreats text"/>
          <p:cNvSpPr txBox="1"/>
          <p:nvPr/>
        </p:nvSpPr>
        <p:spPr>
          <a:xfrm>
            <a:off x="365760" y="1097280"/>
            <a:ext cx="4069080" cy="2926080"/>
          </a:xfrm>
          <a:prstGeom prst="rect">
            <a:avLst/>
          </a:prstGeom>
          <a:noFill/>
        </p:spPr>
        <p:txBody>
          <a:bodyPr wrap="square" anchor="t" lIns="36576" rIns="36576" tIns="18288" bIns="18288">
            <a:spAutoFit/>
          </a:bodyPr>
          <a:lstStyle/>
          <a:p>
            <a:pPr algn="l">
              <a:spcAft>
                <a:spcPts val="500"/>
              </a:spcAft>
            </a:pPr>
            <a:r>
              <a:rPr sz="1400" b="1">
                <a:solidFill>
                  <a:srgbClr val="1A73E8"/>
                </a:solidFill>
                <a:latin typeface="Google Sans Flex SemiBold"/>
              </a:rPr>
              <a:t>What the results cover</a:t>
            </a:r>
          </a:p>
          <a:p>
            <a:pPr algn="l" marL="164592" indent="-164592">
              <a:spcAft>
                <a:spcPts val="400"/>
              </a:spcAft>
              <a:buChar char="•"/>
            </a:pPr>
            <a:r>
              <a:rPr sz="1200" b="0">
                <a:solidFill>
                  <a:srgbClr val="202124"/>
                </a:solidFill>
                <a:latin typeface="Google Sans Flex"/>
              </a:rPr>
              <a:t>Software incidents on RCAEval. A factory pilot is the next step.</a:t>
            </a:r>
          </a:p>
          <a:p>
            <a:pPr algn="l" marL="164592" indent="-164592">
              <a:spcAft>
                <a:spcPts val="400"/>
              </a:spcAft>
              <a:buChar char="•"/>
            </a:pPr>
            <a:r>
              <a:rPr sz="1200" b="0">
                <a:solidFill>
                  <a:srgbClr val="202124"/>
                </a:solidFill>
                <a:latin typeface="Google Sans Flex"/>
              </a:rPr>
              <a:t>The probes were developed on these cases, so RE2 is the held-out test.</a:t>
            </a:r>
          </a:p>
          <a:p>
            <a:pPr algn="l" marL="164592" indent="-164592">
              <a:spcAft>
                <a:spcPts val="400"/>
              </a:spcAft>
              <a:buChar char="•"/>
            </a:pPr>
            <a:r>
              <a:rPr sz="1200" b="0">
                <a:solidFill>
                  <a:srgbClr val="202124"/>
                </a:solidFill>
                <a:latin typeface="Google Sans Flex"/>
              </a:rPr>
              <a:t>Harm uses the action table's reversibility values, not measured damage.</a:t>
            </a:r>
          </a:p>
          <a:p>
            <a:pPr algn="l" marL="164592" indent="-164592">
              <a:spcAft>
                <a:spcPts val="400"/>
              </a:spcAft>
              <a:buChar char="•"/>
            </a:pPr>
            <a:r>
              <a:rPr sz="1200" b="0">
                <a:solidFill>
                  <a:srgbClr val="202124"/>
                </a:solidFill>
                <a:latin typeface="Google Sans Flex"/>
              </a:rPr>
              <a:t>The backtest uses the metrics-first diagnosis, not Gemini.</a:t>
            </a:r>
          </a:p>
          <a:p>
            <a:pPr algn="l" marL="164592" indent="-164592">
              <a:spcAft>
                <a:spcPts val="400"/>
              </a:spcAft>
              <a:buChar char="•"/>
            </a:pPr>
            <a:r>
              <a:rPr sz="1200" b="0">
                <a:solidFill>
                  <a:srgbClr val="202124"/>
                </a:solidFill>
                <a:latin typeface="Google Sans Flex"/>
              </a:rPr>
              <a:t>Our run of BARO on Train Ticket is 0.65; the paper reports 0.79.</a:t>
            </a:r>
          </a:p>
        </p:txBody>
      </p:sp>
      <p:sp>
        <p:nvSpPr>
          <p:cNvPr id="154" name="next card"/>
          <p:cNvSpPr/>
          <p:nvPr/>
        </p:nvSpPr>
        <p:spPr>
          <a:xfrm>
            <a:off x="4617720" y="1051560"/>
            <a:ext cx="4251960" cy="301752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next text"/>
          <p:cNvSpPr txBox="1"/>
          <p:nvPr/>
        </p:nvSpPr>
        <p:spPr>
          <a:xfrm>
            <a:off x="4709160" y="1097280"/>
            <a:ext cx="4069080" cy="2926080"/>
          </a:xfrm>
          <a:prstGeom prst="rect">
            <a:avLst/>
          </a:prstGeom>
          <a:noFill/>
        </p:spPr>
        <p:txBody>
          <a:bodyPr wrap="square" anchor="t" lIns="36576" rIns="36576" tIns="18288" bIns="18288">
            <a:spAutoFit/>
          </a:bodyPr>
          <a:lstStyle/>
          <a:p>
            <a:pPr algn="l">
              <a:spcAft>
                <a:spcPts val="500"/>
              </a:spcAft>
            </a:pPr>
            <a:r>
              <a:rPr sz="1400" b="1">
                <a:solidFill>
                  <a:srgbClr val="188038"/>
                </a:solidFill>
                <a:latin typeface="Google Sans Flex SemiBold"/>
              </a:rPr>
              <a:t>What we run next</a:t>
            </a:r>
          </a:p>
          <a:p>
            <a:pPr algn="l" marL="164592" indent="-164592">
              <a:spcAft>
                <a:spcPts val="400"/>
              </a:spcAft>
              <a:buChar char="•"/>
            </a:pPr>
            <a:r>
              <a:rPr sz="1200" b="0">
                <a:solidFill>
                  <a:srgbClr val="202124"/>
                </a:solidFill>
                <a:latin typeface="Google Sans Flex"/>
              </a:rPr>
              <a:t>RCAEval RE2 (270 cases), the paper's main table, as a held-out test.</a:t>
            </a:r>
          </a:p>
          <a:p>
            <a:pPr algn="l" marL="164592" indent="-164592">
              <a:spcAft>
                <a:spcPts val="400"/>
              </a:spcAft>
              <a:buChar char="•"/>
            </a:pPr>
            <a:r>
              <a:rPr sz="1200" b="0">
                <a:solidFill>
                  <a:srgbClr val="202124"/>
                </a:solidFill>
                <a:latin typeface="Google Sans Flex"/>
              </a:rPr>
              <a:t>The Gemini agent on RE3, where log text should matter, inside the credit budget.</a:t>
            </a:r>
          </a:p>
          <a:p>
            <a:pPr algn="l" marL="164592" indent="-164592">
              <a:spcAft>
                <a:spcPts val="400"/>
              </a:spcAft>
              <a:buChar char="•"/>
            </a:pPr>
            <a:r>
              <a:rPr sz="1200" b="0">
                <a:solidFill>
                  <a:srgbClr val="202124"/>
                </a:solidFill>
                <a:latin typeface="Google Sans Flex"/>
              </a:rPr>
              <a:t>The other baselines (CIRCA, RCD, CausalRCA) once their dependencies fit.</a:t>
            </a:r>
          </a:p>
          <a:p>
            <a:pPr algn="l" marL="164592" indent="-164592">
              <a:spcAft>
                <a:spcPts val="400"/>
              </a:spcAft>
              <a:buChar char="•"/>
            </a:pPr>
            <a:r>
              <a:rPr sz="1200" b="0">
                <a:solidFill>
                  <a:srgbClr val="202124"/>
                </a:solidFill>
                <a:latin typeface="Google Sans Flex"/>
              </a:rPr>
              <a:t>A customer's own incident history replayed through Warden.</a:t>
            </a:r>
          </a:p>
        </p:txBody>
      </p:sp>
      <p:sp>
        <p:nvSpPr>
          <p:cNvPr id="156" name="takeaway"/>
          <p:cNvSpPr/>
          <p:nvPr/>
        </p:nvSpPr>
        <p:spPr>
          <a:xfrm>
            <a:off x="274320" y="4160520"/>
            <a:ext cx="8595360" cy="73152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akeaway text"/>
          <p:cNvSpPr txBox="1"/>
          <p:nvPr/>
        </p:nvSpPr>
        <p:spPr>
          <a:xfrm>
            <a:off x="411480" y="4160520"/>
            <a:ext cx="8321040" cy="731520"/>
          </a:xfrm>
          <a:prstGeom prst="rect">
            <a:avLst/>
          </a:prstGeom>
          <a:noFill/>
        </p:spPr>
        <p:txBody>
          <a:bodyPr wrap="square" anchor="ctr" lIns="36576" rIns="36576" tIns="18288" bIns="18288">
            <a:spAutoFit/>
          </a:bodyPr>
          <a:lstStyle/>
          <a:p>
            <a:pPr algn="l">
              <a:spcAft>
                <a:spcPts val="400"/>
              </a:spcAft>
            </a:pPr>
            <a:r>
              <a:rPr sz="1200" b="1">
                <a:solidFill>
                  <a:srgbClr val="1A73E8"/>
                </a:solidFill>
                <a:latin typeface="Google Sans Flex SemiBold"/>
              </a:rPr>
              <a:t>Reproduce it: python -m bench.research reads the per-case rankings in bench/results and the 465 benchmark incidents (RCAEval) in seed. No downloads, runs in seconds.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the journey, from documents to a decision</a:t>
            </a:r>
            <a:endParaRPr sz="1600">
              <a:latin typeface="Google Sans Flex Medium"/>
              <a:ea typeface="Google Sans Flex Medium"/>
              <a:cs typeface="Google Sans Flex Medium"/>
              <a:sym typeface="Google Sans Flex Medium"/>
            </a:endParaRPr>
          </a:p>
        </p:txBody>
      </p:sp>
      <p:pic>
        <p:nvPicPr>
          <p:cNvPr id="152" name="Journey diagram" descr="02-demo-journey_crop.png"/>
          <p:cNvPicPr>
            <a:picLocks noChangeAspect="1"/>
          </p:cNvPicPr>
          <p:nvPr/>
        </p:nvPicPr>
        <p:blipFill>
          <a:blip r:embed="rId2"/>
          <a:stretch>
            <a:fillRect/>
          </a:stretch>
        </p:blipFill>
        <p:spPr>
          <a:xfrm>
            <a:off x="274319" y="1144055"/>
            <a:ext cx="5486400" cy="2329609"/>
          </a:xfrm>
          <a:prstGeom prst="rect">
            <a:avLst/>
          </a:prstGeom>
        </p:spPr>
      </p:pic>
      <p:sp>
        <p:nvSpPr>
          <p:cNvPr id="153" name="journey text"/>
          <p:cNvSpPr txBox="1"/>
          <p:nvPr/>
        </p:nvSpPr>
        <p:spPr>
          <a:xfrm>
            <a:off x="5897880" y="1097280"/>
            <a:ext cx="3017520" cy="3749039"/>
          </a:xfrm>
          <a:prstGeom prst="rect">
            <a:avLst/>
          </a:prstGeom>
          <a:noFill/>
        </p:spPr>
        <p:txBody>
          <a:bodyPr wrap="square" anchor="t" lIns="36576" rIns="36576" tIns="18288" bIns="18288">
            <a:spAutoFit/>
          </a:bodyPr>
          <a:lstStyle/>
          <a:p>
            <a:pPr algn="l">
              <a:spcAft>
                <a:spcPts val="500"/>
              </a:spcAft>
            </a:pPr>
            <a:r>
              <a:rPr sz="1400" b="1">
                <a:solidFill>
                  <a:srgbClr val="1A73E8"/>
                </a:solidFill>
                <a:latin typeface="Google Sans Flex SemiBold"/>
              </a:rPr>
              <a:t>Six steps</a:t>
            </a:r>
          </a:p>
          <a:p>
            <a:pPr algn="l" marL="164592" indent="-164592">
              <a:spcAft>
                <a:spcPts val="500"/>
              </a:spcAft>
              <a:buChar char="•"/>
            </a:pPr>
            <a:r>
              <a:rPr sz="1200" b="0">
                <a:solidFill>
                  <a:srgbClr val="202124"/>
                </a:solidFill>
                <a:latin typeface="Google Sans Flex"/>
              </a:rPr>
              <a:t>You provide the documents and name the systems that hold the data.</a:t>
            </a:r>
          </a:p>
          <a:p>
            <a:pPr algn="l" marL="164592" indent="-164592">
              <a:spcAft>
                <a:spcPts val="500"/>
              </a:spcAft>
              <a:buChar char="•"/>
            </a:pPr>
            <a:r>
              <a:rPr sz="1200" b="0">
                <a:solidFill>
                  <a:srgbClr val="202124"/>
                </a:solidFill>
                <a:latin typeface="Google Sans Flex"/>
              </a:rPr>
              <a:t>The agents read, connect and compile. You confirm what was understood.</a:t>
            </a:r>
          </a:p>
          <a:p>
            <a:pPr algn="l" marL="164592" indent="-164592">
              <a:spcAft>
                <a:spcPts val="500"/>
              </a:spcAft>
              <a:buChar char="•"/>
            </a:pPr>
            <a:r>
              <a:rPr sz="1200" b="0">
                <a:solidFill>
                  <a:srgbClr val="202124"/>
                </a:solidFill>
                <a:latin typeface="Google Sans Flex"/>
              </a:rPr>
              <a:t>The plant is built from the checked facts, in 2D and 3D.</a:t>
            </a:r>
          </a:p>
          <a:p>
            <a:pPr algn="l" marL="164592" indent="-164592">
              <a:spcAft>
                <a:spcPts val="400"/>
              </a:spcAft>
              <a:buChar char="•"/>
            </a:pPr>
            <a:r>
              <a:rPr sz="1200" b="0">
                <a:solidFill>
                  <a:srgbClr val="202124"/>
                </a:solidFill>
                <a:latin typeface="Google Sans Flex"/>
              </a:rPr>
              <a:t>When a fault is found, the agents gather evidence. The gate decides: it runs alone, or it asks you.</a:t>
            </a:r>
          </a:p>
        </p:txBody>
      </p:sp>
      <p:sp>
        <p:nvSpPr>
          <p:cNvPr id="154" name="journey note"/>
          <p:cNvSpPr txBox="1"/>
          <p:nvPr/>
        </p:nvSpPr>
        <p:spPr>
          <a:xfrm>
            <a:off x="274320" y="3611880"/>
            <a:ext cx="5486400" cy="73152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Boxes in grey are what you provide, in blue what the agents do, in red a decision.</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the safety gate, limits first and then the score</a:t>
            </a:r>
            <a:endParaRPr sz="1600">
              <a:latin typeface="Google Sans Flex Medium"/>
              <a:ea typeface="Google Sans Flex Medium"/>
              <a:cs typeface="Google Sans Flex Medium"/>
              <a:sym typeface="Google Sans Flex Medium"/>
            </a:endParaRPr>
          </a:p>
        </p:txBody>
      </p:sp>
      <p:pic>
        <p:nvPicPr>
          <p:cNvPr id="152" name="Safety gate diagram" descr="03-safety-gate_crop.png"/>
          <p:cNvPicPr>
            <a:picLocks noChangeAspect="1"/>
          </p:cNvPicPr>
          <p:nvPr/>
        </p:nvPicPr>
        <p:blipFill>
          <a:blip r:embed="rId2"/>
          <a:stretch>
            <a:fillRect/>
          </a:stretch>
        </p:blipFill>
        <p:spPr>
          <a:xfrm>
            <a:off x="274320" y="1549204"/>
            <a:ext cx="4114800" cy="2753750"/>
          </a:xfrm>
          <a:prstGeom prst="rect">
            <a:avLst/>
          </a:prstGeom>
        </p:spPr>
      </p:pic>
      <p:sp>
        <p:nvSpPr>
          <p:cNvPr id="153" name="gate text"/>
          <p:cNvSpPr txBox="1"/>
          <p:nvPr/>
        </p:nvSpPr>
        <p:spPr>
          <a:xfrm>
            <a:off x="4526280" y="1051560"/>
            <a:ext cx="4389120" cy="3840480"/>
          </a:xfrm>
          <a:prstGeom prst="rect">
            <a:avLst/>
          </a:prstGeom>
          <a:noFill/>
        </p:spPr>
        <p:txBody>
          <a:bodyPr wrap="square" anchor="t" lIns="36576" rIns="36576" tIns="18288" bIns="18288">
            <a:spAutoFit/>
          </a:bodyPr>
          <a:lstStyle/>
          <a:p>
            <a:pPr algn="l">
              <a:spcAft>
                <a:spcPts val="500"/>
              </a:spcAft>
            </a:pPr>
            <a:r>
              <a:rPr sz="1400" b="1">
                <a:solidFill>
                  <a:srgbClr val="1A73E8"/>
                </a:solidFill>
                <a:latin typeface="Google Sans Flex SemiBold"/>
              </a:rPr>
              <a:t>Why this order</a:t>
            </a:r>
          </a:p>
          <a:p>
            <a:pPr algn="l" marL="164592" indent="-164592">
              <a:spcAft>
                <a:spcPts val="400"/>
              </a:spcAft>
              <a:buChar char="•"/>
            </a:pPr>
            <a:r>
              <a:rPr sz="1200" b="0">
                <a:solidFill>
                  <a:srgbClr val="202124"/>
                </a:solidFill>
                <a:latin typeface="Google Sans Flex"/>
              </a:rPr>
              <a:t>A hard limit from your documents comes first. A score never overrides it.</a:t>
            </a:r>
          </a:p>
          <a:p>
            <a:pPr algn="l" marL="164592" indent="-164592">
              <a:spcAft>
                <a:spcPts val="400"/>
              </a:spcAft>
              <a:buChar char="•"/>
            </a:pPr>
            <a:r>
              <a:rPr sz="1200" b="0">
                <a:solidFill>
                  <a:srgbClr val="202124"/>
                </a:solidFill>
                <a:latin typeface="Google Sans Flex"/>
              </a:rPr>
              <a:t>Warden then scores the action from 0 to 100 on six factors: can it be undone, how much it touches, distance from the limits, strength of the evidence, what people approved before, and the state of the plant.</a:t>
            </a:r>
          </a:p>
          <a:p>
            <a:pPr algn="l" marL="164592" indent="-164592">
              <a:spcAft>
                <a:spcPts val="400"/>
              </a:spcAft>
              <a:buChar char="•"/>
            </a:pPr>
            <a:r>
              <a:rPr sz="1200" b="0">
                <a:solidFill>
                  <a:srgbClr val="202124"/>
                </a:solidFill>
                <a:latin typeface="Google Sans Flex"/>
              </a:rPr>
              <a:t>You set two score thresholds: 40 and 80 by default. Below 40 it is refused. From 40 to 79 you approve. From 80 it runs by itself.</a:t>
            </a:r>
          </a:p>
          <a:p>
            <a:pPr algn="l" marL="164592" indent="-164592">
              <a:spcAft>
                <a:spcPts val="400"/>
              </a:spcAft>
              <a:buChar char="•"/>
            </a:pPr>
            <a:r>
              <a:rPr sz="1200" b="0">
                <a:solidFill>
                  <a:srgbClr val="202124"/>
                </a:solidFill>
                <a:latin typeface="Google Sans Flex"/>
              </a:rPr>
              <a:t>You see what the thresholds would have done on 465 incidents from a public software benchmark (RCAEval) before you trust them.</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the onboarding team</a:t>
            </a:r>
            <a:endParaRPr sz="1600">
              <a:latin typeface="Google Sans Flex Medium"/>
              <a:ea typeface="Google Sans Flex Medium"/>
              <a:cs typeface="Google Sans Flex Medium"/>
              <a:sym typeface="Google Sans Flex Medium"/>
            </a:endParaRPr>
          </a:p>
        </p:txBody>
      </p:sp>
      <p:sp>
        <p:nvSpPr>
          <p:cNvPr id="152" name="agent card"/>
          <p:cNvSpPr/>
          <p:nvPr/>
        </p:nvSpPr>
        <p:spPr>
          <a:xfrm>
            <a:off x="274320" y="1051560"/>
            <a:ext cx="4251960" cy="22402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agent name"/>
          <p:cNvSpPr txBox="1"/>
          <p:nvPr/>
        </p:nvSpPr>
        <p:spPr>
          <a:xfrm>
            <a:off x="365760"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Guide</a:t>
            </a:r>
          </a:p>
        </p:txBody>
      </p:sp>
      <p:sp>
        <p:nvSpPr>
          <p:cNvPr id="154" name="agent mode"/>
          <p:cNvSpPr txBox="1"/>
          <p:nvPr/>
        </p:nvSpPr>
        <p:spPr>
          <a:xfrm>
            <a:off x="28346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 and rules · Gemini</a:t>
            </a:r>
          </a:p>
        </p:txBody>
      </p:sp>
      <p:sp>
        <p:nvSpPr>
          <p:cNvPr id="155" name="agent text"/>
          <p:cNvSpPr txBox="1"/>
          <p:nvPr/>
        </p:nvSpPr>
        <p:spPr>
          <a:xfrm>
            <a:off x="365760" y="1399031"/>
            <a:ext cx="4069080" cy="187452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A plant's documents disagree and have gaps. Only the owner can settle them.</a:t>
            </a:r>
          </a:p>
          <a:p>
            <a:pPr algn="l">
              <a:spcAft>
                <a:spcPts val="200"/>
              </a:spcAft>
            </a:pPr>
            <a:r>
              <a:rPr sz="1000" b="1">
                <a:solidFill>
                  <a:srgbClr val="B06000"/>
                </a:solidFill>
                <a:latin typeface="Google Sans Flex SemiBold"/>
              </a:rPr>
              <a:t>Solution: </a:t>
            </a:r>
            <a:r>
              <a:rPr sz="1000" b="0">
                <a:solidFill>
                  <a:srgbClr val="202124"/>
                </a:solidFill>
                <a:latin typeface="Google Sans Flex"/>
              </a:rPr>
              <a:t>Runs the Document Reader, Connector Scout and Plant Modeler, then asks the owner one question at a time. Gemini writes the words and reads free-text answers. Code checks each answer before it changes anything.</a:t>
            </a:r>
          </a:p>
          <a:p>
            <a:pPr algn="l">
              <a:spcAft>
                <a:spcPts val="200"/>
              </a:spcAft>
            </a:pPr>
            <a:r>
              <a:rPr sz="1000" b="1">
                <a:solidFill>
                  <a:srgbClr val="188038"/>
                </a:solidFill>
                <a:latin typeface="Google Sans Flex SemiBold"/>
              </a:rPr>
              <a:t>Outcomes: </a:t>
            </a:r>
            <a:r>
              <a:rPr sz="1000" b="0">
                <a:solidFill>
                  <a:srgbClr val="202124"/>
                </a:solidFill>
                <a:latin typeface="Google Sans Flex"/>
              </a:rPr>
              <a:t>Settled conflicts · Confirmed limits · What the plant makes · A confirmed overview · A drawn layout · A tour of the app</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Apply an answer that does not match an open question; Write to the plant; Obey instructions found inside documents</a:t>
            </a:r>
          </a:p>
        </p:txBody>
      </p:sp>
      <p:sp>
        <p:nvSpPr>
          <p:cNvPr id="156" name="agent card"/>
          <p:cNvSpPr/>
          <p:nvPr/>
        </p:nvSpPr>
        <p:spPr>
          <a:xfrm>
            <a:off x="4617720" y="1051560"/>
            <a:ext cx="4251960" cy="22402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agent name"/>
          <p:cNvSpPr txBox="1"/>
          <p:nvPr/>
        </p:nvSpPr>
        <p:spPr>
          <a:xfrm>
            <a:off x="4709159"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Document Reader</a:t>
            </a:r>
          </a:p>
        </p:txBody>
      </p:sp>
      <p:sp>
        <p:nvSpPr>
          <p:cNvPr id="158" name="agent mode"/>
          <p:cNvSpPr txBox="1"/>
          <p:nvPr/>
        </p:nvSpPr>
        <p:spPr>
          <a:xfrm>
            <a:off x="71780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 and rules · Gemini</a:t>
            </a:r>
          </a:p>
        </p:txBody>
      </p:sp>
      <p:sp>
        <p:nvSpPr>
          <p:cNvPr id="159" name="agent text"/>
          <p:cNvSpPr txBox="1"/>
          <p:nvPr/>
        </p:nvSpPr>
        <p:spPr>
          <a:xfrm>
            <a:off x="4709159" y="1399031"/>
            <a:ext cx="4069080" cy="187452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Manuals, work instructions and safety sheets hold the limits and the structure of the plant.</a:t>
            </a:r>
          </a:p>
          <a:p>
            <a:pPr algn="l">
              <a:spcAft>
                <a:spcPts val="200"/>
              </a:spcAft>
            </a:pPr>
            <a:r>
              <a:rPr sz="1000" b="1">
                <a:solidFill>
                  <a:srgbClr val="B06000"/>
                </a:solidFill>
                <a:latin typeface="Google Sans Flex SemiBold"/>
              </a:rPr>
              <a:t>Solution: </a:t>
            </a:r>
            <a:r>
              <a:rPr sz="1000" b="0">
                <a:solidFill>
                  <a:srgbClr val="202124"/>
                </a:solidFill>
                <a:latin typeface="Google Sans Flex"/>
              </a:rPr>
              <a:t>Gemini extracts claims; code checks every quote against the page; instructions hidden in documents are removed first.</a:t>
            </a:r>
          </a:p>
          <a:p>
            <a:pPr algn="l">
              <a:spcAft>
                <a:spcPts val="200"/>
              </a:spcAft>
            </a:pPr>
            <a:r>
              <a:rPr sz="1000" b="1">
                <a:solidFill>
                  <a:srgbClr val="188038"/>
                </a:solidFill>
                <a:latin typeface="Google Sans Flex SemiBold"/>
              </a:rPr>
              <a:t>Outcomes: </a:t>
            </a:r>
            <a:r>
              <a:rPr sz="1000" b="0">
                <a:solidFill>
                  <a:srgbClr val="202124"/>
                </a:solidFill>
                <a:latin typeface="Google Sans Flex"/>
              </a:rPr>
              <a:t>Claims with quotes · Conflicts between documents · Missing facts · Hidden instructions flagged</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Obey instructions found inside documents; Write to the plant</a:t>
            </a:r>
          </a:p>
        </p:txBody>
      </p:sp>
      <p:sp>
        <p:nvSpPr>
          <p:cNvPr id="160" name="agent card"/>
          <p:cNvSpPr/>
          <p:nvPr/>
        </p:nvSpPr>
        <p:spPr>
          <a:xfrm>
            <a:off x="274320" y="3364992"/>
            <a:ext cx="4251960" cy="15544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agent name"/>
          <p:cNvSpPr txBox="1"/>
          <p:nvPr/>
        </p:nvSpPr>
        <p:spPr>
          <a:xfrm>
            <a:off x="365760" y="3401568"/>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Connector Scout</a:t>
            </a:r>
          </a:p>
        </p:txBody>
      </p:sp>
      <p:sp>
        <p:nvSpPr>
          <p:cNvPr id="162" name="agent mode"/>
          <p:cNvSpPr txBox="1"/>
          <p:nvPr/>
        </p:nvSpPr>
        <p:spPr>
          <a:xfrm>
            <a:off x="2834640" y="3438144"/>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Model-driven · Gemini</a:t>
            </a:r>
          </a:p>
        </p:txBody>
      </p:sp>
      <p:sp>
        <p:nvSpPr>
          <p:cNvPr id="163" name="agent text"/>
          <p:cNvSpPr txBox="1"/>
          <p:nvPr/>
        </p:nvSpPr>
        <p:spPr>
          <a:xfrm>
            <a:off x="365760" y="3712464"/>
            <a:ext cx="4069080" cy="1188719"/>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A plant has ERP, MES, PLC and file data. Someone must say which is which.</a:t>
            </a:r>
          </a:p>
          <a:p>
            <a:pPr algn="l">
              <a:spcAft>
                <a:spcPts val="200"/>
              </a:spcAft>
            </a:pPr>
            <a:r>
              <a:rPr sz="1000" b="1">
                <a:solidFill>
                  <a:srgbClr val="B06000"/>
                </a:solidFill>
                <a:latin typeface="Google Sans Flex SemiBold"/>
              </a:rPr>
              <a:t>Solution: </a:t>
            </a:r>
            <a:r>
              <a:rPr sz="1000" b="0">
                <a:solidFill>
                  <a:srgbClr val="202124"/>
                </a:solidFill>
                <a:latin typeface="Google Sans Flex"/>
              </a:rPr>
              <a:t>MCP servers list sources and tables. Gemini names the role of each table from its columns.</a:t>
            </a:r>
          </a:p>
          <a:p>
            <a:pPr algn="l">
              <a:spcAft>
                <a:spcPts val="200"/>
              </a:spcAft>
            </a:pPr>
            <a:r>
              <a:rPr sz="1000" b="1">
                <a:solidFill>
                  <a:srgbClr val="188038"/>
                </a:solidFill>
                <a:latin typeface="Google Sans Flex SemiBold"/>
              </a:rPr>
              <a:t>Outcomes: </a:t>
            </a:r>
            <a:r>
              <a:rPr sz="1000" b="0">
                <a:solidFill>
                  <a:srgbClr val="202124"/>
                </a:solidFill>
                <a:latin typeface="Google Sans Flex"/>
              </a:rPr>
              <a:t>Role of each table · Which sources are live · What data is missing</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Write to the plant; Read rows outside SELECT</a:t>
            </a:r>
          </a:p>
        </p:txBody>
      </p:sp>
      <p:sp>
        <p:nvSpPr>
          <p:cNvPr id="164" name="agent card"/>
          <p:cNvSpPr/>
          <p:nvPr/>
        </p:nvSpPr>
        <p:spPr>
          <a:xfrm>
            <a:off x="4617720" y="3364992"/>
            <a:ext cx="4251960" cy="155448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agent name"/>
          <p:cNvSpPr txBox="1"/>
          <p:nvPr/>
        </p:nvSpPr>
        <p:spPr>
          <a:xfrm>
            <a:off x="4709159" y="3401568"/>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Plant Modeler</a:t>
            </a:r>
          </a:p>
        </p:txBody>
      </p:sp>
      <p:sp>
        <p:nvSpPr>
          <p:cNvPr id="166" name="agent mode"/>
          <p:cNvSpPr txBox="1"/>
          <p:nvPr/>
        </p:nvSpPr>
        <p:spPr>
          <a:xfrm>
            <a:off x="7178040" y="3438144"/>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 and rules · Gemini</a:t>
            </a:r>
          </a:p>
        </p:txBody>
      </p:sp>
      <p:sp>
        <p:nvSpPr>
          <p:cNvPr id="167" name="agent text"/>
          <p:cNvSpPr txBox="1"/>
          <p:nvPr/>
        </p:nvSpPr>
        <p:spPr>
          <a:xfrm>
            <a:off x="4709159" y="3712464"/>
            <a:ext cx="4069080" cy="1188719"/>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The 3D model must come from facts a person has checked.</a:t>
            </a:r>
          </a:p>
          <a:p>
            <a:pPr algn="l">
              <a:spcAft>
                <a:spcPts val="200"/>
              </a:spcAft>
            </a:pPr>
            <a:r>
              <a:rPr sz="1000" b="1">
                <a:solidFill>
                  <a:srgbClr val="B06000"/>
                </a:solidFill>
                <a:latin typeface="Google Sans Flex SemiBold"/>
              </a:rPr>
              <a:t>Solution: </a:t>
            </a:r>
            <a:r>
              <a:rPr sz="1000" b="0">
                <a:solidFill>
                  <a:srgbClr val="202124"/>
                </a:solidFill>
                <a:latin typeface="Google Sans Flex"/>
              </a:rPr>
              <a:t>Stations from data, material flow from the documents, limits from the documents. Gemini writes the overview and each sentence cites its source.</a:t>
            </a:r>
          </a:p>
          <a:p>
            <a:pPr algn="l">
              <a:spcAft>
                <a:spcPts val="200"/>
              </a:spcAft>
            </a:pPr>
            <a:r>
              <a:rPr sz="1000" b="1">
                <a:solidFill>
                  <a:srgbClr val="188038"/>
                </a:solidFill>
                <a:latin typeface="Google Sans Flex SemiBold"/>
              </a:rPr>
              <a:t>Outcomes: </a:t>
            </a:r>
            <a:r>
              <a:rPr sz="1000" b="0">
                <a:solidFill>
                  <a:srgbClr val="202124"/>
                </a:solidFill>
                <a:latin typeface="Google Sans Flex"/>
              </a:rPr>
              <a:t>Written overview · 2D plan · Limits list · Confirmation gate</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Build the 3D before a person confirms</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the operations team</a:t>
            </a:r>
            <a:endParaRPr sz="1600">
              <a:latin typeface="Google Sans Flex Medium"/>
              <a:ea typeface="Google Sans Flex Medium"/>
              <a:cs typeface="Google Sans Flex Medium"/>
              <a:sym typeface="Google Sans Flex Medium"/>
            </a:endParaRPr>
          </a:p>
        </p:txBody>
      </p:sp>
      <p:sp>
        <p:nvSpPr>
          <p:cNvPr id="152" name="agent card"/>
          <p:cNvSpPr/>
          <p:nvPr/>
        </p:nvSpPr>
        <p:spPr>
          <a:xfrm>
            <a:off x="274320" y="1051560"/>
            <a:ext cx="4251960" cy="1874519"/>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agent name"/>
          <p:cNvSpPr txBox="1"/>
          <p:nvPr/>
        </p:nvSpPr>
        <p:spPr>
          <a:xfrm>
            <a:off x="365760"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Diagnosis</a:t>
            </a:r>
          </a:p>
        </p:txBody>
      </p:sp>
      <p:sp>
        <p:nvSpPr>
          <p:cNvPr id="154" name="agent mode"/>
          <p:cNvSpPr txBox="1"/>
          <p:nvPr/>
        </p:nvSpPr>
        <p:spPr>
          <a:xfrm>
            <a:off x="28346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Model-driven · Gemini</a:t>
            </a:r>
          </a:p>
        </p:txBody>
      </p:sp>
      <p:sp>
        <p:nvSpPr>
          <p:cNvPr id="155" name="agent text"/>
          <p:cNvSpPr txBox="1"/>
          <p:nvPr/>
        </p:nvSpPr>
        <p:spPr>
          <a:xfrm>
            <a:off x="365760" y="1399031"/>
            <a:ext cx="4069080" cy="150876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A station stopped. Someone must say why, fast.</a:t>
            </a:r>
          </a:p>
          <a:p>
            <a:pPr algn="l">
              <a:spcAft>
                <a:spcPts val="200"/>
              </a:spcAft>
            </a:pPr>
            <a:r>
              <a:rPr sz="1000" b="1">
                <a:solidFill>
                  <a:srgbClr val="B06000"/>
                </a:solidFill>
                <a:latin typeface="Google Sans Flex SemiBold"/>
              </a:rPr>
              <a:t>Solution: </a:t>
            </a:r>
            <a:r>
              <a:rPr sz="1000" b="0">
                <a:solidFill>
                  <a:srgbClr val="202124"/>
                </a:solidFill>
                <a:latin typeface="Google Sans Flex"/>
              </a:rPr>
              <a:t>Gemini picks MCP tools, reads the results and submits a cause with evidence. Cedar allows each call.</a:t>
            </a:r>
          </a:p>
          <a:p>
            <a:pPr algn="l">
              <a:spcAft>
                <a:spcPts val="200"/>
              </a:spcAft>
            </a:pPr>
            <a:r>
              <a:rPr sz="1000" b="1">
                <a:solidFill>
                  <a:srgbClr val="188038"/>
                </a:solidFill>
                <a:latin typeface="Google Sans Flex SemiBold"/>
              </a:rPr>
              <a:t>Outcomes: </a:t>
            </a:r>
            <a:r>
              <a:rPr sz="1000" b="0">
                <a:solidFill>
                  <a:srgbClr val="202124"/>
                </a:solidFill>
                <a:latin typeface="Google Sans Flex"/>
              </a:rPr>
              <a:t>Cause · Evidence per claim · Tool trace</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Write to the plant; Call a tool Cedar denies</a:t>
            </a:r>
          </a:p>
        </p:txBody>
      </p:sp>
      <p:sp>
        <p:nvSpPr>
          <p:cNvPr id="156" name="agent card"/>
          <p:cNvSpPr/>
          <p:nvPr/>
        </p:nvSpPr>
        <p:spPr>
          <a:xfrm>
            <a:off x="4617720" y="1051560"/>
            <a:ext cx="4251960" cy="1874519"/>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agent name"/>
          <p:cNvSpPr txBox="1"/>
          <p:nvPr/>
        </p:nvSpPr>
        <p:spPr>
          <a:xfrm>
            <a:off x="4709159"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Verifier</a:t>
            </a:r>
          </a:p>
        </p:txBody>
      </p:sp>
      <p:sp>
        <p:nvSpPr>
          <p:cNvPr id="158" name="agent mode"/>
          <p:cNvSpPr txBox="1"/>
          <p:nvPr/>
        </p:nvSpPr>
        <p:spPr>
          <a:xfrm>
            <a:off x="71780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 and rules · Gemini</a:t>
            </a:r>
          </a:p>
        </p:txBody>
      </p:sp>
      <p:sp>
        <p:nvSpPr>
          <p:cNvPr id="159" name="agent text"/>
          <p:cNvSpPr txBox="1"/>
          <p:nvPr/>
        </p:nvSpPr>
        <p:spPr>
          <a:xfrm>
            <a:off x="4709159" y="1399031"/>
            <a:ext cx="4069080" cy="150876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A model can sound sure and be wrong.</a:t>
            </a:r>
          </a:p>
          <a:p>
            <a:pPr algn="l">
              <a:spcAft>
                <a:spcPts val="200"/>
              </a:spcAft>
            </a:pPr>
            <a:r>
              <a:rPr sz="1000" b="1">
                <a:solidFill>
                  <a:srgbClr val="B06000"/>
                </a:solidFill>
                <a:latin typeface="Google Sans Flex SemiBold"/>
              </a:rPr>
              <a:t>Solution: </a:t>
            </a:r>
            <a:r>
              <a:rPr sz="1000" b="0">
                <a:solidFill>
                  <a:srgbClr val="202124"/>
                </a:solidFill>
                <a:latin typeface="Google Sans Flex"/>
              </a:rPr>
              <a:t>Rule checks recompute every cited number from the tool results. Gemini then reviews the argument. A hard check cannot be talked away.</a:t>
            </a:r>
          </a:p>
          <a:p>
            <a:pPr algn="l">
              <a:spcAft>
                <a:spcPts val="200"/>
              </a:spcAft>
            </a:pPr>
            <a:r>
              <a:rPr sz="1000" b="1">
                <a:solidFill>
                  <a:srgbClr val="188038"/>
                </a:solidFill>
                <a:latin typeface="Google Sans Flex SemiBold"/>
              </a:rPr>
              <a:t>Outcomes: </a:t>
            </a:r>
            <a:r>
              <a:rPr sz="1000" b="0">
                <a:solidFill>
                  <a:srgbClr val="202124"/>
                </a:solidFill>
                <a:latin typeface="Google Sans Flex"/>
              </a:rPr>
              <a:t>Supported or not · Issues list · Evidence score</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Approve a claim whose numbers do not match</a:t>
            </a:r>
          </a:p>
        </p:txBody>
      </p:sp>
      <p:sp>
        <p:nvSpPr>
          <p:cNvPr id="160" name="agent card"/>
          <p:cNvSpPr/>
          <p:nvPr/>
        </p:nvSpPr>
        <p:spPr>
          <a:xfrm>
            <a:off x="274320" y="2999232"/>
            <a:ext cx="4251960" cy="1874519"/>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agent name"/>
          <p:cNvSpPr txBox="1"/>
          <p:nvPr/>
        </p:nvSpPr>
        <p:spPr>
          <a:xfrm>
            <a:off x="365760" y="3035808"/>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Remediation Planner</a:t>
            </a:r>
          </a:p>
        </p:txBody>
      </p:sp>
      <p:sp>
        <p:nvSpPr>
          <p:cNvPr id="162" name="agent mode"/>
          <p:cNvSpPr txBox="1"/>
          <p:nvPr/>
        </p:nvSpPr>
        <p:spPr>
          <a:xfrm>
            <a:off x="2834640" y="3072384"/>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Model-driven · Gemini</a:t>
            </a:r>
          </a:p>
        </p:txBody>
      </p:sp>
      <p:sp>
        <p:nvSpPr>
          <p:cNvPr id="163" name="agent text"/>
          <p:cNvSpPr txBox="1"/>
          <p:nvPr/>
        </p:nvSpPr>
        <p:spPr>
          <a:xfrm>
            <a:off x="365760" y="3346703"/>
            <a:ext cx="4069080" cy="150876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After a cause is known, someone must choose a fix that respects the plant's limits.</a:t>
            </a:r>
          </a:p>
          <a:p>
            <a:pPr algn="l">
              <a:spcAft>
                <a:spcPts val="200"/>
              </a:spcAft>
            </a:pPr>
            <a:r>
              <a:rPr sz="1000" b="1">
                <a:solidFill>
                  <a:srgbClr val="B06000"/>
                </a:solidFill>
                <a:latin typeface="Google Sans Flex SemiBold"/>
              </a:rPr>
              <a:t>Solution: </a:t>
            </a:r>
            <a:r>
              <a:rPr sz="1000" b="0">
                <a:solidFill>
                  <a:srgbClr val="202124"/>
                </a:solidFill>
                <a:latin typeface="Google Sans Flex"/>
              </a:rPr>
              <a:t>Gemini proposes actions from the diagnosis and the limits. Warden scores each. Nothing is applied here.</a:t>
            </a:r>
          </a:p>
          <a:p>
            <a:pPr algn="l">
              <a:spcAft>
                <a:spcPts val="200"/>
              </a:spcAft>
            </a:pPr>
            <a:r>
              <a:rPr sz="1000" b="1">
                <a:solidFill>
                  <a:srgbClr val="188038"/>
                </a:solidFill>
                <a:latin typeface="Google Sans Flex SemiBold"/>
              </a:rPr>
              <a:t>Outcomes: </a:t>
            </a:r>
            <a:r>
              <a:rPr sz="1000" b="0">
                <a:solidFill>
                  <a:srgbClr val="202124"/>
                </a:solidFill>
                <a:latin typeface="Google Sans Flex"/>
              </a:rPr>
              <a:t>Action list · Exact settings · Why this action</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Write to the plant; Propose a setting above a hard limit as the first choice</a:t>
            </a:r>
          </a:p>
        </p:txBody>
      </p:sp>
      <p:sp>
        <p:nvSpPr>
          <p:cNvPr id="164" name="agent card"/>
          <p:cNvSpPr/>
          <p:nvPr/>
        </p:nvSpPr>
        <p:spPr>
          <a:xfrm>
            <a:off x="4617720" y="2999232"/>
            <a:ext cx="4251960" cy="1874519"/>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agent name"/>
          <p:cNvSpPr txBox="1"/>
          <p:nvPr/>
        </p:nvSpPr>
        <p:spPr>
          <a:xfrm>
            <a:off x="4709159" y="3035808"/>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Warden</a:t>
            </a:r>
          </a:p>
        </p:txBody>
      </p:sp>
      <p:sp>
        <p:nvSpPr>
          <p:cNvPr id="166" name="agent mode"/>
          <p:cNvSpPr txBox="1"/>
          <p:nvPr/>
        </p:nvSpPr>
        <p:spPr>
          <a:xfrm>
            <a:off x="7178040" y="3072384"/>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Rule-driven · Gemini</a:t>
            </a:r>
          </a:p>
        </p:txBody>
      </p:sp>
      <p:sp>
        <p:nvSpPr>
          <p:cNvPr id="167" name="agent text"/>
          <p:cNvSpPr txBox="1"/>
          <p:nvPr/>
        </p:nvSpPr>
        <p:spPr>
          <a:xfrm>
            <a:off x="4709159" y="3346703"/>
            <a:ext cx="4069080" cy="1508760"/>
          </a:xfrm>
          <a:prstGeom prst="rect">
            <a:avLst/>
          </a:prstGeom>
          <a:noFill/>
        </p:spPr>
        <p:txBody>
          <a:bodyPr wrap="square" anchor="t" lIns="36576" rIns="36576" tIns="18288" bIns="18288">
            <a:spAutoFit/>
          </a:bodyPr>
          <a:lstStyle/>
          <a:p>
            <a:pPr algn="l">
              <a:spcAft>
                <a:spcPts val="200"/>
              </a:spcAft>
            </a:pPr>
            <a:r>
              <a:rPr sz="1000" b="1">
                <a:solidFill>
                  <a:srgbClr val="1A73E8"/>
                </a:solidFill>
                <a:latin typeface="Google Sans Flex SemiBold"/>
              </a:rPr>
              <a:t>Use case: </a:t>
            </a:r>
            <a:r>
              <a:rPr sz="1000" b="0">
                <a:solidFill>
                  <a:srgbClr val="202124"/>
                </a:solidFill>
                <a:latin typeface="Google Sans Flex"/>
              </a:rPr>
              <a:t>Some fixes are small and some can stop a line. The user decides how far the system may go alone.</a:t>
            </a:r>
          </a:p>
          <a:p>
            <a:pPr algn="l">
              <a:spcAft>
                <a:spcPts val="200"/>
              </a:spcAft>
            </a:pPr>
            <a:r>
              <a:rPr sz="1000" b="1">
                <a:solidFill>
                  <a:srgbClr val="B06000"/>
                </a:solidFill>
                <a:latin typeface="Google Sans Flex SemiBold"/>
              </a:rPr>
              <a:t>Solution: </a:t>
            </a:r>
            <a:r>
              <a:rPr sz="1000" b="0">
                <a:solidFill>
                  <a:srgbClr val="202124"/>
                </a:solidFill>
                <a:latin typeface="Google Sans Flex"/>
              </a:rPr>
              <a:t>Six factors give a score from 0 to 100. The user sets two score thresholds, 40 and 80 by default. Cedar enforces them at the Action Broker.</a:t>
            </a:r>
          </a:p>
          <a:p>
            <a:pPr algn="l">
              <a:spcAft>
                <a:spcPts val="200"/>
              </a:spcAft>
            </a:pPr>
            <a:r>
              <a:rPr sz="1000" b="1">
                <a:solidFill>
                  <a:srgbClr val="188038"/>
                </a:solidFill>
                <a:latin typeface="Google Sans Flex SemiBold"/>
              </a:rPr>
              <a:t>Outcomes: </a:t>
            </a:r>
            <a:r>
              <a:rPr sz="1000" b="0">
                <a:solidFill>
                  <a:srgbClr val="202124"/>
                </a:solidFill>
                <a:latin typeface="Google Sans Flex"/>
              </a:rPr>
              <a:t>Score with factors · Auto, approve or refuse · Backtest on past incidents</a:t>
            </a:r>
          </a:p>
          <a:p>
            <a:pPr algn="l">
              <a:spcAft>
                <a:spcPts val="400"/>
              </a:spcAft>
            </a:pPr>
            <a:r>
              <a:rPr sz="1000" b="1">
                <a:solidFill>
                  <a:srgbClr val="C5221F"/>
                </a:solidFill>
                <a:latin typeface="Google Sans Flex SemiBold"/>
              </a:rPr>
              <a:t>Must never: </a:t>
            </a:r>
            <a:r>
              <a:rPr sz="1000" b="0">
                <a:solidFill>
                  <a:srgbClr val="5F6368"/>
                </a:solidFill>
                <a:latin typeface="Google Sans Flex"/>
              </a:rPr>
              <a:t>Let a high score override a hard limit</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plain rules, playbooks, channels, layout editor</a:t>
            </a:r>
            <a:endParaRPr sz="1600">
              <a:latin typeface="Google Sans Flex Medium"/>
              <a:ea typeface="Google Sans Flex Medium"/>
              <a:cs typeface="Google Sans Flex Medium"/>
              <a:sym typeface="Google Sans Flex Medium"/>
            </a:endParaRPr>
          </a:p>
        </p:txBody>
      </p:sp>
      <p:sp>
        <p:nvSpPr>
          <p:cNvPr id="152" name="agent card"/>
          <p:cNvSpPr/>
          <p:nvPr/>
        </p:nvSpPr>
        <p:spPr>
          <a:xfrm>
            <a:off x="274320" y="1051560"/>
            <a:ext cx="4251960" cy="215798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agent name"/>
          <p:cNvSpPr txBox="1"/>
          <p:nvPr/>
        </p:nvSpPr>
        <p:spPr>
          <a:xfrm>
            <a:off x="365760"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Sentinel</a:t>
            </a:r>
          </a:p>
        </p:txBody>
      </p:sp>
      <p:sp>
        <p:nvSpPr>
          <p:cNvPr id="154" name="agent mode"/>
          <p:cNvSpPr txBox="1"/>
          <p:nvPr/>
        </p:nvSpPr>
        <p:spPr>
          <a:xfrm>
            <a:off x="28346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Model and rules · Gemini</a:t>
            </a:r>
          </a:p>
        </p:txBody>
      </p:sp>
      <p:sp>
        <p:nvSpPr>
          <p:cNvPr id="155" name="agent text"/>
          <p:cNvSpPr txBox="1"/>
          <p:nvPr/>
        </p:nvSpPr>
        <p:spPr>
          <a:xfrm>
            <a:off x="365760" y="1399031"/>
            <a:ext cx="4069080" cy="1792224"/>
          </a:xfrm>
          <a:prstGeom prst="rect">
            <a:avLst/>
          </a:prstGeom>
          <a:noFill/>
        </p:spPr>
        <p:txBody>
          <a:bodyPr wrap="square" anchor="t" lIns="36576" rIns="36576" tIns="18288" bIns="18288">
            <a:spAutoFit/>
          </a:bodyPr>
          <a:lstStyle/>
          <a:p>
            <a:pPr algn="l">
              <a:spcAft>
                <a:spcPts val="200"/>
              </a:spcAft>
            </a:pPr>
            <a:r>
              <a:rPr sz="950" b="1">
                <a:solidFill>
                  <a:srgbClr val="1A73E8"/>
                </a:solidFill>
                <a:latin typeface="Google Sans Flex SemiBold"/>
              </a:rPr>
              <a:t>Use case: </a:t>
            </a:r>
            <a:r>
              <a:rPr sz="950" b="0">
                <a:solidFill>
                  <a:srgbClr val="202124"/>
                </a:solidFill>
                <a:latin typeface="Google Sans Flex"/>
              </a:rPr>
              <a:t>A plant's IT side fails quietly: a feed stops, a column changes, a service is slow. A model should not be the judge of that.</a:t>
            </a:r>
          </a:p>
          <a:p>
            <a:pPr algn="l">
              <a:spcAft>
                <a:spcPts val="200"/>
              </a:spcAft>
            </a:pPr>
            <a:r>
              <a:rPr sz="950" b="1">
                <a:solidFill>
                  <a:srgbClr val="B06000"/>
                </a:solidFill>
                <a:latin typeface="Google Sans Flex SemiBold"/>
              </a:rPr>
              <a:t>Solution: </a:t>
            </a:r>
            <a:r>
              <a:rPr sz="950" b="0">
                <a:solidFill>
                  <a:srgbClr val="202124"/>
                </a:solidFill>
                <a:latin typeface="Google Sans Flex"/>
              </a:rPr>
              <a:t>Plain rules check a field against a value on your data tables, a web address, a port, a service or a certificate. A schedule runs them, maintenance windows keep planned work quiet, and an impact map shows which stations lose data. A rule that fails or recovers tells your channels.</a:t>
            </a:r>
          </a:p>
          <a:p>
            <a:pPr algn="l">
              <a:spcAft>
                <a:spcPts val="200"/>
              </a:spcAft>
            </a:pPr>
            <a:r>
              <a:rPr sz="950" b="1">
                <a:solidFill>
                  <a:srgbClr val="188038"/>
                </a:solidFill>
                <a:latin typeface="Google Sans Flex SemiBold"/>
              </a:rPr>
              <a:t>Outcomes: </a:t>
            </a:r>
            <a:r>
              <a:rPr sz="950" b="0">
                <a:solidFill>
                  <a:srgbClr val="202124"/>
                </a:solidFill>
                <a:latin typeface="Google Sans Flex"/>
              </a:rPr>
              <a:t>Pass or fail for each rule · The stations that lose data · A message when a rule fails or recovers</a:t>
            </a:r>
          </a:p>
          <a:p>
            <a:pPr algn="l">
              <a:spcAft>
                <a:spcPts val="400"/>
              </a:spcAft>
            </a:pPr>
            <a:r>
              <a:rPr sz="950" b="1">
                <a:solidFill>
                  <a:srgbClr val="C5221F"/>
                </a:solidFill>
                <a:latin typeface="Google Sans Flex SemiBold"/>
              </a:rPr>
              <a:t>Must never: </a:t>
            </a:r>
            <a:r>
              <a:rPr sz="950" b="0">
                <a:solidFill>
                  <a:srgbClr val="5F6368"/>
                </a:solidFill>
                <a:latin typeface="Google Sans Flex"/>
              </a:rPr>
              <a:t>Write to the plant; Let a model say pass or fail; Reach a private network address</a:t>
            </a:r>
          </a:p>
        </p:txBody>
      </p:sp>
      <p:sp>
        <p:nvSpPr>
          <p:cNvPr id="156" name="agent card"/>
          <p:cNvSpPr/>
          <p:nvPr/>
        </p:nvSpPr>
        <p:spPr>
          <a:xfrm>
            <a:off x="4617720" y="1051560"/>
            <a:ext cx="4251960" cy="215798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agent name"/>
          <p:cNvSpPr txBox="1"/>
          <p:nvPr/>
        </p:nvSpPr>
        <p:spPr>
          <a:xfrm>
            <a:off x="4709159" y="1088136"/>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Playbooks</a:t>
            </a:r>
          </a:p>
        </p:txBody>
      </p:sp>
      <p:sp>
        <p:nvSpPr>
          <p:cNvPr id="158" name="agent mode"/>
          <p:cNvSpPr txBox="1"/>
          <p:nvPr/>
        </p:nvSpPr>
        <p:spPr>
          <a:xfrm>
            <a:off x="7178040" y="1124712"/>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Rule-driven</a:t>
            </a:r>
          </a:p>
        </p:txBody>
      </p:sp>
      <p:sp>
        <p:nvSpPr>
          <p:cNvPr id="159" name="agent text"/>
          <p:cNvSpPr txBox="1"/>
          <p:nvPr/>
        </p:nvSpPr>
        <p:spPr>
          <a:xfrm>
            <a:off x="4709159" y="1399031"/>
            <a:ext cx="4069080" cy="1792224"/>
          </a:xfrm>
          <a:prstGeom prst="rect">
            <a:avLst/>
          </a:prstGeom>
          <a:noFill/>
        </p:spPr>
        <p:txBody>
          <a:bodyPr wrap="square" anchor="t" lIns="36576" rIns="36576" tIns="18288" bIns="18288">
            <a:spAutoFit/>
          </a:bodyPr>
          <a:lstStyle/>
          <a:p>
            <a:pPr algn="l">
              <a:spcAft>
                <a:spcPts val="200"/>
              </a:spcAft>
            </a:pPr>
            <a:r>
              <a:rPr sz="950" b="1">
                <a:solidFill>
                  <a:srgbClr val="1A73E8"/>
                </a:solidFill>
                <a:latin typeface="Google Sans Flex SemiBold"/>
              </a:rPr>
              <a:t>Use case: </a:t>
            </a:r>
            <a:r>
              <a:rPr sz="950" b="0">
                <a:solidFill>
                  <a:srgbClr val="202124"/>
                </a:solidFill>
                <a:latin typeface="Google Sans Flex"/>
              </a:rPr>
              <a:t>Each plant reacts to a failure in its own way.</a:t>
            </a:r>
          </a:p>
          <a:p>
            <a:pPr algn="l">
              <a:spcAft>
                <a:spcPts val="200"/>
              </a:spcAft>
            </a:pPr>
            <a:r>
              <a:rPr sz="950" b="1">
                <a:solidFill>
                  <a:srgbClr val="B06000"/>
                </a:solidFill>
                <a:latin typeface="Google Sans Flex SemiBold"/>
              </a:rPr>
              <a:t>Solution: </a:t>
            </a:r>
            <a:r>
              <a:rPr sz="950" b="0">
                <a:solidFill>
                  <a:srgbClr val="202124"/>
                </a:solidFill>
                <a:latin typeface="Google Sans Flex"/>
              </a:rPr>
              <a:t>The owner draws a trigger, checks, a decision and actions on a canvas. Code walks it. Warden scores any action that changes the plant.</a:t>
            </a:r>
          </a:p>
          <a:p>
            <a:pPr algn="l">
              <a:spcAft>
                <a:spcPts val="200"/>
              </a:spcAft>
            </a:pPr>
            <a:r>
              <a:rPr sz="950" b="1">
                <a:solidFill>
                  <a:srgbClr val="188038"/>
                </a:solidFill>
                <a:latin typeface="Google Sans Flex SemiBold"/>
              </a:rPr>
              <a:t>Outcomes: </a:t>
            </a:r>
            <a:r>
              <a:rPr sz="950" b="0">
                <a:solidFill>
                  <a:srgbClr val="202124"/>
                </a:solidFill>
                <a:latin typeface="Google Sans Flex"/>
              </a:rPr>
              <a:t>A trace of every block · Actions scored by Warden</a:t>
            </a:r>
          </a:p>
          <a:p>
            <a:pPr algn="l">
              <a:spcAft>
                <a:spcPts val="400"/>
              </a:spcAft>
            </a:pPr>
            <a:r>
              <a:rPr sz="950" b="1">
                <a:solidFill>
                  <a:srgbClr val="C5221F"/>
                </a:solidFill>
                <a:latin typeface="Google Sans Flex SemiBold"/>
              </a:rPr>
              <a:t>Must never: </a:t>
            </a:r>
            <a:r>
              <a:rPr sz="950" b="0">
                <a:solidFill>
                  <a:srgbClr val="5F6368"/>
                </a:solidFill>
                <a:latin typeface="Google Sans Flex"/>
              </a:rPr>
              <a:t>Skip Warden for an action that changes the plant</a:t>
            </a:r>
          </a:p>
        </p:txBody>
      </p:sp>
      <p:sp>
        <p:nvSpPr>
          <p:cNvPr id="160" name="agent card"/>
          <p:cNvSpPr/>
          <p:nvPr/>
        </p:nvSpPr>
        <p:spPr>
          <a:xfrm>
            <a:off x="274320" y="3282696"/>
            <a:ext cx="4251960" cy="160934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agent name"/>
          <p:cNvSpPr txBox="1"/>
          <p:nvPr/>
        </p:nvSpPr>
        <p:spPr>
          <a:xfrm>
            <a:off x="365760" y="3319272"/>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Channels</a:t>
            </a:r>
          </a:p>
        </p:txBody>
      </p:sp>
      <p:sp>
        <p:nvSpPr>
          <p:cNvPr id="162" name="agent mode"/>
          <p:cNvSpPr txBox="1"/>
          <p:nvPr/>
        </p:nvSpPr>
        <p:spPr>
          <a:xfrm>
            <a:off x="2834640" y="3355848"/>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Rule-driven</a:t>
            </a:r>
          </a:p>
        </p:txBody>
      </p:sp>
      <p:sp>
        <p:nvSpPr>
          <p:cNvPr id="163" name="agent text"/>
          <p:cNvSpPr txBox="1"/>
          <p:nvPr/>
        </p:nvSpPr>
        <p:spPr>
          <a:xfrm>
            <a:off x="365760" y="3630168"/>
            <a:ext cx="4069080" cy="1243584"/>
          </a:xfrm>
          <a:prstGeom prst="rect">
            <a:avLst/>
          </a:prstGeom>
          <a:noFill/>
        </p:spPr>
        <p:txBody>
          <a:bodyPr wrap="square" anchor="t" lIns="36576" rIns="36576" tIns="18288" bIns="18288">
            <a:spAutoFit/>
          </a:bodyPr>
          <a:lstStyle/>
          <a:p>
            <a:pPr algn="l">
              <a:spcAft>
                <a:spcPts val="200"/>
              </a:spcAft>
            </a:pPr>
            <a:r>
              <a:rPr sz="950" b="1">
                <a:solidFill>
                  <a:srgbClr val="1A73E8"/>
                </a:solidFill>
                <a:latin typeface="Google Sans Flex SemiBold"/>
              </a:rPr>
              <a:t>Use case: </a:t>
            </a:r>
            <a:r>
              <a:rPr sz="950" b="0">
                <a:solidFill>
                  <a:srgbClr val="202124"/>
                </a:solidFill>
                <a:latin typeface="Google Sans Flex"/>
              </a:rPr>
              <a:t>A person who is not in the app must still know when to approve.</a:t>
            </a:r>
          </a:p>
          <a:p>
            <a:pPr algn="l">
              <a:spcAft>
                <a:spcPts val="200"/>
              </a:spcAft>
            </a:pPr>
            <a:r>
              <a:rPr sz="950" b="1">
                <a:solidFill>
                  <a:srgbClr val="B06000"/>
                </a:solidFill>
                <a:latin typeface="Google Sans Flex SemiBold"/>
              </a:rPr>
              <a:t>Solution: </a:t>
            </a:r>
            <a:r>
              <a:rPr sz="950" b="0">
                <a:solidFill>
                  <a:srgbClr val="202124"/>
                </a:solidFill>
                <a:latin typeface="Google Sans Flex"/>
              </a:rPr>
              <a:t>Warden messages Slack, Teams, Discord, Telegram or a webhook. Addresses stay on the server. Private addresses are refused.</a:t>
            </a:r>
          </a:p>
          <a:p>
            <a:pPr algn="l">
              <a:spcAft>
                <a:spcPts val="200"/>
              </a:spcAft>
            </a:pPr>
            <a:r>
              <a:rPr sz="950" b="1">
                <a:solidFill>
                  <a:srgbClr val="188038"/>
                </a:solidFill>
                <a:latin typeface="Google Sans Flex SemiBold"/>
              </a:rPr>
              <a:t>Outcomes: </a:t>
            </a:r>
            <a:r>
              <a:rPr sz="950" b="0">
                <a:solidFill>
                  <a:srgbClr val="202124"/>
                </a:solidFill>
                <a:latin typeface="Google Sans Flex"/>
              </a:rPr>
              <a:t>Approval requests · Blocked actions · Failing rules</a:t>
            </a:r>
          </a:p>
          <a:p>
            <a:pPr algn="l">
              <a:spcAft>
                <a:spcPts val="400"/>
              </a:spcAft>
            </a:pPr>
            <a:r>
              <a:rPr sz="950" b="1">
                <a:solidFill>
                  <a:srgbClr val="C5221F"/>
                </a:solidFill>
                <a:latin typeface="Google Sans Flex SemiBold"/>
              </a:rPr>
              <a:t>Must never: </a:t>
            </a:r>
            <a:r>
              <a:rPr sz="950" b="0">
                <a:solidFill>
                  <a:srgbClr val="5F6368"/>
                </a:solidFill>
                <a:latin typeface="Google Sans Flex"/>
              </a:rPr>
              <a:t>Send to a private network address; Show an address back in the app</a:t>
            </a:r>
          </a:p>
        </p:txBody>
      </p:sp>
      <p:sp>
        <p:nvSpPr>
          <p:cNvPr id="164" name="agent card"/>
          <p:cNvSpPr/>
          <p:nvPr/>
        </p:nvSpPr>
        <p:spPr>
          <a:xfrm>
            <a:off x="4617720" y="3282696"/>
            <a:ext cx="4251960" cy="1609344"/>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agent name"/>
          <p:cNvSpPr txBox="1"/>
          <p:nvPr/>
        </p:nvSpPr>
        <p:spPr>
          <a:xfrm>
            <a:off x="4709159" y="3319272"/>
            <a:ext cx="2514600" cy="274320"/>
          </a:xfrm>
          <a:prstGeom prst="rect">
            <a:avLst/>
          </a:prstGeom>
          <a:noFill/>
        </p:spPr>
        <p:txBody>
          <a:bodyPr wrap="square" anchor="t" lIns="36576" rIns="36576" tIns="18288" bIns="18288">
            <a:spAutoFit/>
          </a:bodyPr>
          <a:lstStyle/>
          <a:p>
            <a:pPr algn="l">
              <a:spcAft>
                <a:spcPts val="400"/>
              </a:spcAft>
            </a:pPr>
            <a:r>
              <a:rPr sz="1400" b="1">
                <a:solidFill>
                  <a:srgbClr val="1A73E8"/>
                </a:solidFill>
                <a:latin typeface="Google Sans Flex SemiBold"/>
              </a:rPr>
              <a:t>Layout editor</a:t>
            </a:r>
          </a:p>
        </p:txBody>
      </p:sp>
      <p:sp>
        <p:nvSpPr>
          <p:cNvPr id="166" name="agent mode"/>
          <p:cNvSpPr txBox="1"/>
          <p:nvPr/>
        </p:nvSpPr>
        <p:spPr>
          <a:xfrm>
            <a:off x="7178040" y="3355848"/>
            <a:ext cx="1600200" cy="237744"/>
          </a:xfrm>
          <a:prstGeom prst="rect">
            <a:avLst/>
          </a:prstGeom>
          <a:noFill/>
        </p:spPr>
        <p:txBody>
          <a:bodyPr wrap="square" anchor="t" lIns="36576" rIns="36576" tIns="18288" bIns="18288">
            <a:spAutoFit/>
          </a:bodyPr>
          <a:lstStyle/>
          <a:p>
            <a:pPr algn="r">
              <a:spcAft>
                <a:spcPts val="400"/>
              </a:spcAft>
            </a:pPr>
            <a:r>
              <a:rPr sz="1000" b="0">
                <a:solidFill>
                  <a:srgbClr val="5F6368"/>
                </a:solidFill>
                <a:latin typeface="Google Sans Flex"/>
              </a:rPr>
              <a:t>Rule-driven</a:t>
            </a:r>
          </a:p>
        </p:txBody>
      </p:sp>
      <p:sp>
        <p:nvSpPr>
          <p:cNvPr id="167" name="agent text"/>
          <p:cNvSpPr txBox="1"/>
          <p:nvPr/>
        </p:nvSpPr>
        <p:spPr>
          <a:xfrm>
            <a:off x="4709159" y="3630168"/>
            <a:ext cx="4069080" cy="1243584"/>
          </a:xfrm>
          <a:prstGeom prst="rect">
            <a:avLst/>
          </a:prstGeom>
          <a:noFill/>
        </p:spPr>
        <p:txBody>
          <a:bodyPr wrap="square" anchor="t" lIns="36576" rIns="36576" tIns="18288" bIns="18288">
            <a:spAutoFit/>
          </a:bodyPr>
          <a:lstStyle/>
          <a:p>
            <a:pPr algn="l">
              <a:spcAft>
                <a:spcPts val="200"/>
              </a:spcAft>
            </a:pPr>
            <a:r>
              <a:rPr sz="950" b="1">
                <a:solidFill>
                  <a:srgbClr val="1A73E8"/>
                </a:solidFill>
                <a:latin typeface="Google Sans Flex SemiBold"/>
              </a:rPr>
              <a:t>Use case: </a:t>
            </a:r>
            <a:r>
              <a:rPr sz="950" b="0">
                <a:solidFill>
                  <a:srgbClr val="202124"/>
                </a:solidFill>
                <a:latin typeface="Google Sans Flex"/>
              </a:rPr>
              <a:t>The drawn floor is never exactly right.</a:t>
            </a:r>
          </a:p>
          <a:p>
            <a:pPr algn="l">
              <a:spcAft>
                <a:spcPts val="200"/>
              </a:spcAft>
            </a:pPr>
            <a:r>
              <a:rPr sz="950" b="1">
                <a:solidFill>
                  <a:srgbClr val="B06000"/>
                </a:solidFill>
                <a:latin typeface="Google Sans Flex SemiBold"/>
              </a:rPr>
              <a:t>Solution: </a:t>
            </a:r>
            <a:r>
              <a:rPr sz="950" b="0">
                <a:solidFill>
                  <a:srgbClr val="202124"/>
                </a:solidFill>
                <a:latin typeface="Google Sans Flex"/>
              </a:rPr>
              <a:t>A node canvas next to the live floor: move, add and delete stations, rename them, and draw how parts flow. Every change is saved at once and the plan and 3D view follow.</a:t>
            </a:r>
          </a:p>
          <a:p>
            <a:pPr algn="l">
              <a:spcAft>
                <a:spcPts val="200"/>
              </a:spcAft>
            </a:pPr>
            <a:r>
              <a:rPr sz="950" b="1">
                <a:solidFill>
                  <a:srgbClr val="188038"/>
                </a:solidFill>
                <a:latin typeface="Google Sans Flex SemiBold"/>
              </a:rPr>
              <a:t>Outcomes: </a:t>
            </a:r>
            <a:r>
              <a:rPr sz="950" b="0">
                <a:solidFill>
                  <a:srgbClr val="202124"/>
                </a:solidFill>
                <a:latin typeface="Google Sans Flex"/>
              </a:rPr>
              <a:t>Moved, added or deleted stations · Part flows between stations</a:t>
            </a:r>
          </a:p>
          <a:p>
            <a:pPr algn="l">
              <a:spcAft>
                <a:spcPts val="400"/>
              </a:spcAft>
            </a:pPr>
            <a:r>
              <a:rPr sz="950" b="1">
                <a:solidFill>
                  <a:srgbClr val="C5221F"/>
                </a:solidFill>
                <a:latin typeface="Google Sans Flex SemiBold"/>
              </a:rPr>
              <a:t>Must never: </a:t>
            </a:r>
            <a:r>
              <a:rPr sz="950" b="0">
                <a:solidFill>
                  <a:srgbClr val="5F6368"/>
                </a:solidFill>
                <a:latin typeface="Google Sans Flex"/>
              </a:rPr>
              <a:t>Change data or limits</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Benchmark: finding the root cause</a:t>
            </a:r>
            <a:endParaRPr sz="1600">
              <a:latin typeface="Google Sans Flex Medium"/>
              <a:ea typeface="Google Sans Flex Medium"/>
              <a:cs typeface="Google Sans Flex Medium"/>
              <a:sym typeface="Google Sans Flex Medium"/>
            </a:endParaRPr>
          </a:p>
        </p:txBody>
      </p:sp>
      <p:graphicFrame>
        <p:nvGraphicFramePr>
          <p:cNvPr id="152" name="RE1 by fault chart"/>
          <p:cNvGraphicFramePr>
            <a:graphicFrameLocks noGrp="1"/>
          </p:cNvGraphicFramePr>
          <p:nvPr/>
        </p:nvGraphicFramePr>
        <p:xfrm>
          <a:off x="274320" y="1051560"/>
          <a:ext cx="4846320" cy="3063240"/>
        </p:xfrm>
        <a:graphic>
          <a:graphicData uri="http://schemas.openxmlformats.org/drawingml/2006/chart">
            <c:chart r:id="rId2"/>
          </a:graphicData>
        </a:graphic>
      </p:graphicFrame>
      <p:sp>
        <p:nvSpPr>
          <p:cNvPr id="153" name="stat card"/>
          <p:cNvSpPr/>
          <p:nvPr/>
        </p:nvSpPr>
        <p:spPr>
          <a:xfrm>
            <a:off x="5257800" y="1051560"/>
            <a:ext cx="1783080" cy="12801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stat number"/>
          <p:cNvSpPr txBox="1"/>
          <p:nvPr/>
        </p:nvSpPr>
        <p:spPr>
          <a:xfrm>
            <a:off x="5257800" y="1124712"/>
            <a:ext cx="1783080" cy="502920"/>
          </a:xfrm>
          <a:prstGeom prst="rect">
            <a:avLst/>
          </a:prstGeom>
          <a:noFill/>
        </p:spPr>
        <p:txBody>
          <a:bodyPr wrap="square" anchor="ctr" lIns="36576" rIns="36576" tIns="18288" bIns="18288">
            <a:spAutoFit/>
          </a:bodyPr>
          <a:lstStyle/>
          <a:p>
            <a:pPr algn="ctr">
              <a:spcAft>
                <a:spcPts val="400"/>
              </a:spcAft>
            </a:pPr>
            <a:r>
              <a:rPr sz="2400" b="1">
                <a:solidFill>
                  <a:srgbClr val="188038"/>
                </a:solidFill>
                <a:latin typeface="Google Sans Flex SemiBold"/>
              </a:rPr>
              <a:t>+0.08</a:t>
            </a:r>
          </a:p>
        </p:txBody>
      </p:sp>
      <p:sp>
        <p:nvSpPr>
          <p:cNvPr id="155" name="stat label"/>
          <p:cNvSpPr txBox="1"/>
          <p:nvPr/>
        </p:nvSpPr>
        <p:spPr>
          <a:xfrm>
            <a:off x="5303520" y="1655064"/>
            <a:ext cx="1691639" cy="64008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Avg@5 over BARO, 95% interval +0.05 to +0.12</a:t>
            </a:r>
          </a:p>
        </p:txBody>
      </p:sp>
      <p:sp>
        <p:nvSpPr>
          <p:cNvPr id="156" name="stat card"/>
          <p:cNvSpPr/>
          <p:nvPr/>
        </p:nvSpPr>
        <p:spPr>
          <a:xfrm>
            <a:off x="7132320" y="1051560"/>
            <a:ext cx="1737360" cy="128016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stat number"/>
          <p:cNvSpPr txBox="1"/>
          <p:nvPr/>
        </p:nvSpPr>
        <p:spPr>
          <a:xfrm>
            <a:off x="7132320" y="1124712"/>
            <a:ext cx="1737360" cy="502920"/>
          </a:xfrm>
          <a:prstGeom prst="rect">
            <a:avLst/>
          </a:prstGeom>
          <a:noFill/>
        </p:spPr>
        <p:txBody>
          <a:bodyPr wrap="square" anchor="ctr" lIns="36576" rIns="36576" tIns="18288" bIns="18288">
            <a:spAutoFit/>
          </a:bodyPr>
          <a:lstStyle/>
          <a:p>
            <a:pPr algn="ctr">
              <a:spcAft>
                <a:spcPts val="400"/>
              </a:spcAft>
            </a:pPr>
            <a:r>
              <a:rPr sz="2400" b="1">
                <a:solidFill>
                  <a:srgbClr val="1A73E8"/>
                </a:solidFill>
                <a:latin typeface="Google Sans Flex SemiBold"/>
              </a:rPr>
              <a:t>298</a:t>
            </a:r>
          </a:p>
        </p:txBody>
      </p:sp>
      <p:sp>
        <p:nvSpPr>
          <p:cNvPr id="158" name="stat label"/>
          <p:cNvSpPr txBox="1"/>
          <p:nvPr/>
        </p:nvSpPr>
        <p:spPr>
          <a:xfrm>
            <a:off x="7178040" y="1655064"/>
            <a:ext cx="1645919" cy="640080"/>
          </a:xfrm>
          <a:prstGeom prst="rect">
            <a:avLst/>
          </a:prstGeom>
          <a:noFill/>
        </p:spPr>
        <p:txBody>
          <a:bodyPr wrap="square" anchor="t" lIns="36576" rIns="36576" tIns="18288" bIns="18288">
            <a:spAutoFit/>
          </a:bodyPr>
          <a:lstStyle/>
          <a:p>
            <a:pPr algn="ctr">
              <a:spcAft>
                <a:spcPts val="400"/>
              </a:spcAft>
            </a:pPr>
            <a:r>
              <a:rPr sz="1200" b="0">
                <a:solidFill>
                  <a:srgbClr val="5F6368"/>
                </a:solidFill>
                <a:latin typeface="Google Sans Flex"/>
              </a:rPr>
              <a:t>cases, 3 systems, 4 fault types</a:t>
            </a:r>
          </a:p>
        </p:txBody>
      </p:sp>
      <p:sp>
        <p:nvSpPr>
          <p:cNvPr id="159" name="benchmark text"/>
          <p:cNvSpPr txBox="1"/>
          <p:nvPr/>
        </p:nvSpPr>
        <p:spPr>
          <a:xfrm>
            <a:off x="5257800" y="2468880"/>
            <a:ext cx="3611880" cy="1691640"/>
          </a:xfrm>
          <a:prstGeom prst="rect">
            <a:avLst/>
          </a:prstGeom>
          <a:noFill/>
        </p:spPr>
        <p:txBody>
          <a:bodyPr wrap="square" anchor="t" lIns="36576" rIns="36576" tIns="18288" bIns="18288">
            <a:spAutoFit/>
          </a:bodyPr>
          <a:lstStyle/>
          <a:p>
            <a:pPr algn="l" marL="164592" indent="-164592">
              <a:spcAft>
                <a:spcPts val="400"/>
              </a:spcAft>
              <a:buChar char="•"/>
            </a:pPr>
            <a:r>
              <a:rPr sz="1200" b="0">
                <a:solidFill>
                  <a:srgbClr val="202124"/>
                </a:solidFill>
                <a:latin typeface="Google Sans Flex"/>
              </a:rPr>
              <a:t>Public software benchmark (RCAEval), not factory data.</a:t>
            </a:r>
          </a:p>
          <a:p>
            <a:pPr algn="l" marL="164592" indent="-164592">
              <a:spcAft>
                <a:spcPts val="400"/>
              </a:spcAft>
              <a:buChar char="•"/>
            </a:pPr>
            <a:r>
              <a:rPr sz="1200" b="0">
                <a:solidFill>
                  <a:srgbClr val="202124"/>
                </a:solidFill>
                <a:latin typeface="Google Sans Flex"/>
              </a:rPr>
              <a:t>BARO is the published baseline, run unmodified.</a:t>
            </a:r>
          </a:p>
          <a:p>
            <a:pPr algn="l" marL="164592" indent="-164592">
              <a:spcAft>
                <a:spcPts val="400"/>
              </a:spcAft>
              <a:buChar char="•"/>
            </a:pPr>
            <a:r>
              <a:rPr sz="1200" b="0">
                <a:solidFill>
                  <a:srgbClr val="202124"/>
                </a:solidFill>
                <a:latin typeface="Google Sans Flex"/>
              </a:rPr>
              <a:t>Largest gain on packet loss: 0.59 to 0.84.</a:t>
            </a:r>
          </a:p>
          <a:p>
            <a:pPr algn="l" marL="164592" indent="-164592">
              <a:spcAft>
                <a:spcPts val="400"/>
              </a:spcAft>
              <a:buChar char="•"/>
            </a:pPr>
            <a:r>
              <a:rPr sz="1200" b="0">
                <a:solidFill>
                  <a:srgbClr val="202124"/>
                </a:solidFill>
                <a:latin typeface="Google Sans Flex"/>
              </a:rPr>
              <a:t>No Gemini in this test.</a:t>
            </a:r>
          </a:p>
        </p:txBody>
      </p:sp>
      <p:sp>
        <p:nvSpPr>
          <p:cNvPr id="160" name="takeaway"/>
          <p:cNvSpPr/>
          <p:nvPr/>
        </p:nvSpPr>
        <p:spPr>
          <a:xfrm>
            <a:off x="274320" y="4224528"/>
            <a:ext cx="8595360" cy="68580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akeaway text"/>
          <p:cNvSpPr txBox="1"/>
          <p:nvPr/>
        </p:nvSpPr>
        <p:spPr>
          <a:xfrm>
            <a:off x="411480" y="4224528"/>
            <a:ext cx="8321040" cy="685800"/>
          </a:xfrm>
          <a:prstGeom prst="rect">
            <a:avLst/>
          </a:prstGeom>
          <a:noFill/>
        </p:spPr>
        <p:txBody>
          <a:bodyPr wrap="square" anchor="ctr" lIns="36576" rIns="36576" tIns="18288" bIns="18288">
            <a:spAutoFit/>
          </a:bodyPr>
          <a:lstStyle/>
          <a:p>
            <a:pPr algn="l">
              <a:spcAft>
                <a:spcPts val="400"/>
              </a:spcAft>
            </a:pPr>
            <a:r>
              <a:rPr sz="1200" b="1">
                <a:solidFill>
                  <a:srgbClr val="1A73E8"/>
                </a:solidFill>
                <a:latin typeface="Google Sans Flex SemiBold"/>
              </a:rPr>
              <a:t>Per-system detail is in the appendix. On Train Ticket the gain is +0.19 against our BARO run (0.66); the BARO paper reports 0.79 for this system.</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from industrial RCA research to evidence-first agents</a:t>
            </a:r>
            <a:endParaRPr sz="1600">
              <a:latin typeface="Google Sans Flex Medium"/>
              <a:ea typeface="Google Sans Flex Medium"/>
              <a:cs typeface="Google Sans Flex Medium"/>
              <a:sym typeface="Google Sans Flex Medium"/>
            </a:endParaRPr>
          </a:p>
        </p:txBody>
      </p:sp>
      <p:sp>
        <p:nvSpPr>
          <p:cNvPr id="152" name="research card"/>
          <p:cNvSpPr/>
          <p:nvPr/>
        </p:nvSpPr>
        <p:spPr>
          <a:xfrm>
            <a:off x="274320" y="1051560"/>
            <a:ext cx="4251960" cy="2331720"/>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search text"/>
          <p:cNvSpPr txBox="1"/>
          <p:nvPr/>
        </p:nvSpPr>
        <p:spPr>
          <a:xfrm>
            <a:off x="365760" y="1078992"/>
            <a:ext cx="4069080" cy="2286000"/>
          </a:xfrm>
          <a:prstGeom prst="rect">
            <a:avLst/>
          </a:prstGeom>
          <a:noFill/>
        </p:spPr>
        <p:txBody>
          <a:bodyPr wrap="square" anchor="t" lIns="36576" rIns="36576" tIns="18288" bIns="18288">
            <a:spAutoFit/>
          </a:bodyPr>
          <a:lstStyle/>
          <a:p>
            <a:pPr algn="l">
              <a:spcAft>
                <a:spcPts val="300"/>
              </a:spcAft>
            </a:pPr>
            <a:r>
              <a:rPr sz="1400" b="1">
                <a:solidFill>
                  <a:srgbClr val="1A73E8"/>
                </a:solidFill>
                <a:latin typeface="Google Sans Flex SemiBold"/>
              </a:rPr>
              <a:t>Earlier research</a:t>
            </a:r>
          </a:p>
          <a:p>
            <a:pPr algn="l">
              <a:spcAft>
                <a:spcPts val="500"/>
              </a:spcAft>
            </a:pPr>
            <a:r>
              <a:rPr sz="1200" b="0">
                <a:solidFill>
                  <a:srgbClr val="202124"/>
                </a:solidFill>
                <a:latin typeface="Google Sans Flex"/>
              </a:rPr>
              <a:t>A study of root-cause recommendation using structured incident metadata and machine-learning methods.</a:t>
            </a:r>
          </a:p>
          <a:p>
            <a:pPr algn="l">
              <a:spcAft>
                <a:spcPts val="500"/>
              </a:spcAft>
            </a:pPr>
            <a:r>
              <a:rPr sz="1200" b="1">
                <a:solidFill>
                  <a:srgbClr val="1A73E8"/>
                </a:solidFill>
                <a:latin typeface="Google Sans Flex SemiBold"/>
              </a:rPr>
              <a:t>8,128 </a:t>
            </a:r>
            <a:r>
              <a:rPr sz="1200" b="0">
                <a:solidFill>
                  <a:srgbClr val="202124"/>
                </a:solidFill>
                <a:latin typeface="Google Sans Flex"/>
              </a:rPr>
              <a:t>historical EV incident records studied.</a:t>
            </a:r>
          </a:p>
          <a:p>
            <a:pPr algn="l">
              <a:spcAft>
                <a:spcPts val="500"/>
              </a:spcAft>
            </a:pPr>
            <a:r>
              <a:rPr sz="1200" b="0">
                <a:solidFill>
                  <a:srgbClr val="202124"/>
                </a:solidFill>
                <a:latin typeface="Google Sans Flex"/>
              </a:rPr>
              <a:t>Structured priors proved competitive with more complex models.</a:t>
            </a:r>
          </a:p>
          <a:p>
            <a:pPr algn="l">
              <a:spcAft>
                <a:spcPts val="400"/>
              </a:spcAft>
            </a:pPr>
            <a:r>
              <a:rPr sz="1200" b="1">
                <a:solidFill>
                  <a:srgbClr val="202124"/>
                </a:solidFill>
                <a:latin typeface="Google Sans Flex SemiBold"/>
              </a:rPr>
              <a:t>Status: </a:t>
            </a:r>
            <a:r>
              <a:rPr sz="1200" b="0">
                <a:solidFill>
                  <a:srgbClr val="202124"/>
                </a:solidFill>
                <a:latin typeface="Google Sans Flex"/>
              </a:rPr>
              <a:t>accepted at ICCIS 2026 (International Conference on Communication and Intelligent Systems, BITS Pilani, Goa) for Springer's Lecture Notes in Networks and Systems. Awaiting print.</a:t>
            </a:r>
          </a:p>
        </p:txBody>
      </p:sp>
      <p:sp>
        <p:nvSpPr>
          <p:cNvPr id="154" name="design card"/>
          <p:cNvSpPr/>
          <p:nvPr/>
        </p:nvSpPr>
        <p:spPr>
          <a:xfrm>
            <a:off x="4617720" y="1051560"/>
            <a:ext cx="4251960" cy="2331720"/>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design text"/>
          <p:cNvSpPr txBox="1"/>
          <p:nvPr/>
        </p:nvSpPr>
        <p:spPr>
          <a:xfrm>
            <a:off x="4709160" y="1078992"/>
            <a:ext cx="4069080" cy="1965960"/>
          </a:xfrm>
          <a:prstGeom prst="rect">
            <a:avLst/>
          </a:prstGeom>
          <a:noFill/>
        </p:spPr>
        <p:txBody>
          <a:bodyPr wrap="square" anchor="t" lIns="36576" rIns="36576" tIns="18288" bIns="18288">
            <a:spAutoFit/>
          </a:bodyPr>
          <a:lstStyle/>
          <a:p>
            <a:pPr algn="l">
              <a:spcAft>
                <a:spcPts val="300"/>
              </a:spcAft>
            </a:pPr>
            <a:r>
              <a:rPr sz="1400" b="1">
                <a:solidFill>
                  <a:srgbClr val="1A73E8"/>
                </a:solidFill>
                <a:latin typeface="Google Sans Flex SemiBold"/>
              </a:rPr>
              <a:t>Tolerance's design</a:t>
            </a:r>
          </a:p>
          <a:p>
            <a:pPr algn="l">
              <a:spcAft>
                <a:spcPts val="500"/>
              </a:spcAft>
            </a:pPr>
            <a:r>
              <a:rPr sz="1200" b="0">
                <a:solidFill>
                  <a:srgbClr val="202124"/>
                </a:solidFill>
                <a:latin typeface="Google Sans Flex"/>
              </a:rPr>
              <a:t>An independent agentic system that connects operational knowledge to evidence-backed diagnosis and controlled remediation.</a:t>
            </a:r>
          </a:p>
          <a:p>
            <a:pPr algn="l" marL="164592" indent="-164592">
              <a:spcAft>
                <a:spcPts val="200"/>
              </a:spcAft>
              <a:buChar char="•"/>
            </a:pPr>
            <a:r>
              <a:rPr sz="1200" b="0">
                <a:solidFill>
                  <a:srgbClr val="202124"/>
                </a:solidFill>
                <a:latin typeface="Google Sans Flex"/>
              </a:rPr>
              <a:t>Structured evidence first</a:t>
            </a:r>
          </a:p>
          <a:p>
            <a:pPr algn="l" marL="164592" indent="-164592">
              <a:spcAft>
                <a:spcPts val="200"/>
              </a:spcAft>
              <a:buChar char="•"/>
            </a:pPr>
            <a:r>
              <a:rPr sz="1200" b="0">
                <a:solidFill>
                  <a:srgbClr val="202124"/>
                </a:solidFill>
                <a:latin typeface="Google Sans Flex"/>
              </a:rPr>
              <a:t>Gemini for investigation</a:t>
            </a:r>
          </a:p>
          <a:p>
            <a:pPr algn="l" marL="164592" indent="-164592">
              <a:spcAft>
                <a:spcPts val="400"/>
              </a:spcAft>
              <a:buChar char="•"/>
            </a:pPr>
            <a:r>
              <a:rPr sz="1200" b="0">
                <a:solidFill>
                  <a:srgbClr val="202124"/>
                </a:solidFill>
                <a:latin typeface="Google Sans Flex"/>
              </a:rPr>
              <a:t>Deterministic safety checks</a:t>
            </a:r>
          </a:p>
        </p:txBody>
      </p:sp>
      <p:sp>
        <p:nvSpPr>
          <p:cNvPr id="156" name="insight card"/>
          <p:cNvSpPr/>
          <p:nvPr/>
        </p:nvSpPr>
        <p:spPr>
          <a:xfrm>
            <a:off x="274320" y="3474720"/>
            <a:ext cx="8595360" cy="777240"/>
          </a:xfrm>
          <a:prstGeom prst="roundRect">
            <a:avLst>
              <a:gd name="adj" fmla="val 5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insight text"/>
          <p:cNvSpPr txBox="1"/>
          <p:nvPr/>
        </p:nvSpPr>
        <p:spPr>
          <a:xfrm>
            <a:off x="365760" y="3474720"/>
            <a:ext cx="8412480" cy="777240"/>
          </a:xfrm>
          <a:prstGeom prst="rect">
            <a:avLst/>
          </a:prstGeom>
          <a:noFill/>
        </p:spPr>
        <p:txBody>
          <a:bodyPr wrap="square" anchor="ctr" lIns="36576" rIns="36576" tIns="18288" bIns="18288">
            <a:spAutoFit/>
          </a:bodyPr>
          <a:lstStyle/>
          <a:p>
            <a:pPr algn="l">
              <a:spcAft>
                <a:spcPts val="400"/>
              </a:spcAft>
            </a:pPr>
            <a:r>
              <a:rPr sz="1200" b="1">
                <a:solidFill>
                  <a:srgbClr val="188038"/>
                </a:solidFill>
                <a:latin typeface="Google Sans Flex SemiBold"/>
              </a:rPr>
              <a:t>Research insight. </a:t>
            </a:r>
            <a:r>
              <a:rPr sz="1200" b="0">
                <a:solidFill>
                  <a:srgbClr val="202124"/>
                </a:solidFill>
                <a:latin typeface="Google Sans Flex"/>
              </a:rPr>
              <a:t>Not every industrial fault needs a complex neural network. Structured knowledge can provide strong diagnostic signals. Agentic reasoning can then investigate missing evidence and support controlled decisions.</a:t>
            </a:r>
          </a:p>
        </p:txBody>
      </p:sp>
      <p:sp>
        <p:nvSpPr>
          <p:cNvPr id="158" name="research note"/>
          <p:cNvSpPr txBox="1"/>
          <p:nvPr/>
        </p:nvSpPr>
        <p:spPr>
          <a:xfrm>
            <a:off x="274320" y="4315968"/>
            <a:ext cx="8595360" cy="59436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Prior research and the Tolerance prototype are separate implementations. The historical dataset and proprietary assets are not part of the submitted system.</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The agent team and the services around it</a:t>
            </a:r>
            <a:endParaRPr sz="1600">
              <a:latin typeface="Google Sans Flex Medium"/>
              <a:ea typeface="Google Sans Flex Medium"/>
              <a:cs typeface="Google Sans Flex Medium"/>
              <a:sym typeface="Google Sans Flex Medium"/>
            </a:endParaRPr>
          </a:p>
        </p:txBody>
      </p:sp>
      <p:pic>
        <p:nvPicPr>
          <p:cNvPr id="152" name="Architecture diagram" descr="agent_team.png"/>
          <p:cNvPicPr>
            <a:picLocks noChangeAspect="1"/>
          </p:cNvPicPr>
          <p:nvPr/>
        </p:nvPicPr>
        <p:blipFill>
          <a:blip r:embed="rId2"/>
          <a:stretch>
            <a:fillRect/>
          </a:stretch>
        </p:blipFill>
        <p:spPr>
          <a:xfrm>
            <a:off x="274320" y="1099775"/>
            <a:ext cx="5486400" cy="3103968"/>
          </a:xfrm>
          <a:prstGeom prst="rect">
            <a:avLst/>
          </a:prstGeom>
          <a:ln w="9525">
            <a:solidFill>
              <a:srgbClr val="DADCE0"/>
            </a:solidFill>
          </a:ln>
        </p:spPr>
      </p:pic>
      <p:sp>
        <p:nvSpPr>
          <p:cNvPr id="153" name="architecture text"/>
          <p:cNvSpPr txBox="1"/>
          <p:nvPr/>
        </p:nvSpPr>
        <p:spPr>
          <a:xfrm>
            <a:off x="5897880" y="1051560"/>
            <a:ext cx="3017520" cy="3840480"/>
          </a:xfrm>
          <a:prstGeom prst="rect">
            <a:avLst/>
          </a:prstGeom>
          <a:noFill/>
        </p:spPr>
        <p:txBody>
          <a:bodyPr wrap="square" anchor="t" lIns="36576" rIns="36576" tIns="18288" bIns="18288">
            <a:spAutoFit/>
          </a:bodyPr>
          <a:lstStyle/>
          <a:p>
            <a:pPr algn="l">
              <a:spcAft>
                <a:spcPts val="500"/>
              </a:spcAft>
            </a:pPr>
            <a:r>
              <a:rPr sz="1400" b="1">
                <a:solidFill>
                  <a:srgbClr val="1A73E8"/>
                </a:solidFill>
                <a:latin typeface="Google Sans Flex SemiBold"/>
              </a:rPr>
              <a:t>How it fits together</a:t>
            </a:r>
          </a:p>
          <a:p>
            <a:pPr algn="l" marL="164592" indent="-164592">
              <a:spcAft>
                <a:spcPts val="400"/>
              </a:spcAft>
              <a:buChar char="•"/>
            </a:pPr>
            <a:r>
              <a:rPr sz="1200" b="1">
                <a:solidFill>
                  <a:srgbClr val="202124"/>
                </a:solidFill>
                <a:latin typeface="Google Sans Flex SemiBold"/>
              </a:rPr>
              <a:t>Cloud Run: </a:t>
            </a:r>
            <a:r>
              <a:rPr sz="1200" b="0">
                <a:solidFill>
                  <a:srgbClr val="202124"/>
                </a:solidFill>
                <a:latin typeface="Google Sans Flex"/>
              </a:rPr>
              <a:t>one container with the web app and the API.</a:t>
            </a:r>
          </a:p>
          <a:p>
            <a:pPr algn="l" marL="164592" indent="-164592">
              <a:spcAft>
                <a:spcPts val="400"/>
              </a:spcAft>
              <a:buChar char="•"/>
            </a:pPr>
            <a:r>
              <a:rPr sz="1200" b="1">
                <a:solidFill>
                  <a:srgbClr val="202124"/>
                </a:solidFill>
                <a:latin typeface="Google Sans Flex SemiBold"/>
              </a:rPr>
              <a:t>Foreman (our agent runner): </a:t>
            </a:r>
            <a:r>
              <a:rPr sz="1200" b="0">
                <a:solidFill>
                  <a:srgbClr val="202124"/>
                </a:solidFill>
                <a:latin typeface="Google Sans Flex"/>
              </a:rPr>
              <a:t>runs the nine agents and records every step.</a:t>
            </a:r>
          </a:p>
          <a:p>
            <a:pPr algn="l" marL="164592" indent="-164592">
              <a:spcAft>
                <a:spcPts val="400"/>
              </a:spcAft>
              <a:buChar char="•"/>
            </a:pPr>
            <a:r>
              <a:rPr sz="1200" b="1">
                <a:solidFill>
                  <a:srgbClr val="202124"/>
                </a:solidFill>
                <a:latin typeface="Google Sans Flex SemiBold"/>
              </a:rPr>
              <a:t>Gemini on Vertex AI: </a:t>
            </a:r>
            <a:r>
              <a:rPr sz="1200" b="0">
                <a:solidFill>
                  <a:srgbClr val="202124"/>
                </a:solidFill>
                <a:latin typeface="Google Sans Flex"/>
              </a:rPr>
              <a:t>writes the words, reads answers, picks tools.</a:t>
            </a:r>
          </a:p>
          <a:p>
            <a:pPr algn="l" marL="164592" indent="-164592">
              <a:spcAft>
                <a:spcPts val="400"/>
              </a:spcAft>
              <a:buChar char="•"/>
            </a:pPr>
            <a:r>
              <a:rPr sz="1200" b="1">
                <a:solidFill>
                  <a:srgbClr val="202124"/>
                </a:solidFill>
                <a:latin typeface="Google Sans Flex SemiBold"/>
              </a:rPr>
              <a:t>Cedar (open-source policy language): </a:t>
            </a:r>
            <a:r>
              <a:rPr sz="1200" b="0">
                <a:solidFill>
                  <a:srgbClr val="202124"/>
                </a:solidFill>
                <a:latin typeface="Google Sans Flex"/>
              </a:rPr>
              <a:t>default deny. Nothing reaches a machine except through it.</a:t>
            </a:r>
          </a:p>
          <a:p>
            <a:pPr algn="l" marL="164592" indent="-164592">
              <a:spcAft>
                <a:spcPts val="400"/>
              </a:spcAft>
              <a:buChar char="•"/>
            </a:pPr>
            <a:r>
              <a:rPr sz="1200" b="1">
                <a:solidFill>
                  <a:srgbClr val="202124"/>
                </a:solidFill>
                <a:latin typeface="Google Sans Flex SemiBold"/>
              </a:rPr>
              <a:t>MCP hub: </a:t>
            </a:r>
            <a:r>
              <a:rPr sz="1200" b="0">
                <a:solidFill>
                  <a:srgbClr val="202124"/>
                </a:solidFill>
                <a:latin typeface="Google Sans Flex"/>
              </a:rPr>
              <a:t>built-in and your own servers. Only read-only tools run.</a:t>
            </a:r>
          </a:p>
          <a:p>
            <a:pPr algn="l" marL="164592" indent="-164592">
              <a:spcAft>
                <a:spcPts val="400"/>
              </a:spcAft>
              <a:buChar char="•"/>
            </a:pPr>
            <a:r>
              <a:rPr sz="1200" b="1">
                <a:solidFill>
                  <a:srgbClr val="202124"/>
                </a:solidFill>
                <a:latin typeface="Google Sans Flex SemiBold"/>
              </a:rPr>
              <a:t>Plant knowledge graph: </a:t>
            </a:r>
            <a:r>
              <a:rPr sz="1200" b="0">
                <a:solidFill>
                  <a:srgbClr val="202124"/>
                </a:solidFill>
                <a:latin typeface="Google Sans Flex"/>
              </a:rPr>
              <a:t>stations, systems and flows. Each edge keeps its evidence, and counts only if seen in runtime data.</a:t>
            </a:r>
          </a:p>
          <a:p>
            <a:pPr algn="l" marL="164592" indent="-164592">
              <a:spcAft>
                <a:spcPts val="400"/>
              </a:spcAft>
              <a:buChar char="•"/>
            </a:pPr>
            <a:r>
              <a:rPr sz="1200" b="1">
                <a:solidFill>
                  <a:srgbClr val="202124"/>
                </a:solidFill>
                <a:latin typeface="Google Sans Flex SemiBold"/>
              </a:rPr>
              <a:t>Data lake: </a:t>
            </a:r>
            <a:r>
              <a:rPr sz="1200" b="0">
                <a:solidFill>
                  <a:srgbClr val="202124"/>
                </a:solidFill>
                <a:latin typeface="Google Sans Flex"/>
              </a:rPr>
              <a:t>DuckDB, kept current by connectors.</a:t>
            </a:r>
          </a:p>
        </p:txBody>
      </p:sp>
      <p:sp>
        <p:nvSpPr>
          <p:cNvPr id="154" name="caption"/>
          <p:cNvSpPr txBox="1"/>
          <p:nvPr/>
        </p:nvSpPr>
        <p:spPr>
          <a:xfrm>
            <a:off x="274320" y="4297680"/>
            <a:ext cx="5486400" cy="594360"/>
          </a:xfrm>
          <a:prstGeom prst="rect">
            <a:avLst/>
          </a:prstGeom>
          <a:noFill/>
        </p:spPr>
        <p:txBody>
          <a:bodyPr wrap="square" anchor="t" lIns="36576" rIns="36576" tIns="18288" bIns="18288">
            <a:spAutoFit/>
          </a:bodyPr>
          <a:lstStyle/>
          <a:p>
            <a:pPr algn="l">
              <a:spcAft>
                <a:spcPts val="400"/>
              </a:spcAft>
            </a:pPr>
            <a:r>
              <a:rPr sz="1200" b="0">
                <a:solidFill>
                  <a:srgbClr val="5F6368"/>
                </a:solidFill>
                <a:latin typeface="Google Sans Flex"/>
              </a:rPr>
              <a:t>The agent team: owner, Guide, onboarding and operations agents, shared services, policy gateway and machines.</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how the numbers work</a:t>
            </a:r>
            <a:endParaRPr sz="1600">
              <a:latin typeface="Google Sans Flex Medium"/>
              <a:ea typeface="Google Sans Flex Medium"/>
              <a:cs typeface="Google Sans Flex Medium"/>
              <a:sym typeface="Google Sans Flex Medium"/>
            </a:endParaRPr>
          </a:p>
        </p:txBody>
      </p:sp>
      <p:sp>
        <p:nvSpPr>
          <p:cNvPr id="152" name="equation card"/>
          <p:cNvSpPr/>
          <p:nvPr/>
        </p:nvSpPr>
        <p:spPr>
          <a:xfrm>
            <a:off x="274320" y="102412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equation text"/>
          <p:cNvSpPr txBox="1"/>
          <p:nvPr/>
        </p:nvSpPr>
        <p:spPr>
          <a:xfrm>
            <a:off x="365760" y="1051560"/>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Warden score</a:t>
            </a:r>
          </a:p>
          <a:p>
            <a:pPr algn="l">
              <a:spcAft>
                <a:spcPts val="0"/>
              </a:spcAft>
            </a:pPr>
            <a:r>
              <a:rPr sz="1200" b="1">
                <a:solidFill>
                  <a:srgbClr val="202124"/>
                </a:solidFill>
                <a:latin typeface="Cambria Math"/>
              </a:rPr>
              <a:t>S = Σᵢ 100 · wᵢ · vᵢ</a:t>
            </a:r>
          </a:p>
          <a:p>
            <a:pPr algn="l">
              <a:spcAft>
                <a:spcPts val="200"/>
              </a:spcAft>
            </a:pPr>
            <a:r>
              <a:rPr sz="1200" b="1">
                <a:solidFill>
                  <a:srgbClr val="202124"/>
                </a:solidFill>
                <a:latin typeface="Cambria Math"/>
              </a:rPr>
              <a:t>w = 0.25, 0.20, 0.15, 0.25, 0.10, 0.05</a:t>
            </a:r>
          </a:p>
          <a:p>
            <a:pPr algn="l">
              <a:spcAft>
                <a:spcPts val="400"/>
              </a:spcAft>
            </a:pPr>
            <a:r>
              <a:rPr sz="1200" b="0">
                <a:solidFill>
                  <a:srgbClr val="5F6368"/>
                </a:solidFill>
                <a:latin typeface="Google Sans Flex"/>
              </a:rPr>
              <a:t>Six factors, each from 0 to 1: undo, reach, margin to limits, evidence, history, plant state.</a:t>
            </a:r>
          </a:p>
        </p:txBody>
      </p:sp>
      <p:sp>
        <p:nvSpPr>
          <p:cNvPr id="154" name="equation card"/>
          <p:cNvSpPr/>
          <p:nvPr/>
        </p:nvSpPr>
        <p:spPr>
          <a:xfrm>
            <a:off x="4617720" y="102412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equation text"/>
          <p:cNvSpPr txBox="1"/>
          <p:nvPr/>
        </p:nvSpPr>
        <p:spPr>
          <a:xfrm>
            <a:off x="4709159" y="1051560"/>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Decision</a:t>
            </a:r>
          </a:p>
          <a:p>
            <a:pPr algn="l">
              <a:spcAft>
                <a:spcPts val="0"/>
              </a:spcAft>
            </a:pPr>
            <a:r>
              <a:rPr sz="1200" b="1">
                <a:solidFill>
                  <a:srgbClr val="202124"/>
                </a:solidFill>
                <a:latin typeface="Cambria Math"/>
              </a:rPr>
              <a:t>blocked if a hard limit breaks</a:t>
            </a:r>
          </a:p>
          <a:p>
            <a:pPr algn="l">
              <a:spcAft>
                <a:spcPts val="200"/>
              </a:spcAft>
            </a:pPr>
            <a:r>
              <a:rPr sz="1200" b="1">
                <a:solidFill>
                  <a:srgbClr val="202124"/>
                </a:solidFill>
                <a:latin typeface="Cambria Math"/>
              </a:rPr>
              <a:t>refused if S &lt; 40, else approve if S &lt; 80</a:t>
            </a:r>
          </a:p>
          <a:p>
            <a:pPr algn="l">
              <a:spcAft>
                <a:spcPts val="400"/>
              </a:spcAft>
            </a:pPr>
            <a:r>
              <a:rPr sz="1200" b="0">
                <a:solidFill>
                  <a:srgbClr val="5F6368"/>
                </a:solidFill>
                <a:latin typeface="Google Sans Flex"/>
              </a:rPr>
              <a:t>Otherwise the action runs alone. The owner can change 40 and 80.</a:t>
            </a:r>
          </a:p>
        </p:txBody>
      </p:sp>
      <p:sp>
        <p:nvSpPr>
          <p:cNvPr id="156" name="equation card"/>
          <p:cNvSpPr/>
          <p:nvPr/>
        </p:nvSpPr>
        <p:spPr>
          <a:xfrm>
            <a:off x="274320" y="230428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equation text"/>
          <p:cNvSpPr txBox="1"/>
          <p:nvPr/>
        </p:nvSpPr>
        <p:spPr>
          <a:xfrm>
            <a:off x="365760" y="2331720"/>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Factors</a:t>
            </a:r>
          </a:p>
          <a:p>
            <a:pPr algn="l">
              <a:spcAft>
                <a:spcPts val="0"/>
              </a:spcAft>
            </a:pPr>
            <a:r>
              <a:rPr sz="1200" b="1">
                <a:solidFill>
                  <a:srgbClr val="202124"/>
                </a:solidFill>
                <a:latin typeface="Cambria Math"/>
              </a:rPr>
              <a:t>v(reach) = 1 − r · min(1, n/4)</a:t>
            </a:r>
          </a:p>
          <a:p>
            <a:pPr algn="l">
              <a:spcAft>
                <a:spcPts val="200"/>
              </a:spcAft>
            </a:pPr>
            <a:r>
              <a:rPr sz="1200" b="1">
                <a:solidFill>
                  <a:srgbClr val="202124"/>
                </a:solidFill>
                <a:latin typeface="Cambria Math"/>
              </a:rPr>
              <a:t>v(history) = 0.5 + 0.5 (a − j) / (a + j + 2)</a:t>
            </a:r>
          </a:p>
          <a:p>
            <a:pPr algn="l">
              <a:spcAft>
                <a:spcPts val="400"/>
              </a:spcAft>
            </a:pPr>
            <a:r>
              <a:rPr sz="1200" b="0">
                <a:solidFill>
                  <a:srgbClr val="5F6368"/>
                </a:solidFill>
                <a:latin typeface="Google Sans Flex"/>
              </a:rPr>
              <a:t>n = stations downstream, a and j = past approvals and rejections.</a:t>
            </a:r>
          </a:p>
        </p:txBody>
      </p:sp>
      <p:sp>
        <p:nvSpPr>
          <p:cNvPr id="158" name="equation card"/>
          <p:cNvSpPr/>
          <p:nvPr/>
        </p:nvSpPr>
        <p:spPr>
          <a:xfrm>
            <a:off x="4617720" y="230428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equation text"/>
          <p:cNvSpPr txBox="1"/>
          <p:nvPr/>
        </p:nvSpPr>
        <p:spPr>
          <a:xfrm>
            <a:off x="4709159" y="2331720"/>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Metric-shift probe</a:t>
            </a:r>
          </a:p>
          <a:p>
            <a:pPr algn="l">
              <a:spcAft>
                <a:spcPts val="0"/>
              </a:spcAft>
            </a:pPr>
            <a:r>
              <a:rPr sz="1200" b="1">
                <a:solidFill>
                  <a:srgbClr val="202124"/>
                </a:solidFill>
                <a:latin typeface="Cambria Math"/>
              </a:rPr>
              <a:t>score = ln(1 + min(d/σ, 60)) + d/range</a:t>
            </a:r>
          </a:p>
          <a:p>
            <a:pPr algn="l">
              <a:spcAft>
                <a:spcPts val="200"/>
              </a:spcAft>
            </a:pPr>
            <a:r>
              <a:rPr sz="1200" b="1">
                <a:solidFill>
                  <a:srgbClr val="202124"/>
                </a:solidFill>
                <a:latin typeface="Cambria Math"/>
              </a:rPr>
              <a:t>σ = max(1.4826 MAD, 0.5 IQR, 0.02 |med|, …)</a:t>
            </a:r>
          </a:p>
          <a:p>
            <a:pPr algn="l">
              <a:spcAft>
                <a:spcPts val="400"/>
              </a:spcAft>
            </a:pPr>
            <a:r>
              <a:rPr sz="1200" b="0">
                <a:solidFill>
                  <a:srgbClr val="5F6368"/>
                </a:solidFill>
                <a:latin typeface="Google Sans Flex"/>
              </a:rPr>
              <a:t>d = change of the median after the alert. The robust scale stops noise from winning.</a:t>
            </a:r>
          </a:p>
        </p:txBody>
      </p:sp>
      <p:sp>
        <p:nvSpPr>
          <p:cNvPr id="160" name="equation card"/>
          <p:cNvSpPr/>
          <p:nvPr/>
        </p:nvSpPr>
        <p:spPr>
          <a:xfrm>
            <a:off x="274320" y="358444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equation text"/>
          <p:cNvSpPr txBox="1"/>
          <p:nvPr/>
        </p:nvSpPr>
        <p:spPr>
          <a:xfrm>
            <a:off x="365760" y="3611879"/>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Fusion and ranking</a:t>
            </a:r>
          </a:p>
          <a:p>
            <a:pPr algn="l">
              <a:spcAft>
                <a:spcPts val="0"/>
              </a:spcAft>
            </a:pPr>
            <a:r>
              <a:rPr sz="1200" b="1">
                <a:solidFill>
                  <a:srgbClr val="202124"/>
                </a:solidFill>
                <a:latin typeface="Cambria Math"/>
              </a:rPr>
              <a:t>F(c) = (1/K) Σₚ sₚ(c) / maxₖ sₚ(k)</a:t>
            </a:r>
          </a:p>
          <a:p>
            <a:pPr algn="l">
              <a:spcAft>
                <a:spcPts val="200"/>
              </a:spcAft>
            </a:pPr>
            <a:r>
              <a:rPr sz="1200" b="1">
                <a:solidFill>
                  <a:srgbClr val="202124"/>
                </a:solidFill>
                <a:latin typeface="Cambria Math"/>
              </a:rPr>
              <a:t>Avg@5 = ⅕ Σₖ₌₁..₅ AC@k</a:t>
            </a:r>
          </a:p>
          <a:p>
            <a:pPr algn="l">
              <a:spcAft>
                <a:spcPts val="400"/>
              </a:spcAft>
            </a:pPr>
            <a:r>
              <a:rPr sz="1200" b="0">
                <a:solidFill>
                  <a:srgbClr val="5F6368"/>
                </a:solidFill>
                <a:latin typeface="Google Sans Flex"/>
              </a:rPr>
              <a:t>AC@k = share of cases with the true cause in the top k. Intervals: paired bootstrap.</a:t>
            </a:r>
          </a:p>
        </p:txBody>
      </p:sp>
      <p:sp>
        <p:nvSpPr>
          <p:cNvPr id="162" name="equation card"/>
          <p:cNvSpPr/>
          <p:nvPr/>
        </p:nvSpPr>
        <p:spPr>
          <a:xfrm>
            <a:off x="4617720" y="3584448"/>
            <a:ext cx="4251960" cy="1225296"/>
          </a:xfrm>
          <a:prstGeom prst="roundRect">
            <a:avLst>
              <a:gd name="adj" fmla="val 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equation text"/>
          <p:cNvSpPr txBox="1"/>
          <p:nvPr/>
        </p:nvSpPr>
        <p:spPr>
          <a:xfrm>
            <a:off x="4709159" y="3611879"/>
            <a:ext cx="4069080" cy="1188720"/>
          </a:xfrm>
          <a:prstGeom prst="rect">
            <a:avLst/>
          </a:prstGeom>
          <a:noFill/>
        </p:spPr>
        <p:txBody>
          <a:bodyPr wrap="square" anchor="t" lIns="36576" rIns="36576" tIns="18288" bIns="18288">
            <a:spAutoFit/>
          </a:bodyPr>
          <a:lstStyle/>
          <a:p>
            <a:pPr algn="l">
              <a:spcAft>
                <a:spcPts val="200"/>
              </a:spcAft>
            </a:pPr>
            <a:r>
              <a:rPr sz="1400" b="1">
                <a:solidFill>
                  <a:srgbClr val="1A73E8"/>
                </a:solidFill>
                <a:latin typeface="Google Sans Flex SemiBold"/>
              </a:rPr>
              <a:t>Harm and learning</a:t>
            </a:r>
          </a:p>
          <a:p>
            <a:pPr algn="l">
              <a:spcAft>
                <a:spcPts val="0"/>
              </a:spcAft>
            </a:pPr>
            <a:r>
              <a:rPr sz="1200" b="1">
                <a:solidFill>
                  <a:srgbClr val="202124"/>
                </a:solidFill>
                <a:latin typeface="Cambria Math"/>
              </a:rPr>
              <a:t>H = (1 − y)(1 − rev)</a:t>
            </a:r>
          </a:p>
          <a:p>
            <a:pPr algn="l">
              <a:spcAft>
                <a:spcPts val="200"/>
              </a:spcAft>
            </a:pPr>
            <a:r>
              <a:rPr sz="1200" b="1">
                <a:solidFill>
                  <a:srgbClr val="202124"/>
                </a:solidFill>
                <a:latin typeface="Cambria Math"/>
              </a:rPr>
              <a:t>reward = 1[correct] − λ · tool calls</a:t>
            </a:r>
          </a:p>
          <a:p>
            <a:pPr algn="l">
              <a:spcAft>
                <a:spcPts val="400"/>
              </a:spcAft>
            </a:pPr>
            <a:r>
              <a:rPr sz="1200" b="0">
                <a:solidFill>
                  <a:srgbClr val="5F6368"/>
                </a:solidFill>
                <a:latin typeface="Google Sans Flex"/>
              </a:rPr>
              <a:t>A wrong action costs more when it is hard to undo. A bandit learns which evidence to read first.</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roles and people, decided by Cedar</a:t>
            </a:r>
            <a:endParaRPr sz="1600">
              <a:latin typeface="Google Sans Flex Medium"/>
              <a:ea typeface="Google Sans Flex Medium"/>
              <a:cs typeface="Google Sans Flex Medium"/>
              <a:sym typeface="Google Sans Flex Medium"/>
            </a:endParaRPr>
          </a:p>
        </p:txBody>
      </p:sp>
      <p:graphicFrame>
        <p:nvGraphicFramePr>
          <p:cNvPr id="152" name="roles table"/>
          <p:cNvGraphicFramePr>
            <a:graphicFrameLocks noGrp="1"/>
          </p:cNvGraphicFramePr>
          <p:nvPr/>
        </p:nvGraphicFramePr>
        <p:xfrm>
          <a:off x="274320" y="1051560"/>
          <a:ext cx="5943600" cy="2926080"/>
        </p:xfrm>
        <a:graphic>
          <a:graphicData uri="http://schemas.openxmlformats.org/drawingml/2006/table">
            <a:tbl>
              <a:tblPr firstRow="1" bandRow="1">
                <a:tableStyleId>{5C22544A-7EE6-4342-B048-85BDC9FD1C3A}</a:tableStyleId>
              </a:tblPr>
              <a:tblGrid>
                <a:gridCol w="2286000"/>
                <a:gridCol w="777240"/>
                <a:gridCol w="1143000"/>
                <a:gridCol w="960120"/>
                <a:gridCol w="777240"/>
              </a:tblGrid>
              <a:tr h="365760">
                <a:tc>
                  <a:txBody>
                    <a:bodyPr/>
                    <a:lstStyle/>
                    <a:p>
                      <a:pPr algn="l"/>
                      <a:r>
                        <a:rPr sz="1200" b="1">
                          <a:solidFill>
                            <a:srgbClr val="FFFFFF"/>
                          </a:solidFill>
                          <a:latin typeface="Google Sans Flex SemiBold"/>
                        </a:rPr>
                        <a:t>Permission</a:t>
                      </a:r>
                    </a:p>
                  </a:txBody>
                  <a:tcPr marL="45720" marR="45720" marT="18288" marB="18288">
                    <a:solidFill>
                      <a:srgbClr val="1A73E8"/>
                    </a:solidFill>
                  </a:tcPr>
                </a:tc>
                <a:tc>
                  <a:txBody>
                    <a:bodyPr/>
                    <a:lstStyle/>
                    <a:p>
                      <a:pPr algn="ctr"/>
                      <a:r>
                        <a:rPr sz="1200" b="1">
                          <a:solidFill>
                            <a:srgbClr val="FFFFFF"/>
                          </a:solidFill>
                          <a:latin typeface="Google Sans Flex SemiBold"/>
                        </a:rPr>
                        <a:t>Owner</a:t>
                      </a:r>
                    </a:p>
                  </a:txBody>
                  <a:tcPr marL="45720" marR="45720" marT="18288" marB="18288">
                    <a:solidFill>
                      <a:srgbClr val="1A73E8"/>
                    </a:solidFill>
                  </a:tcPr>
                </a:tc>
                <a:tc>
                  <a:txBody>
                    <a:bodyPr/>
                    <a:lstStyle/>
                    <a:p>
                      <a:pPr algn="ctr"/>
                      <a:r>
                        <a:rPr sz="1200" b="1">
                          <a:solidFill>
                            <a:srgbClr val="FFFFFF"/>
                          </a:solidFill>
                          <a:latin typeface="Google Sans Flex SemiBold"/>
                        </a:rPr>
                        <a:t>Supervisor</a:t>
                      </a:r>
                    </a:p>
                  </a:txBody>
                  <a:tcPr marL="45720" marR="45720" marT="18288" marB="18288">
                    <a:solidFill>
                      <a:srgbClr val="1A73E8"/>
                    </a:solidFill>
                  </a:tcPr>
                </a:tc>
                <a:tc>
                  <a:txBody>
                    <a:bodyPr/>
                    <a:lstStyle/>
                    <a:p>
                      <a:pPr algn="ctr"/>
                      <a:r>
                        <a:rPr sz="1200" b="1">
                          <a:solidFill>
                            <a:srgbClr val="FFFFFF"/>
                          </a:solidFill>
                          <a:latin typeface="Google Sans Flex SemiBold"/>
                        </a:rPr>
                        <a:t>Operator</a:t>
                      </a:r>
                    </a:p>
                  </a:txBody>
                  <a:tcPr marL="45720" marR="45720" marT="18288" marB="18288">
                    <a:solidFill>
                      <a:srgbClr val="1A73E8"/>
                    </a:solidFill>
                  </a:tcPr>
                </a:tc>
                <a:tc>
                  <a:txBody>
                    <a:bodyPr/>
                    <a:lstStyle/>
                    <a:p>
                      <a:pPr algn="ctr"/>
                      <a:r>
                        <a:rPr sz="1200" b="1">
                          <a:solidFill>
                            <a:srgbClr val="FFFFFF"/>
                          </a:solidFill>
                          <a:latin typeface="Google Sans Flex SemiBold"/>
                        </a:rPr>
                        <a:t>Viewer</a:t>
                      </a:r>
                    </a:p>
                  </a:txBody>
                  <a:tcPr marL="45720" marR="45720" marT="18288" marB="18288">
                    <a:solidFill>
                      <a:srgbClr val="1A73E8"/>
                    </a:solidFill>
                  </a:tcPr>
                </a:tc>
              </a:tr>
              <a:tr h="365760">
                <a:tc>
                  <a:txBody>
                    <a:bodyPr/>
                    <a:lstStyle/>
                    <a:p>
                      <a:pPr algn="l"/>
                      <a:r>
                        <a:rPr sz="1200" b="0">
                          <a:solidFill>
                            <a:srgbClr val="202124"/>
                          </a:solidFill>
                          <a:latin typeface="Google Sans Flex"/>
                        </a:rPr>
                        <a:t>See the floor and incidents</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r>
              <a:tr h="365760">
                <a:tc>
                  <a:txBody>
                    <a:bodyPr/>
                    <a:lstStyle/>
                    <a:p>
                      <a:pPr algn="l"/>
                      <a:r>
                        <a:rPr sz="1200" b="0">
                          <a:solidFill>
                            <a:srgbClr val="202124"/>
                          </a:solidFill>
                          <a:latin typeface="Google Sans Flex"/>
                        </a:rPr>
                        <a:t>Run checks and diagnoses</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r>
              <a:tr h="365760">
                <a:tc>
                  <a:txBody>
                    <a:bodyPr/>
                    <a:lstStyle/>
                    <a:p>
                      <a:pPr algn="l"/>
                      <a:r>
                        <a:rPr sz="1200" b="0">
                          <a:solidFill>
                            <a:srgbClr val="202124"/>
                          </a:solidFill>
                          <a:latin typeface="Google Sans Flex"/>
                        </a:rPr>
                        <a:t>Approve or reject a fix</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r>
              <a:tr h="365760">
                <a:tc>
                  <a:txBody>
                    <a:bodyPr/>
                    <a:lstStyle/>
                    <a:p>
                      <a:pPr algn="l"/>
                      <a:r>
                        <a:rPr sz="1200" b="0">
                          <a:solidFill>
                            <a:srgbClr val="202124"/>
                          </a:solidFill>
                          <a:latin typeface="Google Sans Flex"/>
                        </a:rPr>
                        <a:t>Change the score thresholds</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r>
              <a:tr h="365760">
                <a:tc>
                  <a:txBody>
                    <a:bodyPr/>
                    <a:lstStyle/>
                    <a:p>
                      <a:pPr algn="l"/>
                      <a:r>
                        <a:rPr sz="1200" b="0">
                          <a:solidFill>
                            <a:srgbClr val="202124"/>
                          </a:solidFill>
                          <a:latin typeface="Google Sans Flex"/>
                        </a:rPr>
                        <a:t>Connect systems and probes</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r>
              <a:tr h="365760">
                <a:tc>
                  <a:txBody>
                    <a:bodyPr/>
                    <a:lstStyle/>
                    <a:p>
                      <a:pPr algn="l"/>
                      <a:r>
                        <a:rPr sz="1200" b="0">
                          <a:solidFill>
                            <a:srgbClr val="202124"/>
                          </a:solidFill>
                          <a:latin typeface="Google Sans Flex"/>
                        </a:rPr>
                        <a:t>Manage alert channels</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c>
                  <a:txBody>
                    <a:bodyPr/>
                    <a:lstStyle/>
                    <a:p>
                      <a:pPr algn="ctr"/>
                      <a:r>
                        <a:rPr sz="1200" b="0">
                          <a:solidFill>
                            <a:srgbClr val="202124"/>
                          </a:solidFill>
                          <a:latin typeface="Google Sans Flex"/>
                        </a:rPr>
                        <a:t>–</a:t>
                      </a:r>
                    </a:p>
                  </a:txBody>
                  <a:tcPr marL="45720" marR="45720" marT="18288" marB="18288">
                    <a:solidFill>
                      <a:srgbClr val="F1F3F4"/>
                    </a:solidFill>
                  </a:tcPr>
                </a:tc>
              </a:tr>
              <a:tr h="365760">
                <a:tc>
                  <a:txBody>
                    <a:bodyPr/>
                    <a:lstStyle/>
                    <a:p>
                      <a:pPr algn="l"/>
                      <a:r>
                        <a:rPr sz="1200" b="0">
                          <a:solidFill>
                            <a:srgbClr val="202124"/>
                          </a:solidFill>
                          <a:latin typeface="Google Sans Flex"/>
                        </a:rPr>
                        <a:t>Add people and change roles</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c>
                  <a:txBody>
                    <a:bodyPr/>
                    <a:lstStyle/>
                    <a:p>
                      <a:pPr algn="ctr"/>
                      <a:r>
                        <a:rPr sz="1200" b="0">
                          <a:solidFill>
                            <a:srgbClr val="202124"/>
                          </a:solidFill>
                          <a:latin typeface="Google Sans Flex"/>
                        </a:rPr>
                        <a:t>–</a:t>
                      </a:r>
                    </a:p>
                  </a:txBody>
                  <a:tcPr marL="45720" marR="45720" marT="18288" marB="18288">
                    <a:solidFill>
                      <a:srgbClr val="FFFFFF"/>
                    </a:solidFill>
                  </a:tcPr>
                </a:tc>
              </a:tr>
            </a:tbl>
          </a:graphicData>
        </a:graphic>
      </p:graphicFrame>
      <p:sp>
        <p:nvSpPr>
          <p:cNvPr id="153" name="roles text"/>
          <p:cNvSpPr txBox="1"/>
          <p:nvPr/>
        </p:nvSpPr>
        <p:spPr>
          <a:xfrm>
            <a:off x="6355080" y="1024128"/>
            <a:ext cx="2514600" cy="3840480"/>
          </a:xfrm>
          <a:prstGeom prst="rect">
            <a:avLst/>
          </a:prstGeom>
          <a:noFill/>
        </p:spPr>
        <p:txBody>
          <a:bodyPr wrap="square" anchor="t" lIns="36576" rIns="36576" tIns="18288" bIns="18288">
            <a:spAutoFit/>
          </a:bodyPr>
          <a:lstStyle/>
          <a:p>
            <a:pPr algn="l">
              <a:spcAft>
                <a:spcPts val="500"/>
              </a:spcAft>
            </a:pPr>
            <a:r>
              <a:rPr sz="1400" b="1">
                <a:solidFill>
                  <a:srgbClr val="1A73E8"/>
                </a:solidFill>
                <a:latin typeface="Google Sans Flex SemiBold"/>
              </a:rPr>
              <a:t>How it works</a:t>
            </a:r>
          </a:p>
          <a:p>
            <a:pPr algn="l" marL="164592" indent="-164592">
              <a:spcAft>
                <a:spcPts val="500"/>
              </a:spcAft>
              <a:buChar char="•"/>
            </a:pPr>
            <a:r>
              <a:rPr sz="1200" b="0">
                <a:solidFill>
                  <a:srgbClr val="202124"/>
                </a:solidFill>
                <a:latin typeface="Google Sans Flex"/>
              </a:rPr>
              <a:t>One policy engine for agents and for people: Cedar, default deny.</a:t>
            </a:r>
          </a:p>
          <a:p>
            <a:pPr algn="l" marL="164592" indent="-164592">
              <a:spcAft>
                <a:spcPts val="500"/>
              </a:spcAft>
              <a:buChar char="•"/>
            </a:pPr>
            <a:r>
              <a:rPr sz="1200" b="0">
                <a:solidFill>
                  <a:srgbClr val="202124"/>
                </a:solidFill>
                <a:latin typeface="Google Sans Flex"/>
              </a:rPr>
              <a:t>The owner adds people and makes new roles on the Team page.</a:t>
            </a:r>
          </a:p>
          <a:p>
            <a:pPr algn="l" marL="164592" indent="-164592">
              <a:spcAft>
                <a:spcPts val="500"/>
              </a:spcAft>
              <a:buChar char="•"/>
            </a:pPr>
            <a:r>
              <a:rPr sz="1200" b="0">
                <a:solidFill>
                  <a:srgbClr val="202124"/>
                </a:solidFill>
                <a:latin typeface="Google Sans Flex"/>
              </a:rPr>
              <a:t>Every request is checked on the server, not only hidden on the screen.</a:t>
            </a:r>
          </a:p>
          <a:p>
            <a:pPr algn="l" marL="164592" indent="-164592">
              <a:spcAft>
                <a:spcPts val="500"/>
              </a:spcAft>
              <a:buChar char="•"/>
            </a:pPr>
            <a:r>
              <a:rPr sz="1200" b="0">
                <a:solidFill>
                  <a:srgbClr val="202124"/>
                </a:solidFill>
                <a:latin typeface="Google Sans Flex"/>
              </a:rPr>
              <a:t>A tap on Approve in Telegram follows the same rules. Each person links their own Telegram account.</a:t>
            </a:r>
          </a:p>
          <a:p>
            <a:pPr algn="l" marL="164592" indent="-164592">
              <a:spcAft>
                <a:spcPts val="400"/>
              </a:spcAft>
              <a:buChar char="•"/>
            </a:pPr>
            <a:r>
              <a:rPr sz="1200" b="0">
                <a:solidFill>
                  <a:srgbClr val="202124"/>
                </a:solidFill>
                <a:latin typeface="Google Sans Flex"/>
              </a:rPr>
              <a:t>The audit log shows who approved, their role and the channel. A refusal is recorded too.</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